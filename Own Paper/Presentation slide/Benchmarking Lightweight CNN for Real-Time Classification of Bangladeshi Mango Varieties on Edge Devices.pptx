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74" r:id="rId11"/>
    <p:sldId id="265" r:id="rId12"/>
    <p:sldId id="266" r:id="rId13"/>
    <p:sldId id="267" r:id="rId14"/>
    <p:sldId id="268" r:id="rId15"/>
    <p:sldId id="269" r:id="rId16"/>
    <p:sldId id="270" r:id="rId17"/>
    <p:sldId id="271" r:id="rId18"/>
    <p:sldId id="275" r:id="rId19"/>
    <p:sldId id="272" r:id="rId20"/>
    <p:sldId id="273"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875"/>
    <p:restoredTop sz="82896"/>
  </p:normalViewPr>
  <p:slideViewPr>
    <p:cSldViewPr snapToGrid="0" snapToObjects="1">
      <p:cViewPr varScale="1">
        <p:scale>
          <a:sx n="113" d="100"/>
          <a:sy n="113" d="100"/>
        </p:scale>
        <p:origin x="176" y="4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BD"/>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2CCB0A8-0C10-034F-B418-46EE33D7187F}" type="datetimeFigureOut">
              <a:rPr lang="en-BD" smtClean="0"/>
              <a:t>25/8/26</a:t>
            </a:fld>
            <a:endParaRPr lang="en-BD"/>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BD"/>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D"/>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BD"/>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BBB996A-5601-DF45-9818-068637013612}" type="slidenum">
              <a:rPr lang="en-BD" smtClean="0"/>
              <a:t>‹#›</a:t>
            </a:fld>
            <a:endParaRPr lang="en-BD"/>
          </a:p>
        </p:txBody>
      </p:sp>
    </p:spTree>
    <p:extLst>
      <p:ext uri="{BB962C8B-B14F-4D97-AF65-F5344CB8AC3E}">
        <p14:creationId xmlns:p14="http://schemas.microsoft.com/office/powerpoint/2010/main" val="25624353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BD" dirty="0"/>
              <a:t>Assalamu Alaikum.</a:t>
            </a:r>
          </a:p>
          <a:p>
            <a:endParaRPr lang="en-BD" dirty="0"/>
          </a:p>
          <a:p>
            <a:r>
              <a:rPr lang="en-BD" dirty="0"/>
              <a:t>Honorable Chairman, respected teachers, my supervisor Professor Dr. Liton Jude Rozario, and my dear friends, good morning.</a:t>
            </a:r>
          </a:p>
          <a:p>
            <a:endParaRPr lang="en-BD" dirty="0"/>
          </a:p>
          <a:p>
            <a:r>
              <a:rPr lang="en-BD" dirty="0"/>
              <a:t>Today we will present our undergraduate research project titled "Benchmarking Lightweight CNNs for Real-Time Classification of Bangladeshi Mango Varieties on Edge Devices.”</a:t>
            </a:r>
          </a:p>
          <a:p>
            <a:endParaRPr lang="en-BD" dirty="0"/>
          </a:p>
          <a:p>
            <a:r>
              <a:rPr lang="en-BD" dirty="0"/>
              <a:t>I am Abdullah Nazmus Sakib, and I am presenting this work together with my co-researcher Redwana Jahan from the Department of CSE, Jahangirnagar University.</a:t>
            </a:r>
          </a:p>
        </p:txBody>
      </p:sp>
      <p:sp>
        <p:nvSpPr>
          <p:cNvPr id="4" name="Slide Number Placeholder 3"/>
          <p:cNvSpPr>
            <a:spLocks noGrp="1"/>
          </p:cNvSpPr>
          <p:nvPr>
            <p:ph type="sldNum" sz="quarter" idx="5"/>
          </p:nvPr>
        </p:nvSpPr>
        <p:spPr/>
        <p:txBody>
          <a:bodyPr/>
          <a:lstStyle/>
          <a:p>
            <a:fld id="{6BBB996A-5601-DF45-9818-068637013612}" type="slidenum">
              <a:rPr lang="en-BD" smtClean="0"/>
              <a:t>1</a:t>
            </a:fld>
            <a:endParaRPr lang="en-BD"/>
          </a:p>
        </p:txBody>
      </p:sp>
    </p:spTree>
    <p:extLst>
      <p:ext uri="{BB962C8B-B14F-4D97-AF65-F5344CB8AC3E}">
        <p14:creationId xmlns:p14="http://schemas.microsoft.com/office/powerpoint/2010/main" val="3544116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BD" dirty="0"/>
              <a:t>Here is the roadmap of our presentation.</a:t>
            </a:r>
          </a:p>
          <a:p>
            <a:endParaRPr lang="en-BD" dirty="0"/>
          </a:p>
          <a:p>
            <a:r>
              <a:rPr lang="en-BD" dirty="0"/>
              <a:t>In the first part, I will explain the background, problem, objectives, literature review, and research gap.</a:t>
            </a:r>
          </a:p>
          <a:p>
            <a:endParaRPr lang="en-BD" dirty="0"/>
          </a:p>
          <a:p>
            <a:r>
              <a:rPr lang="en-BD" dirty="0"/>
              <a:t>In the second part, I will discuss our dataset, methodology, model comparison, and the AmmChini AI mobile application.</a:t>
            </a:r>
          </a:p>
        </p:txBody>
      </p:sp>
      <p:sp>
        <p:nvSpPr>
          <p:cNvPr id="4" name="Slide Number Placeholder 3"/>
          <p:cNvSpPr>
            <a:spLocks noGrp="1"/>
          </p:cNvSpPr>
          <p:nvPr>
            <p:ph type="sldNum" sz="quarter" idx="5"/>
          </p:nvPr>
        </p:nvSpPr>
        <p:spPr/>
        <p:txBody>
          <a:bodyPr/>
          <a:lstStyle/>
          <a:p>
            <a:fld id="{6BBB996A-5601-DF45-9818-068637013612}" type="slidenum">
              <a:rPr lang="en-BD" smtClean="0"/>
              <a:t>2</a:t>
            </a:fld>
            <a:endParaRPr lang="en-BD"/>
          </a:p>
        </p:txBody>
      </p:sp>
    </p:spTree>
    <p:extLst>
      <p:ext uri="{BB962C8B-B14F-4D97-AF65-F5344CB8AC3E}">
        <p14:creationId xmlns:p14="http://schemas.microsoft.com/office/powerpoint/2010/main" val="13566798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BD" dirty="0"/>
              <a:t>Mango is one of the most important fruits in Bangladesh.</a:t>
            </a:r>
          </a:p>
          <a:p>
            <a:endParaRPr lang="en-BD" dirty="0"/>
          </a:p>
          <a:p>
            <a:r>
              <a:rPr lang="en-BD" dirty="0"/>
              <a:t>It is especially valuable in Rajshahi and Chapainawabganj.</a:t>
            </a:r>
          </a:p>
          <a:p>
            <a:endParaRPr lang="en-BD" dirty="0"/>
          </a:p>
          <a:p>
            <a:r>
              <a:rPr lang="en-BD" dirty="0"/>
              <a:t>Today, people identify mango varieties by looking at them.</a:t>
            </a:r>
          </a:p>
          <a:p>
            <a:endParaRPr lang="en-BD" dirty="0"/>
          </a:p>
          <a:p>
            <a:r>
              <a:rPr lang="en-BD" dirty="0"/>
              <a:t>This takes time and can be wrong because some varieties look very similar.</a:t>
            </a:r>
          </a:p>
          <a:p>
            <a:endParaRPr lang="en-BD" dirty="0"/>
          </a:p>
          <a:p>
            <a:r>
              <a:rPr lang="en-BD" dirty="0"/>
              <a:t>Edge AI can solve this by running the model directly on a smartphone without internet.</a:t>
            </a:r>
          </a:p>
        </p:txBody>
      </p:sp>
      <p:sp>
        <p:nvSpPr>
          <p:cNvPr id="4" name="Slide Number Placeholder 3"/>
          <p:cNvSpPr>
            <a:spLocks noGrp="1"/>
          </p:cNvSpPr>
          <p:nvPr>
            <p:ph type="sldNum" sz="quarter" idx="5"/>
          </p:nvPr>
        </p:nvSpPr>
        <p:spPr/>
        <p:txBody>
          <a:bodyPr/>
          <a:lstStyle/>
          <a:p>
            <a:fld id="{6BBB996A-5601-DF45-9818-068637013612}" type="slidenum">
              <a:rPr lang="en-BD" smtClean="0"/>
              <a:t>3</a:t>
            </a:fld>
            <a:endParaRPr lang="en-BD"/>
          </a:p>
        </p:txBody>
      </p:sp>
    </p:spTree>
    <p:extLst>
      <p:ext uri="{BB962C8B-B14F-4D97-AF65-F5344CB8AC3E}">
        <p14:creationId xmlns:p14="http://schemas.microsoft.com/office/powerpoint/2010/main" val="194741070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BD" dirty="0"/>
              <a:t>Our research focuses on two main problem.</a:t>
            </a:r>
          </a:p>
          <a:p>
            <a:endParaRPr lang="en-BD" dirty="0"/>
          </a:p>
          <a:p>
            <a:r>
              <a:rPr lang="en-GB" dirty="0"/>
              <a:t>1. </a:t>
            </a:r>
            <a:r>
              <a:rPr lang="en-BD" dirty="0"/>
              <a:t>High-accuracy AI models usually need powerful computers.</a:t>
            </a:r>
          </a:p>
          <a:p>
            <a:endParaRPr lang="en-BD" dirty="0"/>
          </a:p>
          <a:p>
            <a:r>
              <a:rPr lang="en-BD" dirty="0"/>
              <a:t>Farmers and traders do not have those devices.</a:t>
            </a:r>
          </a:p>
          <a:p>
            <a:endParaRPr lang="en-BD" dirty="0"/>
          </a:p>
          <a:p>
            <a:r>
              <a:rPr lang="en-BD" dirty="0"/>
              <a:t>2. Another problem is cloud-based systems.</a:t>
            </a:r>
          </a:p>
          <a:p>
            <a:endParaRPr lang="en-BD" dirty="0"/>
          </a:p>
          <a:p>
            <a:r>
              <a:rPr lang="en-BD" dirty="0"/>
              <a:t>They need internet, which is not always available in rural areas.</a:t>
            </a:r>
          </a:p>
          <a:p>
            <a:endParaRPr lang="en-BD" dirty="0"/>
          </a:p>
          <a:p>
            <a:r>
              <a:rPr lang="en-BD" dirty="0"/>
              <a:t>So, we need a lightweight and offline solution.</a:t>
            </a:r>
          </a:p>
        </p:txBody>
      </p:sp>
      <p:sp>
        <p:nvSpPr>
          <p:cNvPr id="4" name="Slide Number Placeholder 3"/>
          <p:cNvSpPr>
            <a:spLocks noGrp="1"/>
          </p:cNvSpPr>
          <p:nvPr>
            <p:ph type="sldNum" sz="quarter" idx="5"/>
          </p:nvPr>
        </p:nvSpPr>
        <p:spPr/>
        <p:txBody>
          <a:bodyPr/>
          <a:lstStyle/>
          <a:p>
            <a:fld id="{6BBB996A-5601-DF45-9818-068637013612}" type="slidenum">
              <a:rPr lang="en-BD" smtClean="0"/>
              <a:t>4</a:t>
            </a:fld>
            <a:endParaRPr lang="en-BD"/>
          </a:p>
        </p:txBody>
      </p:sp>
    </p:spTree>
    <p:extLst>
      <p:ext uri="{BB962C8B-B14F-4D97-AF65-F5344CB8AC3E}">
        <p14:creationId xmlns:p14="http://schemas.microsoft.com/office/powerpoint/2010/main" val="6862710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BD" dirty="0"/>
              <a:t>We had three main objectives.</a:t>
            </a:r>
          </a:p>
          <a:p>
            <a:endParaRPr lang="en-BD" dirty="0"/>
          </a:p>
          <a:p>
            <a:r>
              <a:rPr lang="en-BD" dirty="0"/>
              <a:t>First, compare five lightweight CNN models under the same conditions.</a:t>
            </a:r>
          </a:p>
          <a:p>
            <a:endParaRPr lang="en-BD" dirty="0"/>
          </a:p>
          <a:p>
            <a:r>
              <a:rPr lang="en-BD" dirty="0"/>
              <a:t>Second, optimize the best model using TensorFlow Lite Float16.</a:t>
            </a:r>
          </a:p>
          <a:p>
            <a:endParaRPr lang="en-BD" dirty="0"/>
          </a:p>
          <a:p>
            <a:r>
              <a:rPr lang="en-BD" dirty="0"/>
              <a:t>Third, build the AmmChini AI Android app that works completely offline.</a:t>
            </a:r>
          </a:p>
        </p:txBody>
      </p:sp>
      <p:sp>
        <p:nvSpPr>
          <p:cNvPr id="4" name="Slide Number Placeholder 3"/>
          <p:cNvSpPr>
            <a:spLocks noGrp="1"/>
          </p:cNvSpPr>
          <p:nvPr>
            <p:ph type="sldNum" sz="quarter" idx="5"/>
          </p:nvPr>
        </p:nvSpPr>
        <p:spPr/>
        <p:txBody>
          <a:bodyPr/>
          <a:lstStyle/>
          <a:p>
            <a:fld id="{6BBB996A-5601-DF45-9818-068637013612}" type="slidenum">
              <a:rPr lang="en-BD" smtClean="0"/>
              <a:t>5</a:t>
            </a:fld>
            <a:endParaRPr lang="en-BD"/>
          </a:p>
        </p:txBody>
      </p:sp>
    </p:spTree>
    <p:extLst>
      <p:ext uri="{BB962C8B-B14F-4D97-AF65-F5344CB8AC3E}">
        <p14:creationId xmlns:p14="http://schemas.microsoft.com/office/powerpoint/2010/main" val="366160280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BD" dirty="0"/>
              <a:t>We reviewed several previous studies.</a:t>
            </a:r>
          </a:p>
          <a:p>
            <a:endParaRPr lang="en-BD" dirty="0"/>
          </a:p>
          <a:p>
            <a:r>
              <a:rPr lang="en-BD" dirty="0"/>
              <a:t>Most studies focused on international mango varieties.</a:t>
            </a:r>
          </a:p>
          <a:p>
            <a:endParaRPr lang="en-BD" dirty="0"/>
          </a:p>
          <a:p>
            <a:r>
              <a:rPr lang="en-BD" dirty="0"/>
              <a:t>Some depended on cloud servers.</a:t>
            </a:r>
          </a:p>
          <a:p>
            <a:endParaRPr lang="en-BD" dirty="0"/>
          </a:p>
          <a:p>
            <a:r>
              <a:rPr lang="en-BD" dirty="0"/>
              <a:t>Others did not test mobile deployment.</a:t>
            </a:r>
          </a:p>
          <a:p>
            <a:endParaRPr lang="en-BD" dirty="0"/>
          </a:p>
          <a:p>
            <a:r>
              <a:rPr lang="en-BD" dirty="0"/>
              <a:t>These limitations showed that there is still room for a practical Edge AI solution for Bangladesh.</a:t>
            </a:r>
          </a:p>
          <a:p>
            <a:endParaRPr lang="en-BD" dirty="0"/>
          </a:p>
          <a:p>
            <a:endParaRPr lang="en-BD" dirty="0"/>
          </a:p>
          <a:p>
            <a:endParaRPr lang="en-BD" dirty="0"/>
          </a:p>
          <a:p>
            <a:r>
              <a:rPr lang="en-BD" dirty="0"/>
              <a:t>Color-code the limitation column.</a:t>
            </a:r>
          </a:p>
          <a:p>
            <a:endParaRPr lang="en-BD" dirty="0"/>
          </a:p>
          <a:p>
            <a:r>
              <a:rPr lang="en-BD" dirty="0"/>
              <a:t>Paper &lt;------------</a:t>
            </a:r>
            <a:r>
              <a:rPr lang="en-BD" dirty="0">
                <a:sym typeface="Wingdings" pitchFamily="2" charset="2"/>
              </a:rPr>
              <a:t></a:t>
            </a:r>
            <a:r>
              <a:rPr lang="en-BD" dirty="0"/>
              <a:t>Limitation</a:t>
            </a:r>
          </a:p>
          <a:p>
            <a:endParaRPr lang="en-BD" dirty="0"/>
          </a:p>
          <a:p>
            <a:r>
              <a:rPr lang="en-BD" dirty="0"/>
              <a:t>Salazar -------------&gt; 🔴 No Edge AI</a:t>
            </a:r>
          </a:p>
          <a:p>
            <a:r>
              <a:rPr lang="en-BD" dirty="0"/>
              <a:t>Wu-----------------</a:t>
            </a:r>
            <a:r>
              <a:rPr lang="en-BD" dirty="0">
                <a:sym typeface="Wingdings" pitchFamily="2" charset="2"/>
              </a:rPr>
              <a:t></a:t>
            </a:r>
            <a:r>
              <a:rPr lang="en-BD" dirty="0"/>
              <a:t>🔴 Cloud</a:t>
            </a:r>
          </a:p>
          <a:p>
            <a:r>
              <a:rPr lang="en-BD" dirty="0"/>
              <a:t>Howard-----------</a:t>
            </a:r>
            <a:r>
              <a:rPr lang="en-BD" dirty="0">
                <a:sym typeface="Wingdings" pitchFamily="2" charset="2"/>
              </a:rPr>
              <a:t></a:t>
            </a:r>
            <a:r>
              <a:rPr lang="en-BD" dirty="0"/>
              <a:t>🟡 Generic</a:t>
            </a:r>
          </a:p>
          <a:p>
            <a:r>
              <a:rPr lang="en-BD" dirty="0"/>
              <a:t>Islam-------------</a:t>
            </a:r>
            <a:r>
              <a:rPr lang="en-BD" dirty="0">
                <a:sym typeface="Wingdings" pitchFamily="2" charset="2"/>
              </a:rPr>
              <a:t></a:t>
            </a:r>
            <a:r>
              <a:rPr lang="en-BD" dirty="0"/>
              <a:t>🔴 No deployment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BD"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BD"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BD"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BD" dirty="0"/>
          </a:p>
          <a:p>
            <a:endParaRPr lang="en-BD" dirty="0"/>
          </a:p>
        </p:txBody>
      </p:sp>
      <p:sp>
        <p:nvSpPr>
          <p:cNvPr id="4" name="Slide Number Placeholder 3"/>
          <p:cNvSpPr>
            <a:spLocks noGrp="1"/>
          </p:cNvSpPr>
          <p:nvPr>
            <p:ph type="sldNum" sz="quarter" idx="5"/>
          </p:nvPr>
        </p:nvSpPr>
        <p:spPr/>
        <p:txBody>
          <a:bodyPr/>
          <a:lstStyle/>
          <a:p>
            <a:fld id="{6BBB996A-5601-DF45-9818-068637013612}" type="slidenum">
              <a:rPr lang="en-BD" smtClean="0"/>
              <a:t>6</a:t>
            </a:fld>
            <a:endParaRPr lang="en-BD"/>
          </a:p>
        </p:txBody>
      </p:sp>
    </p:spTree>
    <p:extLst>
      <p:ext uri="{BB962C8B-B14F-4D97-AF65-F5344CB8AC3E}">
        <p14:creationId xmlns:p14="http://schemas.microsoft.com/office/powerpoint/2010/main" val="369502165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BD" dirty="0"/>
              <a:t>Previous research mainly focused on accuracy.</a:t>
            </a:r>
          </a:p>
          <a:p>
            <a:endParaRPr lang="en-BD" dirty="0"/>
          </a:p>
          <a:p>
            <a:r>
              <a:rPr lang="en-BD" dirty="0"/>
              <a:t>They often ignored model size and speed.</a:t>
            </a:r>
          </a:p>
          <a:p>
            <a:endParaRPr lang="en-BD" dirty="0"/>
          </a:p>
          <a:p>
            <a:r>
              <a:rPr lang="en-BD" dirty="0"/>
              <a:t>Many studies also lacked fair benchmarking and offline deployment.</a:t>
            </a:r>
          </a:p>
          <a:p>
            <a:endParaRPr lang="en-BD" dirty="0"/>
          </a:p>
          <a:p>
            <a:r>
              <a:rPr lang="en-BD" dirty="0"/>
              <a:t>Our contribution is different.</a:t>
            </a:r>
          </a:p>
          <a:p>
            <a:r>
              <a:rPr lang="en-BD" dirty="0"/>
              <a:t>We compared five models, measured both accuracy and latency, and deployed the best model in a Flutter app.</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BD"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BD"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BD" dirty="0"/>
          </a:p>
          <a:p>
            <a:pPr marL="0" marR="0" lvl="0" indent="0" algn="l" defTabSz="914400" rtl="0" eaLnBrk="1" fontAlgn="auto" latinLnBrk="0" hangingPunct="1">
              <a:lnSpc>
                <a:spcPct val="100000"/>
              </a:lnSpc>
              <a:spcBef>
                <a:spcPts val="0"/>
              </a:spcBef>
              <a:spcAft>
                <a:spcPts val="0"/>
              </a:spcAft>
              <a:buClrTx/>
              <a:buSzTx/>
              <a:buFontTx/>
              <a:buNone/>
              <a:tabLst/>
              <a:defRPr/>
            </a:pPr>
            <a:r>
              <a:rPr lang="en-BD" dirty="0"/>
              <a:t>Gap:</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BD" dirty="0"/>
              <a:t>Accuracy only focus</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BD" dirty="0"/>
              <a:t>No benchmarking</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BD" dirty="0"/>
              <a:t>No deployment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BD" dirty="0"/>
          </a:p>
          <a:p>
            <a:pPr marL="0" marR="0" lvl="0" indent="0" algn="l" defTabSz="914400" rtl="0" eaLnBrk="1" fontAlgn="auto" latinLnBrk="0" hangingPunct="1">
              <a:lnSpc>
                <a:spcPct val="100000"/>
              </a:lnSpc>
              <a:spcBef>
                <a:spcPts val="0"/>
              </a:spcBef>
              <a:spcAft>
                <a:spcPts val="0"/>
              </a:spcAft>
              <a:buClrTx/>
              <a:buSzTx/>
              <a:buFontTx/>
              <a:buNone/>
              <a:tabLst/>
              <a:defRPr/>
            </a:pPr>
            <a:r>
              <a:rPr lang="en-BD" dirty="0"/>
              <a:t>Contribution:</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BD" dirty="0"/>
              <a:t>5-model benchmark</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GB" dirty="0"/>
              <a:t>L</a:t>
            </a:r>
            <a:r>
              <a:rPr lang="en-BD" dirty="0"/>
              <a:t>atency evalution</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GB" dirty="0"/>
              <a:t>O</a:t>
            </a:r>
            <a:r>
              <a:rPr lang="en-BD" dirty="0"/>
              <a:t>ffline-flutter app</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BD"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BD"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BD"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BD" dirty="0"/>
          </a:p>
          <a:p>
            <a:endParaRPr lang="en-BD" dirty="0"/>
          </a:p>
        </p:txBody>
      </p:sp>
      <p:sp>
        <p:nvSpPr>
          <p:cNvPr id="4" name="Slide Number Placeholder 3"/>
          <p:cNvSpPr>
            <a:spLocks noGrp="1"/>
          </p:cNvSpPr>
          <p:nvPr>
            <p:ph type="sldNum" sz="quarter" idx="5"/>
          </p:nvPr>
        </p:nvSpPr>
        <p:spPr/>
        <p:txBody>
          <a:bodyPr/>
          <a:lstStyle/>
          <a:p>
            <a:fld id="{6BBB996A-5601-DF45-9818-068637013612}" type="slidenum">
              <a:rPr lang="en-BD" smtClean="0"/>
              <a:t>7</a:t>
            </a:fld>
            <a:endParaRPr lang="en-BD"/>
          </a:p>
        </p:txBody>
      </p:sp>
    </p:spTree>
    <p:extLst>
      <p:ext uri="{BB962C8B-B14F-4D97-AF65-F5344CB8AC3E}">
        <p14:creationId xmlns:p14="http://schemas.microsoft.com/office/powerpoint/2010/main" val="416080188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BD" dirty="0"/>
              <a:t>We used the public Mangifera2012 dataset.</a:t>
            </a:r>
          </a:p>
          <a:p>
            <a:endParaRPr lang="en-BD" dirty="0"/>
          </a:p>
          <a:p>
            <a:r>
              <a:rPr lang="en-BD" dirty="0"/>
              <a:t>It contains 2,012 images of 10 Bangladeshi mango varieties.</a:t>
            </a:r>
          </a:p>
          <a:p>
            <a:endParaRPr lang="en-BD" dirty="0"/>
          </a:p>
          <a:p>
            <a:r>
              <a:rPr lang="en-BD" dirty="0"/>
              <a:t>Before training, we resized all images and applied preprocessing and data augmentation.</a:t>
            </a:r>
          </a:p>
          <a:p>
            <a:endParaRPr lang="en-BD" dirty="0"/>
          </a:p>
          <a:p>
            <a:r>
              <a:rPr lang="en-BD" dirty="0"/>
              <a:t>This helped the models learn better and reduced overfitting.</a:t>
            </a:r>
          </a:p>
        </p:txBody>
      </p:sp>
      <p:sp>
        <p:nvSpPr>
          <p:cNvPr id="4" name="Slide Number Placeholder 3"/>
          <p:cNvSpPr>
            <a:spLocks noGrp="1"/>
          </p:cNvSpPr>
          <p:nvPr>
            <p:ph type="sldNum" sz="quarter" idx="5"/>
          </p:nvPr>
        </p:nvSpPr>
        <p:spPr/>
        <p:txBody>
          <a:bodyPr/>
          <a:lstStyle/>
          <a:p>
            <a:fld id="{6BBB996A-5601-DF45-9818-068637013612}" type="slidenum">
              <a:rPr lang="en-BD" smtClean="0"/>
              <a:t>8</a:t>
            </a:fld>
            <a:endParaRPr lang="en-BD"/>
          </a:p>
        </p:txBody>
      </p:sp>
    </p:spTree>
    <p:extLst>
      <p:ext uri="{BB962C8B-B14F-4D97-AF65-F5344CB8AC3E}">
        <p14:creationId xmlns:p14="http://schemas.microsoft.com/office/powerpoint/2010/main" val="368325037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BD" dirty="0"/>
              <a:t>Our methodology has four steps.</a:t>
            </a:r>
          </a:p>
          <a:p>
            <a:endParaRPr lang="en-BD" dirty="0"/>
          </a:p>
          <a:p>
            <a:r>
              <a:rPr lang="en-BD" dirty="0"/>
              <a:t>First, prepare and preprocess the images.</a:t>
            </a:r>
          </a:p>
          <a:p>
            <a:endParaRPr lang="en-BD" dirty="0"/>
          </a:p>
          <a:p>
            <a:r>
              <a:rPr lang="en-BD" dirty="0"/>
              <a:t>Second, train five transfer learning models.</a:t>
            </a:r>
          </a:p>
          <a:p>
            <a:endParaRPr lang="en-BD" dirty="0"/>
          </a:p>
          <a:p>
            <a:r>
              <a:rPr lang="en-BD" dirty="0"/>
              <a:t>Third, compare them using accuracy, F1-score, model size, and latency.</a:t>
            </a:r>
          </a:p>
          <a:p>
            <a:endParaRPr lang="en-BD" dirty="0"/>
          </a:p>
          <a:p>
            <a:r>
              <a:rPr lang="en-BD" dirty="0"/>
              <a:t>Finally, optimize the best model and deploy it in our Flutter application.</a:t>
            </a:r>
          </a:p>
        </p:txBody>
      </p:sp>
      <p:sp>
        <p:nvSpPr>
          <p:cNvPr id="4" name="Slide Number Placeholder 3"/>
          <p:cNvSpPr>
            <a:spLocks noGrp="1"/>
          </p:cNvSpPr>
          <p:nvPr>
            <p:ph type="sldNum" sz="quarter" idx="5"/>
          </p:nvPr>
        </p:nvSpPr>
        <p:spPr/>
        <p:txBody>
          <a:bodyPr/>
          <a:lstStyle/>
          <a:p>
            <a:fld id="{6BBB996A-5601-DF45-9818-068637013612}" type="slidenum">
              <a:rPr lang="en-BD" smtClean="0"/>
              <a:t>9</a:t>
            </a:fld>
            <a:endParaRPr lang="en-BD"/>
          </a:p>
        </p:txBody>
      </p:sp>
    </p:spTree>
    <p:extLst>
      <p:ext uri="{BB962C8B-B14F-4D97-AF65-F5344CB8AC3E}">
        <p14:creationId xmlns:p14="http://schemas.microsoft.com/office/powerpoint/2010/main" val="343880782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BD" dirty="0"/>
              <a:t>This slide shows our complete workflow.</a:t>
            </a:r>
          </a:p>
          <a:p>
            <a:endParaRPr lang="en-BD" dirty="0"/>
          </a:p>
          <a:p>
            <a:r>
              <a:rPr lang="en-BD" dirty="0"/>
              <a:t>In the first row, we prepare the dataset by resizing images, applying preprocessing, and using data augmentation.</a:t>
            </a:r>
          </a:p>
          <a:p>
            <a:endParaRPr lang="en-BD" dirty="0"/>
          </a:p>
          <a:p>
            <a:r>
              <a:rPr lang="en-BD" dirty="0"/>
              <a:t>In the second row, we train five CNN models using transfer learning and evaluate their performance.</a:t>
            </a:r>
          </a:p>
          <a:p>
            <a:endParaRPr lang="en-BD" dirty="0"/>
          </a:p>
          <a:p>
            <a:r>
              <a:rPr lang="en-BD" dirty="0"/>
              <a:t>In the final row, we compare the models.</a:t>
            </a:r>
          </a:p>
          <a:p>
            <a:endParaRPr lang="en-BD" dirty="0"/>
          </a:p>
          <a:p>
            <a:r>
              <a:rPr lang="en-BD" dirty="0"/>
              <a:t>MobileNetV3-Small gives the best balance between accuracy and speed.</a:t>
            </a:r>
          </a:p>
          <a:p>
            <a:endParaRPr lang="en-BD" dirty="0"/>
          </a:p>
          <a:p>
            <a:r>
              <a:rPr lang="en-BD" dirty="0"/>
              <a:t>Then we convert it into TensorFlow Lite and deploy it inside AmmChini AI for offline prediction.</a:t>
            </a:r>
          </a:p>
          <a:p>
            <a:endParaRPr lang="en-BD" b="1" dirty="0"/>
          </a:p>
          <a:p>
            <a:endParaRPr lang="en-BD" b="1" dirty="0"/>
          </a:p>
          <a:p>
            <a:endParaRPr lang="en-BD" b="1" dirty="0"/>
          </a:p>
          <a:p>
            <a:endParaRPr lang="en-BD" b="1" dirty="0"/>
          </a:p>
          <a:p>
            <a:r>
              <a:rPr lang="en-BD" b="1" dirty="0"/>
              <a:t>Speaker Note (1–1.5 minutes)</a:t>
            </a:r>
          </a:p>
          <a:p>
            <a:r>
              <a:rPr lang="en-BD" dirty="0"/>
              <a:t>"This figure illustrates the complete workflow of our methodology, starting from dataset preparation and ending with offline real-time mango variety prediction.”</a:t>
            </a:r>
          </a:p>
          <a:p>
            <a:endParaRPr lang="en-BD" dirty="0"/>
          </a:p>
          <a:p>
            <a:r>
              <a:rPr lang="en-BD" b="1" dirty="0"/>
              <a:t>Row 1 – Data Preparation</a:t>
            </a:r>
          </a:p>
          <a:p>
            <a:r>
              <a:rPr lang="en-BD" dirty="0"/>
              <a:t>"In the first row, we begin with the Mangifera2012 dataset, which contains images of different mango varieties. We prepare and clean the dataset, resize all images to 224 by 224 pixels, apply architecture-specific preprocessing for each CNN model, and perform online data augmentation to increase data diversity and improve model generalization.”</a:t>
            </a:r>
          </a:p>
          <a:p>
            <a:endParaRPr lang="en-BD" dirty="0"/>
          </a:p>
          <a:p>
            <a:r>
              <a:rPr lang="en-BD" b="1" dirty="0"/>
              <a:t>Row 2 – Model Development</a:t>
            </a:r>
          </a:p>
          <a:p>
            <a:r>
              <a:rPr lang="en-BD" dirty="0"/>
              <a:t>"The second row focuses on model development. We split the dataset into 80 percent for training and 20 percent for validation. Then, we construct transfer learning models using five lightweight CNN architectures: MobileNetV2, MobileNetV3-Small, EfficientNetV2B0, DenseNet121, and NASNetMobile. After training, we evaluate each model using Accuracy, Precision, Recall, and Weighted F1-score.”</a:t>
            </a:r>
          </a:p>
          <a:p>
            <a:endParaRPr lang="en-BD" dirty="0"/>
          </a:p>
          <a:p>
            <a:r>
              <a:rPr lang="en-BD" b="1" dirty="0"/>
              <a:t>Row 3 – Edge AI Deployment</a:t>
            </a:r>
          </a:p>
          <a:p>
            <a:r>
              <a:rPr lang="en-BD" dirty="0"/>
              <a:t>"In the final row, we compare the models based on accuracy, model size, and inference latency to identify the best edge AI model. MobileNetV3-Small achieved the best balance between performance and efficiency, so we selected it for deployment. We then applied TensorFlow Lite Float16 quantization, integrated the optimized model into our Flutter-based AmmChini AI application, and achieved offline real-time mango variety prediction on mobile devices.”</a:t>
            </a:r>
          </a:p>
          <a:p>
            <a:endParaRPr lang="en-BD" dirty="0"/>
          </a:p>
          <a:p>
            <a:r>
              <a:rPr lang="en-BD" b="1" dirty="0"/>
              <a:t>Closing Line</a:t>
            </a:r>
          </a:p>
          <a:p>
            <a:r>
              <a:rPr lang="en-BD" dirty="0"/>
              <a:t>"This end-to-end pipeline demonstrates how a lightweight deep learning model can be optimized for practical edge AI deployment in agriculture without requiring an internet connection."</a:t>
            </a:r>
          </a:p>
          <a:p>
            <a:endParaRPr lang="en-BD" dirty="0"/>
          </a:p>
        </p:txBody>
      </p:sp>
      <p:sp>
        <p:nvSpPr>
          <p:cNvPr id="4" name="Slide Number Placeholder 3"/>
          <p:cNvSpPr>
            <a:spLocks noGrp="1"/>
          </p:cNvSpPr>
          <p:nvPr>
            <p:ph type="sldNum" sz="quarter" idx="5"/>
          </p:nvPr>
        </p:nvSpPr>
        <p:spPr/>
        <p:txBody>
          <a:bodyPr/>
          <a:lstStyle/>
          <a:p>
            <a:fld id="{6BBB996A-5601-DF45-9818-068637013612}" type="slidenum">
              <a:rPr lang="en-BD" smtClean="0"/>
              <a:t>10</a:t>
            </a:fld>
            <a:endParaRPr lang="en-BD"/>
          </a:p>
        </p:txBody>
      </p:sp>
    </p:spTree>
    <p:extLst>
      <p:ext uri="{BB962C8B-B14F-4D97-AF65-F5344CB8AC3E}">
        <p14:creationId xmlns:p14="http://schemas.microsoft.com/office/powerpoint/2010/main" val="226908753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BD" dirty="0"/>
              <a:t>We selected five lightweight CNN models.</a:t>
            </a:r>
          </a:p>
          <a:p>
            <a:endParaRPr lang="en-BD" dirty="0"/>
          </a:p>
          <a:p>
            <a:r>
              <a:rPr lang="en-BD" dirty="0"/>
              <a:t>MobileNetV2 and MobileNetV3 are designed for mobile devices.</a:t>
            </a:r>
          </a:p>
          <a:p>
            <a:endParaRPr lang="en-BD" dirty="0"/>
          </a:p>
          <a:p>
            <a:r>
              <a:rPr lang="en-BD" dirty="0"/>
              <a:t>EfficientNetV2 focuses on higher accuracy.</a:t>
            </a:r>
          </a:p>
          <a:p>
            <a:endParaRPr lang="en-BD" dirty="0"/>
          </a:p>
          <a:p>
            <a:r>
              <a:rPr lang="en-BD" dirty="0"/>
              <a:t>DenseNet121 improves feature reuse.</a:t>
            </a:r>
          </a:p>
          <a:p>
            <a:endParaRPr lang="en-BD" dirty="0"/>
          </a:p>
          <a:p>
            <a:r>
              <a:rPr lang="en-BD" dirty="0"/>
              <a:t>NASNetMobile uses neural architecture search.</a:t>
            </a:r>
          </a:p>
          <a:p>
            <a:endParaRPr lang="en-BD" dirty="0"/>
          </a:p>
          <a:p>
            <a:r>
              <a:rPr lang="en-BD" dirty="0"/>
              <a:t>Using different architectures helps us make a fair comparison.</a:t>
            </a:r>
          </a:p>
        </p:txBody>
      </p:sp>
      <p:sp>
        <p:nvSpPr>
          <p:cNvPr id="4" name="Slide Number Placeholder 3"/>
          <p:cNvSpPr>
            <a:spLocks noGrp="1"/>
          </p:cNvSpPr>
          <p:nvPr>
            <p:ph type="sldNum" sz="quarter" idx="5"/>
          </p:nvPr>
        </p:nvSpPr>
        <p:spPr/>
        <p:txBody>
          <a:bodyPr/>
          <a:lstStyle/>
          <a:p>
            <a:fld id="{6BBB996A-5601-DF45-9818-068637013612}" type="slidenum">
              <a:rPr lang="en-BD" smtClean="0"/>
              <a:t>11</a:t>
            </a:fld>
            <a:endParaRPr lang="en-BD"/>
          </a:p>
        </p:txBody>
      </p:sp>
    </p:spTree>
    <p:extLst>
      <p:ext uri="{BB962C8B-B14F-4D97-AF65-F5344CB8AC3E}">
        <p14:creationId xmlns:p14="http://schemas.microsoft.com/office/powerpoint/2010/main" val="40206025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BD" dirty="0"/>
              <a:t>Our mobile application is built with Flutter.</a:t>
            </a:r>
          </a:p>
          <a:p>
            <a:endParaRPr lang="en-BD" dirty="0"/>
          </a:p>
          <a:p>
            <a:r>
              <a:rPr lang="en-BD" dirty="0"/>
              <a:t>The user can take a photo or choose one from the gallery.</a:t>
            </a:r>
          </a:p>
          <a:p>
            <a:endParaRPr lang="en-BD" dirty="0"/>
          </a:p>
          <a:p>
            <a:r>
              <a:rPr lang="en-BD" dirty="0"/>
              <a:t>The image is converted into a tensor and sent directly to the TensorFlow Lite interpreter.</a:t>
            </a:r>
          </a:p>
          <a:p>
            <a:endParaRPr lang="en-BD" dirty="0"/>
          </a:p>
          <a:p>
            <a:r>
              <a:rPr lang="en-BD" dirty="0"/>
              <a:t>Everything happens inside the phone.</a:t>
            </a:r>
          </a:p>
          <a:p>
            <a:endParaRPr lang="en-BD" dirty="0"/>
          </a:p>
          <a:p>
            <a:r>
              <a:rPr lang="en-BD" dirty="0"/>
              <a:t>No internet or server is needed.</a:t>
            </a:r>
          </a:p>
        </p:txBody>
      </p:sp>
      <p:sp>
        <p:nvSpPr>
          <p:cNvPr id="4" name="Slide Number Placeholder 3"/>
          <p:cNvSpPr>
            <a:spLocks noGrp="1"/>
          </p:cNvSpPr>
          <p:nvPr>
            <p:ph type="sldNum" sz="quarter" idx="5"/>
          </p:nvPr>
        </p:nvSpPr>
        <p:spPr/>
        <p:txBody>
          <a:bodyPr/>
          <a:lstStyle/>
          <a:p>
            <a:fld id="{6BBB996A-5601-DF45-9818-068637013612}" type="slidenum">
              <a:rPr lang="en-BD" smtClean="0"/>
              <a:t>12</a:t>
            </a:fld>
            <a:endParaRPr lang="en-BD"/>
          </a:p>
        </p:txBody>
      </p:sp>
    </p:spTree>
    <p:extLst>
      <p:ext uri="{BB962C8B-B14F-4D97-AF65-F5344CB8AC3E}">
        <p14:creationId xmlns:p14="http://schemas.microsoft.com/office/powerpoint/2010/main" val="393372020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BD" dirty="0"/>
              <a:t>Looking only at accuracy, EfficientNetV2B0 performs the best with 92%.</a:t>
            </a:r>
          </a:p>
          <a:p>
            <a:endParaRPr lang="en-BD" dirty="0"/>
          </a:p>
          <a:p>
            <a:r>
              <a:rPr lang="en-BD" dirty="0"/>
              <a:t>DenseNet121 comes next.</a:t>
            </a:r>
          </a:p>
          <a:p>
            <a:endParaRPr lang="en-BD" dirty="0"/>
          </a:p>
          <a:p>
            <a:r>
              <a:rPr lang="en-BD" dirty="0"/>
              <a:t>MobileNetV3-Small achieves 88.5%.</a:t>
            </a:r>
          </a:p>
          <a:p>
            <a:endParaRPr lang="en-BD" dirty="0"/>
          </a:p>
          <a:p>
            <a:r>
              <a:rPr lang="en-BD" dirty="0"/>
              <a:t>But accuracy alone is not enough.</a:t>
            </a:r>
          </a:p>
          <a:p>
            <a:endParaRPr lang="en-BD" dirty="0"/>
          </a:p>
          <a:p>
            <a:r>
              <a:rPr lang="en-BD" dirty="0"/>
              <a:t>For Edge AI, speed and model size are also important.</a:t>
            </a:r>
          </a:p>
        </p:txBody>
      </p:sp>
      <p:sp>
        <p:nvSpPr>
          <p:cNvPr id="4" name="Slide Number Placeholder 3"/>
          <p:cNvSpPr>
            <a:spLocks noGrp="1"/>
          </p:cNvSpPr>
          <p:nvPr>
            <p:ph type="sldNum" sz="quarter" idx="5"/>
          </p:nvPr>
        </p:nvSpPr>
        <p:spPr/>
        <p:txBody>
          <a:bodyPr/>
          <a:lstStyle/>
          <a:p>
            <a:fld id="{6BBB996A-5601-DF45-9818-068637013612}" type="slidenum">
              <a:rPr lang="en-BD" smtClean="0"/>
              <a:t>13</a:t>
            </a:fld>
            <a:endParaRPr lang="en-BD"/>
          </a:p>
        </p:txBody>
      </p:sp>
    </p:spTree>
    <p:extLst>
      <p:ext uri="{BB962C8B-B14F-4D97-AF65-F5344CB8AC3E}">
        <p14:creationId xmlns:p14="http://schemas.microsoft.com/office/powerpoint/2010/main" val="351110206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BD" dirty="0"/>
              <a:t>This table shows all important metrics together.</a:t>
            </a:r>
          </a:p>
          <a:p>
            <a:endParaRPr lang="en-BD" dirty="0"/>
          </a:p>
          <a:p>
            <a:r>
              <a:rPr lang="en-BD" dirty="0"/>
              <a:t>EfficientNetV2 has the highest accuracy but it is much larger.</a:t>
            </a:r>
          </a:p>
          <a:p>
            <a:endParaRPr lang="en-BD" dirty="0"/>
          </a:p>
          <a:p>
            <a:r>
              <a:rPr lang="en-BD" dirty="0"/>
              <a:t>DenseNet121 also has higher latency.</a:t>
            </a:r>
          </a:p>
          <a:p>
            <a:endParaRPr lang="en-BD" dirty="0"/>
          </a:p>
          <a:p>
            <a:r>
              <a:rPr lang="en-BD" dirty="0"/>
              <a:t>MobileNetV3-Small is only 4.99 MB and runs in about 28 milliseconds.</a:t>
            </a:r>
          </a:p>
          <a:p>
            <a:endParaRPr lang="en-BD" dirty="0"/>
          </a:p>
          <a:p>
            <a:r>
              <a:rPr lang="en-BD" dirty="0"/>
              <a:t>This makes it the best choice for mobile deployment.</a:t>
            </a:r>
          </a:p>
        </p:txBody>
      </p:sp>
      <p:sp>
        <p:nvSpPr>
          <p:cNvPr id="4" name="Slide Number Placeholder 3"/>
          <p:cNvSpPr>
            <a:spLocks noGrp="1"/>
          </p:cNvSpPr>
          <p:nvPr>
            <p:ph type="sldNum" sz="quarter" idx="5"/>
          </p:nvPr>
        </p:nvSpPr>
        <p:spPr/>
        <p:txBody>
          <a:bodyPr/>
          <a:lstStyle/>
          <a:p>
            <a:fld id="{6BBB996A-5601-DF45-9818-068637013612}" type="slidenum">
              <a:rPr lang="en-BD" smtClean="0"/>
              <a:t>14</a:t>
            </a:fld>
            <a:endParaRPr lang="en-BD"/>
          </a:p>
        </p:txBody>
      </p:sp>
    </p:spTree>
    <p:extLst>
      <p:ext uri="{BB962C8B-B14F-4D97-AF65-F5344CB8AC3E}">
        <p14:creationId xmlns:p14="http://schemas.microsoft.com/office/powerpoint/2010/main" val="35301764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BD" dirty="0"/>
              <a:t>This slide explains our final decision.</a:t>
            </a:r>
          </a:p>
          <a:p>
            <a:endParaRPr lang="en-BD" dirty="0"/>
          </a:p>
          <a:p>
            <a:r>
              <a:rPr lang="en-BD" dirty="0"/>
              <a:t>EfficientNetV2 is only about 3.5% more accurate.</a:t>
            </a:r>
          </a:p>
          <a:p>
            <a:endParaRPr lang="en-BD" dirty="0"/>
          </a:p>
          <a:p>
            <a:r>
              <a:rPr lang="en-BD" dirty="0"/>
              <a:t>But it is almost five times larger.</a:t>
            </a:r>
          </a:p>
          <a:p>
            <a:endParaRPr lang="en-BD" dirty="0"/>
          </a:p>
          <a:p>
            <a:r>
              <a:rPr lang="en-BD" dirty="0"/>
              <a:t>MobileNetV3-Small is much faster and uses less storage.</a:t>
            </a:r>
          </a:p>
          <a:p>
            <a:endParaRPr lang="en-BD" dirty="0"/>
          </a:p>
          <a:p>
            <a:r>
              <a:rPr lang="en-BD" dirty="0"/>
              <a:t>So it gives the best balance between performance and efficiency.</a:t>
            </a:r>
          </a:p>
        </p:txBody>
      </p:sp>
      <p:sp>
        <p:nvSpPr>
          <p:cNvPr id="4" name="Slide Number Placeholder 3"/>
          <p:cNvSpPr>
            <a:spLocks noGrp="1"/>
          </p:cNvSpPr>
          <p:nvPr>
            <p:ph type="sldNum" sz="quarter" idx="5"/>
          </p:nvPr>
        </p:nvSpPr>
        <p:spPr/>
        <p:txBody>
          <a:bodyPr/>
          <a:lstStyle/>
          <a:p>
            <a:fld id="{6BBB996A-5601-DF45-9818-068637013612}" type="slidenum">
              <a:rPr lang="en-BD" smtClean="0"/>
              <a:t>15</a:t>
            </a:fld>
            <a:endParaRPr lang="en-BD"/>
          </a:p>
        </p:txBody>
      </p:sp>
    </p:spTree>
    <p:extLst>
      <p:ext uri="{BB962C8B-B14F-4D97-AF65-F5344CB8AC3E}">
        <p14:creationId xmlns:p14="http://schemas.microsoft.com/office/powerpoint/2010/main" val="321400265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BD" dirty="0"/>
              <a:t>After selecting MobileNetV3-Small, we built the AmmChini AI application.</a:t>
            </a:r>
          </a:p>
          <a:p>
            <a:endParaRPr lang="en-BD" dirty="0"/>
          </a:p>
          <a:p>
            <a:r>
              <a:rPr lang="en-BD" dirty="0"/>
              <a:t>The app works completely offline.</a:t>
            </a:r>
          </a:p>
          <a:p>
            <a:endParaRPr lang="en-BD" dirty="0"/>
          </a:p>
          <a:p>
            <a:r>
              <a:rPr lang="en-BD" dirty="0"/>
              <a:t>It gives real-time predictions in less than one second.</a:t>
            </a:r>
          </a:p>
          <a:p>
            <a:endParaRPr lang="en-BD" dirty="0"/>
          </a:p>
          <a:p>
            <a:r>
              <a:rPr lang="en-BD" dirty="0"/>
              <a:t>User images stay inside the phone, so privacy is protected.</a:t>
            </a:r>
          </a:p>
        </p:txBody>
      </p:sp>
      <p:sp>
        <p:nvSpPr>
          <p:cNvPr id="4" name="Slide Number Placeholder 3"/>
          <p:cNvSpPr>
            <a:spLocks noGrp="1"/>
          </p:cNvSpPr>
          <p:nvPr>
            <p:ph type="sldNum" sz="quarter" idx="5"/>
          </p:nvPr>
        </p:nvSpPr>
        <p:spPr/>
        <p:txBody>
          <a:bodyPr/>
          <a:lstStyle/>
          <a:p>
            <a:fld id="{6BBB996A-5601-DF45-9818-068637013612}" type="slidenum">
              <a:rPr lang="en-BD" smtClean="0"/>
              <a:t>16</a:t>
            </a:fld>
            <a:endParaRPr lang="en-BD"/>
          </a:p>
        </p:txBody>
      </p:sp>
    </p:spTree>
    <p:extLst>
      <p:ext uri="{BB962C8B-B14F-4D97-AF65-F5344CB8AC3E}">
        <p14:creationId xmlns:p14="http://schemas.microsoft.com/office/powerpoint/2010/main" val="317664824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BD" dirty="0"/>
              <a:t>We optimized the model using TensorFlow Lite Float16.</a:t>
            </a:r>
          </a:p>
          <a:p>
            <a:endParaRPr lang="en-BD" dirty="0"/>
          </a:p>
          <a:p>
            <a:r>
              <a:rPr lang="en-BD" dirty="0"/>
              <a:t>The model size became 4.99 MB, which is about 50% smaller than the original.</a:t>
            </a:r>
          </a:p>
          <a:p>
            <a:endParaRPr lang="en-BD" dirty="0"/>
          </a:p>
          <a:p>
            <a:r>
              <a:rPr lang="en-BD" dirty="0"/>
              <a:t>At the same time, prediction quality stayed almost the same.</a:t>
            </a:r>
          </a:p>
          <a:p>
            <a:endParaRPr lang="en-BD" dirty="0"/>
          </a:p>
          <a:p>
            <a:r>
              <a:rPr lang="en-BD" dirty="0"/>
              <a:t>The average execution time remained under 30 milliseconds.</a:t>
            </a:r>
          </a:p>
        </p:txBody>
      </p:sp>
      <p:sp>
        <p:nvSpPr>
          <p:cNvPr id="4" name="Slide Number Placeholder 3"/>
          <p:cNvSpPr>
            <a:spLocks noGrp="1"/>
          </p:cNvSpPr>
          <p:nvPr>
            <p:ph type="sldNum" sz="quarter" idx="5"/>
          </p:nvPr>
        </p:nvSpPr>
        <p:spPr/>
        <p:txBody>
          <a:bodyPr/>
          <a:lstStyle/>
          <a:p>
            <a:fld id="{6BBB996A-5601-DF45-9818-068637013612}" type="slidenum">
              <a:rPr lang="en-BD" smtClean="0"/>
              <a:t>17</a:t>
            </a:fld>
            <a:endParaRPr lang="en-BD"/>
          </a:p>
        </p:txBody>
      </p:sp>
    </p:spTree>
    <p:extLst>
      <p:ext uri="{BB962C8B-B14F-4D97-AF65-F5344CB8AC3E}">
        <p14:creationId xmlns:p14="http://schemas.microsoft.com/office/powerpoint/2010/main" val="171972249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BD" dirty="0"/>
              <a:t>No model is perfect.</a:t>
            </a:r>
          </a:p>
          <a:p>
            <a:endParaRPr lang="en-BD" dirty="0"/>
          </a:p>
          <a:p>
            <a:r>
              <a:rPr lang="en-BD" dirty="0"/>
              <a:t>The biggest confusion happened between Bari-4 and Nilambori, and also between Kanchon Langra and Bari-4.</a:t>
            </a:r>
          </a:p>
          <a:p>
            <a:endParaRPr lang="en-BD" dirty="0"/>
          </a:p>
          <a:p>
            <a:r>
              <a:rPr lang="en-BD" dirty="0"/>
              <a:t>These varieties look very similar.</a:t>
            </a:r>
          </a:p>
          <a:p>
            <a:endParaRPr lang="en-BD" dirty="0"/>
          </a:p>
          <a:p>
            <a:r>
              <a:rPr lang="en-BD" dirty="0"/>
              <a:t>More training images can improve these results in the future.</a:t>
            </a:r>
          </a:p>
          <a:p>
            <a:endParaRPr lang="en-BD" dirty="0"/>
          </a:p>
        </p:txBody>
      </p:sp>
      <p:sp>
        <p:nvSpPr>
          <p:cNvPr id="4" name="Slide Number Placeholder 3"/>
          <p:cNvSpPr>
            <a:spLocks noGrp="1"/>
          </p:cNvSpPr>
          <p:nvPr>
            <p:ph type="sldNum" sz="quarter" idx="5"/>
          </p:nvPr>
        </p:nvSpPr>
        <p:spPr/>
        <p:txBody>
          <a:bodyPr/>
          <a:lstStyle/>
          <a:p>
            <a:fld id="{6BBB996A-5601-DF45-9818-068637013612}" type="slidenum">
              <a:rPr lang="en-BD" smtClean="0"/>
              <a:t>18</a:t>
            </a:fld>
            <a:endParaRPr lang="en-BD"/>
          </a:p>
        </p:txBody>
      </p:sp>
    </p:spTree>
    <p:extLst>
      <p:ext uri="{BB962C8B-B14F-4D97-AF65-F5344CB8AC3E}">
        <p14:creationId xmlns:p14="http://schemas.microsoft.com/office/powerpoint/2010/main" val="373791415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BD" dirty="0"/>
              <a:t>To conclude, our research shows that lightweight CNN models can be successfully deployed on mobile phones.</a:t>
            </a:r>
          </a:p>
          <a:p>
            <a:endParaRPr lang="en-BD" dirty="0"/>
          </a:p>
          <a:p>
            <a:r>
              <a:rPr lang="en-BD" dirty="0"/>
              <a:t>MobileNetV3-Small gives the best balance between accuracy, model size, and speed.</a:t>
            </a:r>
          </a:p>
          <a:p>
            <a:endParaRPr lang="en-BD" dirty="0"/>
          </a:p>
          <a:p>
            <a:r>
              <a:rPr lang="en-BD" dirty="0"/>
              <a:t>In the future, we plan to add YOLO object detection, fruit ripeness detection, and INT8 optimization for smaller edge devices.</a:t>
            </a:r>
          </a:p>
          <a:p>
            <a:endParaRPr lang="en-BD" dirty="0"/>
          </a:p>
          <a:p>
            <a:r>
              <a:rPr lang="en-BD" dirty="0"/>
              <a:t>Our main message is simple:</a:t>
            </a:r>
          </a:p>
          <a:p>
            <a:r>
              <a:rPr lang="en-BD" dirty="0"/>
              <a:t>For real-world mobile applications, practical deployment is more important than only achieving the highest accuracy.</a:t>
            </a:r>
          </a:p>
        </p:txBody>
      </p:sp>
      <p:sp>
        <p:nvSpPr>
          <p:cNvPr id="4" name="Slide Number Placeholder 3"/>
          <p:cNvSpPr>
            <a:spLocks noGrp="1"/>
          </p:cNvSpPr>
          <p:nvPr>
            <p:ph type="sldNum" sz="quarter" idx="5"/>
          </p:nvPr>
        </p:nvSpPr>
        <p:spPr/>
        <p:txBody>
          <a:bodyPr/>
          <a:lstStyle/>
          <a:p>
            <a:fld id="{6BBB996A-5601-DF45-9818-068637013612}" type="slidenum">
              <a:rPr lang="en-BD" smtClean="0"/>
              <a:t>19</a:t>
            </a:fld>
            <a:endParaRPr lang="en-BD"/>
          </a:p>
        </p:txBody>
      </p:sp>
    </p:spTree>
    <p:extLst>
      <p:ext uri="{BB962C8B-B14F-4D97-AF65-F5344CB8AC3E}">
        <p14:creationId xmlns:p14="http://schemas.microsoft.com/office/powerpoint/2010/main" val="244570550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BD" dirty="0"/>
              <a:t>"That concludes our presentation. We express our sincere gratitude to our supervisor Professor Dr. Liton Jude Rozario, the faculty members, and the honorable defense committee.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BD" dirty="0"/>
          </a:p>
          <a:p>
            <a:pPr marL="0" marR="0" lvl="0" indent="0" algn="l" defTabSz="914400" rtl="0" eaLnBrk="1" fontAlgn="auto" latinLnBrk="0" hangingPunct="1">
              <a:lnSpc>
                <a:spcPct val="100000"/>
              </a:lnSpc>
              <a:spcBef>
                <a:spcPts val="0"/>
              </a:spcBef>
              <a:spcAft>
                <a:spcPts val="0"/>
              </a:spcAft>
              <a:buClrTx/>
              <a:buSzTx/>
              <a:buFontTx/>
              <a:buNone/>
              <a:tabLst/>
              <a:defRPr/>
            </a:pPr>
            <a:r>
              <a:rPr lang="en-BD" dirty="0"/>
              <a:t>We are now open to your questions and valuable feedback.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BD"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BD" dirty="0"/>
          </a:p>
          <a:p>
            <a:pPr marL="0" marR="0" lvl="0" indent="0" algn="l" defTabSz="914400" rtl="0" eaLnBrk="1" fontAlgn="auto" latinLnBrk="0" hangingPunct="1">
              <a:lnSpc>
                <a:spcPct val="100000"/>
              </a:lnSpc>
              <a:spcBef>
                <a:spcPts val="0"/>
              </a:spcBef>
              <a:spcAft>
                <a:spcPts val="0"/>
              </a:spcAft>
              <a:buClrTx/>
              <a:buSzTx/>
              <a:buFontTx/>
              <a:buNone/>
              <a:tabLst/>
              <a:defRPr/>
            </a:pPr>
            <a:r>
              <a:rPr lang="en-BD" dirty="0"/>
              <a:t>Thank you very much!"</a:t>
            </a:r>
          </a:p>
          <a:p>
            <a:endParaRPr lang="en-BD" dirty="0"/>
          </a:p>
        </p:txBody>
      </p:sp>
      <p:sp>
        <p:nvSpPr>
          <p:cNvPr id="4" name="Slide Number Placeholder 3"/>
          <p:cNvSpPr>
            <a:spLocks noGrp="1"/>
          </p:cNvSpPr>
          <p:nvPr>
            <p:ph type="sldNum" sz="quarter" idx="5"/>
          </p:nvPr>
        </p:nvSpPr>
        <p:spPr/>
        <p:txBody>
          <a:bodyPr/>
          <a:lstStyle/>
          <a:p>
            <a:fld id="{6BBB996A-5601-DF45-9818-068637013612}" type="slidenum">
              <a:rPr lang="en-BD" smtClean="0"/>
              <a:t>20</a:t>
            </a:fld>
            <a:endParaRPr lang="en-BD"/>
          </a:p>
        </p:txBody>
      </p:sp>
    </p:spTree>
    <p:extLst>
      <p:ext uri="{BB962C8B-B14F-4D97-AF65-F5344CB8AC3E}">
        <p14:creationId xmlns:p14="http://schemas.microsoft.com/office/powerpoint/2010/main" val="103406631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8/25/26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8/25/26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8/25/26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8/25/26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8/25/26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8/25/26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8/25/26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1.png"/><Relationship Id="rId7"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 Id="rId9" Type="http://schemas.openxmlformats.org/officeDocument/2006/relationships/image" Target="../media/image13.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7.xml"/><Relationship Id="rId5" Type="http://schemas.openxmlformats.org/officeDocument/2006/relationships/image" Target="../media/image16.png"/><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17.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png"/><Relationship Id="rId7" Type="http://schemas.openxmlformats.org/officeDocument/2006/relationships/image" Target="../media/image19.png"/><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 Id="rId9" Type="http://schemas.openxmlformats.org/officeDocument/2006/relationships/image" Target="../media/image21.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7.xml"/><Relationship Id="rId5" Type="http://schemas.openxmlformats.org/officeDocument/2006/relationships/image" Target="../media/image23.png"/><Relationship Id="rId4" Type="http://schemas.openxmlformats.org/officeDocument/2006/relationships/image" Target="../media/image22.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24.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7.xml"/><Relationship Id="rId4" Type="http://schemas.openxmlformats.org/officeDocument/2006/relationships/image" Target="../media/image25.png"/></Relationships>
</file>

<file path=ppt/slides/_rels/slide16.xml.rels><?xml version="1.0" encoding="UTF-8" standalone="yes"?>
<Relationships xmlns="http://schemas.openxmlformats.org/package/2006/relationships"><Relationship Id="rId8" Type="http://schemas.openxmlformats.org/officeDocument/2006/relationships/image" Target="../media/image28.jpeg"/><Relationship Id="rId3" Type="http://schemas.openxmlformats.org/officeDocument/2006/relationships/image" Target="../media/image9.png"/><Relationship Id="rId7" Type="http://schemas.openxmlformats.org/officeDocument/2006/relationships/image" Target="../media/image27.png"/><Relationship Id="rId2" Type="http://schemas.openxmlformats.org/officeDocument/2006/relationships/notesSlide" Target="../notesSlides/notesSlide16.xml"/><Relationship Id="rId1" Type="http://schemas.openxmlformats.org/officeDocument/2006/relationships/slideLayout" Target="../slideLayouts/slideLayout7.xml"/><Relationship Id="rId6" Type="http://schemas.openxmlformats.org/officeDocument/2006/relationships/image" Target="../media/image26.png"/><Relationship Id="rId5" Type="http://schemas.openxmlformats.org/officeDocument/2006/relationships/image" Target="../media/image8.png"/><Relationship Id="rId10" Type="http://schemas.openxmlformats.org/officeDocument/2006/relationships/image" Target="../media/image30.jpeg"/><Relationship Id="rId4" Type="http://schemas.openxmlformats.org/officeDocument/2006/relationships/image" Target="../media/image10.png"/><Relationship Id="rId9" Type="http://schemas.openxmlformats.org/officeDocument/2006/relationships/image" Target="../media/image29.jpe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7.xml"/><Relationship Id="rId4" Type="http://schemas.openxmlformats.org/officeDocument/2006/relationships/image" Target="../media/image31.png"/></Relationships>
</file>

<file path=ppt/slides/_rels/slide1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8.xml"/><Relationship Id="rId1" Type="http://schemas.openxmlformats.org/officeDocument/2006/relationships/slideLayout" Target="../slideLayouts/slideLayout7.xml"/><Relationship Id="rId4" Type="http://schemas.openxmlformats.org/officeDocument/2006/relationships/image" Target="../media/image33.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7.xml"/><Relationship Id="rId5" Type="http://schemas.openxmlformats.org/officeDocument/2006/relationships/image" Target="../media/image35.png"/><Relationship Id="rId4" Type="http://schemas.openxmlformats.org/officeDocument/2006/relationships/image" Target="../media/image34.pn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0" y="0"/>
            <a:ext cx="12192000" cy="7167993"/>
          </a:xfrm>
          <a:prstGeom prst="rect">
            <a:avLst/>
          </a:prstGeom>
        </p:spPr>
      </p:pic>
      <p:pic>
        <p:nvPicPr>
          <p:cNvPr id="3" name="Picture 2" descr="image.png"/>
          <p:cNvPicPr>
            <a:picLocks noChangeAspect="1"/>
          </p:cNvPicPr>
          <p:nvPr/>
        </p:nvPicPr>
        <p:blipFill>
          <a:blip r:embed="rId4"/>
          <a:stretch>
            <a:fillRect/>
          </a:stretch>
        </p:blipFill>
        <p:spPr>
          <a:xfrm>
            <a:off x="2524766" y="3556863"/>
            <a:ext cx="7142468" cy="2463511"/>
          </a:xfrm>
          <a:prstGeom prst="rect">
            <a:avLst/>
          </a:prstGeom>
        </p:spPr>
      </p:pic>
      <p:sp>
        <p:nvSpPr>
          <p:cNvPr id="4" name="TextBox 3"/>
          <p:cNvSpPr txBox="1"/>
          <p:nvPr/>
        </p:nvSpPr>
        <p:spPr>
          <a:xfrm>
            <a:off x="295275" y="1230369"/>
            <a:ext cx="11601450" cy="1725472"/>
          </a:xfrm>
          <a:prstGeom prst="rect">
            <a:avLst/>
          </a:prstGeom>
          <a:noFill/>
        </p:spPr>
        <p:txBody>
          <a:bodyPr wrap="square" lIns="0" tIns="0" rIns="0" bIns="0" anchor="t">
            <a:spAutoFit/>
          </a:bodyPr>
          <a:lstStyle/>
          <a:p>
            <a:pPr algn="ctr">
              <a:lnSpc>
                <a:spcPts val="4500"/>
              </a:lnSpc>
            </a:pPr>
            <a:r>
              <a:rPr sz="3600" b="1" i="0" u="none" dirty="0">
                <a:solidFill>
                  <a:srgbClr val="064E3B"/>
                </a:solidFill>
                <a:latin typeface="Poppins"/>
              </a:rPr>
              <a:t>Benchmarking Lightweight CNNs for Real-Time Classification</a:t>
            </a:r>
            <a:r>
              <a:rPr lang="en-US" sz="3600" b="1" i="0" u="none" dirty="0">
                <a:solidFill>
                  <a:srgbClr val="064E3B"/>
                </a:solidFill>
                <a:latin typeface="Poppins"/>
              </a:rPr>
              <a:t> of Bangladeshi Mango Varieties on Edge Devices</a:t>
            </a:r>
            <a:endParaRPr sz="3600" b="1" i="0" u="none" dirty="0">
              <a:solidFill>
                <a:srgbClr val="064E3B"/>
              </a:solidFill>
              <a:latin typeface="Poppins"/>
            </a:endParaRPr>
          </a:p>
        </p:txBody>
      </p:sp>
      <p:sp>
        <p:nvSpPr>
          <p:cNvPr id="6" name="TextBox 5"/>
          <p:cNvSpPr txBox="1"/>
          <p:nvPr/>
        </p:nvSpPr>
        <p:spPr>
          <a:xfrm>
            <a:off x="2826328" y="3738993"/>
            <a:ext cx="6525490" cy="738664"/>
          </a:xfrm>
          <a:prstGeom prst="rect">
            <a:avLst/>
          </a:prstGeom>
          <a:noFill/>
        </p:spPr>
        <p:txBody>
          <a:bodyPr wrap="square" lIns="0" tIns="0" rIns="0" bIns="0" anchor="t">
            <a:spAutoFit/>
          </a:bodyPr>
          <a:lstStyle/>
          <a:p>
            <a:pPr algn="ctr"/>
            <a:r>
              <a:rPr sz="2400" b="1" i="0" u="none" dirty="0">
                <a:solidFill>
                  <a:srgbClr val="064E3B"/>
                </a:solidFill>
                <a:latin typeface="Lato"/>
              </a:rPr>
              <a:t>Abdullah </a:t>
            </a:r>
            <a:r>
              <a:rPr sz="2400" b="1" i="0" u="none" dirty="0" err="1">
                <a:solidFill>
                  <a:srgbClr val="064E3B"/>
                </a:solidFill>
                <a:latin typeface="Lato"/>
              </a:rPr>
              <a:t>Nazmus</a:t>
            </a:r>
            <a:r>
              <a:rPr lang="en-US" sz="2400" b="1" dirty="0">
                <a:solidFill>
                  <a:srgbClr val="064E3B"/>
                </a:solidFill>
                <a:latin typeface="Lato"/>
              </a:rPr>
              <a:t>-</a:t>
            </a:r>
            <a:r>
              <a:rPr sz="2400" b="1" i="0" u="none" dirty="0">
                <a:solidFill>
                  <a:srgbClr val="064E3B"/>
                </a:solidFill>
                <a:latin typeface="Lato"/>
              </a:rPr>
              <a:t>Sakib</a:t>
            </a:r>
            <a:r>
              <a:rPr lang="en-US" sz="2400" b="1" i="0" u="none" dirty="0">
                <a:solidFill>
                  <a:srgbClr val="064E3B"/>
                </a:solidFill>
                <a:latin typeface="Lato"/>
              </a:rPr>
              <a:t>(210903)</a:t>
            </a:r>
            <a:r>
              <a:rPr sz="2400" b="1" i="0" u="none" dirty="0">
                <a:solidFill>
                  <a:srgbClr val="064E3B"/>
                </a:solidFill>
                <a:latin typeface="Lato"/>
              </a:rPr>
              <a:t> &amp; Redwana</a:t>
            </a:r>
            <a:r>
              <a:rPr lang="en-US" sz="2400" b="1" i="0" u="none" dirty="0">
                <a:solidFill>
                  <a:srgbClr val="064E3B"/>
                </a:solidFill>
                <a:latin typeface="Lato"/>
              </a:rPr>
              <a:t> </a:t>
            </a:r>
            <a:r>
              <a:rPr sz="2400" b="1" i="0" u="none" dirty="0">
                <a:solidFill>
                  <a:srgbClr val="064E3B"/>
                </a:solidFill>
                <a:latin typeface="Lato"/>
              </a:rPr>
              <a:t>Jahan</a:t>
            </a:r>
            <a:r>
              <a:rPr lang="en-US" sz="2400" b="1" dirty="0">
                <a:solidFill>
                  <a:srgbClr val="064E3B"/>
                </a:solidFill>
                <a:latin typeface="Lato"/>
              </a:rPr>
              <a:t> (210879) </a:t>
            </a:r>
            <a:endParaRPr sz="2400" b="1" i="0" u="none" dirty="0">
              <a:solidFill>
                <a:srgbClr val="064E3B"/>
              </a:solidFill>
              <a:latin typeface="Lato"/>
            </a:endParaRPr>
          </a:p>
        </p:txBody>
      </p:sp>
      <p:sp>
        <p:nvSpPr>
          <p:cNvPr id="7" name="TextBox 6"/>
          <p:cNvSpPr txBox="1"/>
          <p:nvPr/>
        </p:nvSpPr>
        <p:spPr>
          <a:xfrm>
            <a:off x="3683909" y="4788618"/>
            <a:ext cx="4830473" cy="218008"/>
          </a:xfrm>
          <a:prstGeom prst="rect">
            <a:avLst/>
          </a:prstGeom>
          <a:noFill/>
        </p:spPr>
        <p:txBody>
          <a:bodyPr wrap="square" lIns="0" tIns="0" rIns="0" bIns="0" anchor="t">
            <a:spAutoFit/>
          </a:bodyPr>
          <a:lstStyle/>
          <a:p>
            <a:pPr algn="ctr">
              <a:lnSpc>
                <a:spcPts val="1687"/>
              </a:lnSpc>
            </a:pPr>
            <a:r>
              <a:rPr b="0" i="0" u="none" dirty="0">
                <a:solidFill>
                  <a:srgbClr val="047857"/>
                </a:solidFill>
                <a:latin typeface="Lato"/>
              </a:rPr>
              <a:t>Supervised by: Professor Dr. Liton Jude Rozario</a:t>
            </a:r>
          </a:p>
        </p:txBody>
      </p:sp>
      <p:sp>
        <p:nvSpPr>
          <p:cNvPr id="8" name="TextBox 7"/>
          <p:cNvSpPr txBox="1"/>
          <p:nvPr/>
        </p:nvSpPr>
        <p:spPr>
          <a:xfrm>
            <a:off x="4001797" y="5252525"/>
            <a:ext cx="4366347" cy="410369"/>
          </a:xfrm>
          <a:prstGeom prst="rect">
            <a:avLst/>
          </a:prstGeom>
          <a:noFill/>
        </p:spPr>
        <p:txBody>
          <a:bodyPr wrap="square" lIns="0" tIns="0" rIns="0" bIns="0" anchor="t">
            <a:spAutoFit/>
          </a:bodyPr>
          <a:lstStyle/>
          <a:p>
            <a:pPr algn="ctr">
              <a:lnSpc>
                <a:spcPts val="1575"/>
              </a:lnSpc>
            </a:pPr>
            <a:r>
              <a:rPr b="0" i="0" u="none" dirty="0">
                <a:solidFill>
                  <a:srgbClr val="64748B"/>
                </a:solidFill>
                <a:latin typeface="Lato"/>
              </a:rPr>
              <a:t>Department of CSE, Jahangirnagar University | Dec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0" y="360218"/>
            <a:ext cx="12192000" cy="6858000"/>
          </a:xfrm>
          <a:prstGeom prst="rect">
            <a:avLst/>
          </a:prstGeom>
        </p:spPr>
      </p:pic>
      <p:pic>
        <p:nvPicPr>
          <p:cNvPr id="3" name="Picture 2" descr="image.png"/>
          <p:cNvPicPr>
            <a:picLocks noChangeAspect="1"/>
          </p:cNvPicPr>
          <p:nvPr/>
        </p:nvPicPr>
        <p:blipFill>
          <a:blip r:embed="rId4"/>
          <a:stretch>
            <a:fillRect/>
          </a:stretch>
        </p:blipFill>
        <p:spPr>
          <a:xfrm>
            <a:off x="571500" y="2600325"/>
            <a:ext cx="5334000" cy="2428875"/>
          </a:xfrm>
          <a:prstGeom prst="rect">
            <a:avLst/>
          </a:prstGeom>
          <a:gradFill>
            <a:gsLst>
              <a:gs pos="83993">
                <a:srgbClr val="8CB7F7"/>
              </a:gs>
              <a:gs pos="58004">
                <a:srgbClr val="74A5EB"/>
              </a:gs>
              <a:gs pos="71001">
                <a:srgbClr val="80AEF1"/>
              </a:gs>
              <a:gs pos="47011">
                <a:srgbClr val="6A9EE5"/>
              </a:gs>
              <a:gs pos="53000">
                <a:srgbClr val="70A2E8"/>
              </a:gs>
              <a:gs pos="0">
                <a:schemeClr val="accent1">
                  <a:tint val="100000"/>
                  <a:shade val="100000"/>
                  <a:satMod val="130000"/>
                </a:schemeClr>
              </a:gs>
              <a:gs pos="100000">
                <a:schemeClr val="accent1">
                  <a:tint val="50000"/>
                  <a:shade val="100000"/>
                  <a:satMod val="350000"/>
                </a:schemeClr>
              </a:gs>
            </a:gsLst>
            <a:lin ang="16200000" scaled="0"/>
          </a:gradFill>
        </p:spPr>
      </p:pic>
      <p:pic>
        <p:nvPicPr>
          <p:cNvPr id="4" name="Picture 3" descr="image.png"/>
          <p:cNvPicPr>
            <a:picLocks noChangeAspect="1"/>
          </p:cNvPicPr>
          <p:nvPr/>
        </p:nvPicPr>
        <p:blipFill>
          <a:blip r:embed="rId5"/>
          <a:stretch>
            <a:fillRect/>
          </a:stretch>
        </p:blipFill>
        <p:spPr>
          <a:xfrm>
            <a:off x="6286500" y="2600325"/>
            <a:ext cx="5440892" cy="2428875"/>
          </a:xfrm>
          <a:prstGeom prst="rect">
            <a:avLst/>
          </a:prstGeom>
        </p:spPr>
      </p:pic>
      <p:sp>
        <p:nvSpPr>
          <p:cNvPr id="5" name="TextBox 4"/>
          <p:cNvSpPr txBox="1"/>
          <p:nvPr/>
        </p:nvSpPr>
        <p:spPr>
          <a:xfrm>
            <a:off x="866775" y="2895600"/>
            <a:ext cx="4980622" cy="369332"/>
          </a:xfrm>
          <a:prstGeom prst="rect">
            <a:avLst/>
          </a:prstGeom>
          <a:noFill/>
        </p:spPr>
        <p:txBody>
          <a:bodyPr wrap="square" lIns="0" tIns="0" rIns="0" bIns="0" anchor="t">
            <a:spAutoFit/>
          </a:bodyPr>
          <a:lstStyle/>
          <a:p>
            <a:pPr algn="l"/>
            <a:r>
              <a:rPr sz="2400" b="0" i="0" u="none" dirty="0">
                <a:solidFill>
                  <a:srgbClr val="0F766E"/>
                </a:solidFill>
                <a:latin typeface="Poppins SemiBold"/>
              </a:rPr>
              <a:t>Part I: Foundations &amp; Design</a:t>
            </a:r>
          </a:p>
        </p:txBody>
      </p:sp>
      <p:sp>
        <p:nvSpPr>
          <p:cNvPr id="6" name="TextBox 5"/>
          <p:cNvSpPr txBox="1"/>
          <p:nvPr/>
        </p:nvSpPr>
        <p:spPr>
          <a:xfrm>
            <a:off x="866775" y="3305175"/>
            <a:ext cx="4743450" cy="243656"/>
          </a:xfrm>
          <a:prstGeom prst="rect">
            <a:avLst/>
          </a:prstGeom>
          <a:noFill/>
        </p:spPr>
        <p:txBody>
          <a:bodyPr wrap="square" lIns="0" tIns="0" rIns="0" bIns="0" anchor="t">
            <a:spAutoFit/>
          </a:bodyPr>
          <a:lstStyle/>
          <a:p>
            <a:pPr algn="l">
              <a:lnSpc>
                <a:spcPts val="1912"/>
              </a:lnSpc>
            </a:pPr>
            <a:r>
              <a:rPr sz="2000" b="0" i="0" u="none" dirty="0">
                <a:solidFill>
                  <a:srgbClr val="334155"/>
                </a:solidFill>
                <a:latin typeface="Lato"/>
              </a:rPr>
              <a:t>• Background &amp; Economic Context</a:t>
            </a:r>
          </a:p>
        </p:txBody>
      </p:sp>
      <p:sp>
        <p:nvSpPr>
          <p:cNvPr id="7" name="TextBox 6"/>
          <p:cNvSpPr txBox="1"/>
          <p:nvPr/>
        </p:nvSpPr>
        <p:spPr>
          <a:xfrm>
            <a:off x="866775" y="3662362"/>
            <a:ext cx="4743450" cy="242887"/>
          </a:xfrm>
          <a:prstGeom prst="rect">
            <a:avLst/>
          </a:prstGeom>
          <a:noFill/>
        </p:spPr>
        <p:txBody>
          <a:bodyPr wrap="square" lIns="0" tIns="0" rIns="0" bIns="0" anchor="t">
            <a:spAutoFit/>
          </a:bodyPr>
          <a:lstStyle/>
          <a:p>
            <a:pPr algn="l">
              <a:lnSpc>
                <a:spcPts val="1912"/>
              </a:lnSpc>
            </a:pPr>
            <a:r>
              <a:rPr sz="2000" b="0" i="0" u="none" dirty="0">
                <a:solidFill>
                  <a:srgbClr val="334155"/>
                </a:solidFill>
                <a:latin typeface="Lato"/>
              </a:rPr>
              <a:t>• Problem Statement &amp; Research Gaps</a:t>
            </a:r>
          </a:p>
        </p:txBody>
      </p:sp>
      <p:sp>
        <p:nvSpPr>
          <p:cNvPr id="8" name="TextBox 7"/>
          <p:cNvSpPr txBox="1"/>
          <p:nvPr/>
        </p:nvSpPr>
        <p:spPr>
          <a:xfrm>
            <a:off x="866775" y="4019550"/>
            <a:ext cx="4743450" cy="242887"/>
          </a:xfrm>
          <a:prstGeom prst="rect">
            <a:avLst/>
          </a:prstGeom>
          <a:noFill/>
        </p:spPr>
        <p:txBody>
          <a:bodyPr wrap="square" lIns="0" tIns="0" rIns="0" bIns="0" anchor="t">
            <a:spAutoFit/>
          </a:bodyPr>
          <a:lstStyle/>
          <a:p>
            <a:pPr algn="l">
              <a:lnSpc>
                <a:spcPts val="1912"/>
              </a:lnSpc>
            </a:pPr>
            <a:r>
              <a:rPr sz="2000" b="0" i="0" u="none" dirty="0">
                <a:solidFill>
                  <a:srgbClr val="334155"/>
                </a:solidFill>
                <a:latin typeface="Lato"/>
              </a:rPr>
              <a:t>• Research Objectives &amp; Contributions</a:t>
            </a:r>
          </a:p>
        </p:txBody>
      </p:sp>
      <p:sp>
        <p:nvSpPr>
          <p:cNvPr id="9" name="TextBox 8"/>
          <p:cNvSpPr txBox="1"/>
          <p:nvPr/>
        </p:nvSpPr>
        <p:spPr>
          <a:xfrm>
            <a:off x="866775" y="4376737"/>
            <a:ext cx="4743450" cy="242887"/>
          </a:xfrm>
          <a:prstGeom prst="rect">
            <a:avLst/>
          </a:prstGeom>
          <a:noFill/>
        </p:spPr>
        <p:txBody>
          <a:bodyPr wrap="square" lIns="0" tIns="0" rIns="0" bIns="0" anchor="t">
            <a:spAutoFit/>
          </a:bodyPr>
          <a:lstStyle/>
          <a:p>
            <a:pPr algn="l">
              <a:lnSpc>
                <a:spcPts val="1912"/>
              </a:lnSpc>
            </a:pPr>
            <a:r>
              <a:rPr sz="2000" b="0" i="0" u="none" dirty="0">
                <a:solidFill>
                  <a:srgbClr val="334155"/>
                </a:solidFill>
                <a:latin typeface="Lato"/>
              </a:rPr>
              <a:t>• Literature Review Highlights</a:t>
            </a:r>
          </a:p>
        </p:txBody>
      </p:sp>
      <p:sp>
        <p:nvSpPr>
          <p:cNvPr id="10" name="TextBox 9"/>
          <p:cNvSpPr txBox="1"/>
          <p:nvPr/>
        </p:nvSpPr>
        <p:spPr>
          <a:xfrm>
            <a:off x="6581775" y="2895600"/>
            <a:ext cx="5440892" cy="369332"/>
          </a:xfrm>
          <a:prstGeom prst="rect">
            <a:avLst/>
          </a:prstGeom>
          <a:noFill/>
        </p:spPr>
        <p:txBody>
          <a:bodyPr wrap="square" lIns="0" tIns="0" rIns="0" bIns="0" anchor="t">
            <a:spAutoFit/>
          </a:bodyPr>
          <a:lstStyle/>
          <a:p>
            <a:pPr algn="l"/>
            <a:r>
              <a:rPr sz="2400" b="0" i="0" u="none" dirty="0">
                <a:solidFill>
                  <a:srgbClr val="0F766E"/>
                </a:solidFill>
                <a:latin typeface="Poppins SemiBold"/>
              </a:rPr>
              <a:t>Part II: Implementation &amp; Edge AI</a:t>
            </a:r>
          </a:p>
        </p:txBody>
      </p:sp>
      <p:sp>
        <p:nvSpPr>
          <p:cNvPr id="11" name="TextBox 10"/>
          <p:cNvSpPr txBox="1"/>
          <p:nvPr/>
        </p:nvSpPr>
        <p:spPr>
          <a:xfrm>
            <a:off x="6581775" y="3305175"/>
            <a:ext cx="4743450" cy="242887"/>
          </a:xfrm>
          <a:prstGeom prst="rect">
            <a:avLst/>
          </a:prstGeom>
          <a:noFill/>
        </p:spPr>
        <p:txBody>
          <a:bodyPr wrap="square" lIns="0" tIns="0" rIns="0" bIns="0" anchor="t">
            <a:spAutoFit/>
          </a:bodyPr>
          <a:lstStyle/>
          <a:p>
            <a:pPr algn="l">
              <a:lnSpc>
                <a:spcPts val="1912"/>
              </a:lnSpc>
            </a:pPr>
            <a:r>
              <a:rPr sz="2000" b="0" i="0" u="none" dirty="0">
                <a:solidFill>
                  <a:srgbClr val="334155"/>
                </a:solidFill>
                <a:latin typeface="Lato"/>
              </a:rPr>
              <a:t>• Dataset &amp; Preprocessing Strategy</a:t>
            </a:r>
          </a:p>
        </p:txBody>
      </p:sp>
      <p:sp>
        <p:nvSpPr>
          <p:cNvPr id="12" name="TextBox 11"/>
          <p:cNvSpPr txBox="1"/>
          <p:nvPr/>
        </p:nvSpPr>
        <p:spPr>
          <a:xfrm>
            <a:off x="6581775" y="3662362"/>
            <a:ext cx="4743450" cy="242887"/>
          </a:xfrm>
          <a:prstGeom prst="rect">
            <a:avLst/>
          </a:prstGeom>
          <a:noFill/>
        </p:spPr>
        <p:txBody>
          <a:bodyPr wrap="square" lIns="0" tIns="0" rIns="0" bIns="0" anchor="t">
            <a:spAutoFit/>
          </a:bodyPr>
          <a:lstStyle/>
          <a:p>
            <a:pPr algn="l">
              <a:lnSpc>
                <a:spcPts val="1912"/>
              </a:lnSpc>
            </a:pPr>
            <a:r>
              <a:rPr sz="2000" b="0" i="0" u="none" dirty="0">
                <a:solidFill>
                  <a:srgbClr val="334155"/>
                </a:solidFill>
                <a:latin typeface="Lato"/>
              </a:rPr>
              <a:t>• Unified CNN Benchmarking Pipeline</a:t>
            </a:r>
          </a:p>
        </p:txBody>
      </p:sp>
      <p:sp>
        <p:nvSpPr>
          <p:cNvPr id="13" name="TextBox 12"/>
          <p:cNvSpPr txBox="1"/>
          <p:nvPr/>
        </p:nvSpPr>
        <p:spPr>
          <a:xfrm>
            <a:off x="6581775" y="4019550"/>
            <a:ext cx="4743450" cy="242887"/>
          </a:xfrm>
          <a:prstGeom prst="rect">
            <a:avLst/>
          </a:prstGeom>
          <a:noFill/>
        </p:spPr>
        <p:txBody>
          <a:bodyPr wrap="square" lIns="0" tIns="0" rIns="0" bIns="0" anchor="t">
            <a:spAutoFit/>
          </a:bodyPr>
          <a:lstStyle/>
          <a:p>
            <a:pPr algn="l">
              <a:lnSpc>
                <a:spcPts val="1912"/>
              </a:lnSpc>
            </a:pPr>
            <a:r>
              <a:rPr sz="2000" b="0" i="0" u="none" dirty="0">
                <a:solidFill>
                  <a:srgbClr val="334155"/>
                </a:solidFill>
                <a:latin typeface="Lato"/>
              </a:rPr>
              <a:t>• Model Evaluation &amp; Trade-off Analysis</a:t>
            </a:r>
          </a:p>
        </p:txBody>
      </p:sp>
      <p:sp>
        <p:nvSpPr>
          <p:cNvPr id="14" name="TextBox 13"/>
          <p:cNvSpPr txBox="1"/>
          <p:nvPr/>
        </p:nvSpPr>
        <p:spPr>
          <a:xfrm>
            <a:off x="6581775" y="4376737"/>
            <a:ext cx="4743450" cy="487313"/>
          </a:xfrm>
          <a:prstGeom prst="rect">
            <a:avLst/>
          </a:prstGeom>
          <a:noFill/>
        </p:spPr>
        <p:txBody>
          <a:bodyPr wrap="square" lIns="0" tIns="0" rIns="0" bIns="0" anchor="t">
            <a:spAutoFit/>
          </a:bodyPr>
          <a:lstStyle/>
          <a:p>
            <a:pPr algn="l">
              <a:lnSpc>
                <a:spcPts val="1912"/>
              </a:lnSpc>
            </a:pPr>
            <a:r>
              <a:rPr sz="2000" b="0" i="0" u="none" dirty="0">
                <a:solidFill>
                  <a:srgbClr val="334155"/>
                </a:solidFill>
                <a:latin typeface="Lato"/>
              </a:rPr>
              <a:t>• </a:t>
            </a:r>
            <a:r>
              <a:rPr sz="2000" b="0" i="0" u="none" dirty="0" err="1">
                <a:solidFill>
                  <a:srgbClr val="334155"/>
                </a:solidFill>
                <a:latin typeface="Lato"/>
              </a:rPr>
              <a:t>AmmChini</a:t>
            </a:r>
            <a:r>
              <a:rPr sz="2000" b="0" i="0" u="none" dirty="0">
                <a:solidFill>
                  <a:srgbClr val="334155"/>
                </a:solidFill>
                <a:latin typeface="Lato"/>
              </a:rPr>
              <a:t> AI Offline Mobile Deployment</a:t>
            </a:r>
          </a:p>
        </p:txBody>
      </p:sp>
      <p:sp>
        <p:nvSpPr>
          <p:cNvPr id="15" name="TextBox 14"/>
          <p:cNvSpPr txBox="1"/>
          <p:nvPr/>
        </p:nvSpPr>
        <p:spPr>
          <a:xfrm>
            <a:off x="571500" y="476250"/>
            <a:ext cx="11601450" cy="615553"/>
          </a:xfrm>
          <a:prstGeom prst="rect">
            <a:avLst/>
          </a:prstGeom>
          <a:noFill/>
        </p:spPr>
        <p:txBody>
          <a:bodyPr wrap="square" lIns="0" tIns="0" rIns="0" bIns="0" anchor="t">
            <a:spAutoFit/>
          </a:bodyPr>
          <a:lstStyle/>
          <a:p>
            <a:pPr algn="l"/>
            <a:r>
              <a:rPr sz="4000" b="0" i="0" u="none" dirty="0">
                <a:solidFill>
                  <a:srgbClr val="064E3B"/>
                </a:solidFill>
                <a:latin typeface="Poppins SemiBold"/>
              </a:rPr>
              <a:t>Presentation Outline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0" y="261937"/>
            <a:ext cx="12192000" cy="6858000"/>
          </a:xfrm>
          <a:prstGeom prst="rect">
            <a:avLst/>
          </a:prstGeom>
        </p:spPr>
      </p:pic>
      <p:sp>
        <p:nvSpPr>
          <p:cNvPr id="3" name="TextBox 2"/>
          <p:cNvSpPr txBox="1"/>
          <p:nvPr/>
        </p:nvSpPr>
        <p:spPr>
          <a:xfrm>
            <a:off x="571500" y="2005012"/>
            <a:ext cx="5334000" cy="974626"/>
          </a:xfrm>
          <a:prstGeom prst="rect">
            <a:avLst/>
          </a:prstGeom>
          <a:noFill/>
        </p:spPr>
        <p:txBody>
          <a:bodyPr wrap="square" lIns="0" tIns="0" rIns="0" bIns="0" anchor="t">
            <a:spAutoFit/>
          </a:bodyPr>
          <a:lstStyle/>
          <a:p>
            <a:pPr algn="just">
              <a:lnSpc>
                <a:spcPts val="1912"/>
              </a:lnSpc>
            </a:pPr>
            <a:r>
              <a:rPr sz="2400" b="1" i="0" u="none" dirty="0">
                <a:solidFill>
                  <a:srgbClr val="334155"/>
                </a:solidFill>
                <a:latin typeface="Times New Roman" panose="02020603050405020304" pitchFamily="18" charset="0"/>
                <a:cs typeface="Times New Roman" panose="02020603050405020304" pitchFamily="18" charset="0"/>
              </a:rPr>
              <a:t>Economic Importance:</a:t>
            </a:r>
            <a:r>
              <a:rPr sz="2400" b="0" i="0" u="none" dirty="0">
                <a:solidFill>
                  <a:srgbClr val="334155"/>
                </a:solidFill>
                <a:latin typeface="Times New Roman" panose="02020603050405020304" pitchFamily="18" charset="0"/>
                <a:cs typeface="Times New Roman" panose="02020603050405020304" pitchFamily="18" charset="0"/>
              </a:rPr>
              <a:t> </a:t>
            </a:r>
            <a:r>
              <a:rPr sz="2000" b="0" i="0" u="none" dirty="0">
                <a:solidFill>
                  <a:srgbClr val="334155"/>
                </a:solidFill>
                <a:latin typeface="Times New Roman" panose="02020603050405020304" pitchFamily="18" charset="0"/>
                <a:cs typeface="Times New Roman" panose="02020603050405020304" pitchFamily="18" charset="0"/>
              </a:rPr>
              <a:t>Mango (</a:t>
            </a:r>
            <a:r>
              <a:rPr sz="2000" b="0" i="1" u="none" dirty="0">
                <a:solidFill>
                  <a:srgbClr val="334155"/>
                </a:solidFill>
                <a:latin typeface="Times New Roman" panose="02020603050405020304" pitchFamily="18" charset="0"/>
                <a:cs typeface="Times New Roman" panose="02020603050405020304" pitchFamily="18" charset="0"/>
              </a:rPr>
              <a:t>Mangifera indica L.</a:t>
            </a:r>
            <a:r>
              <a:rPr sz="2000" b="0" i="0" u="none" dirty="0">
                <a:solidFill>
                  <a:srgbClr val="334155"/>
                </a:solidFill>
                <a:latin typeface="Times New Roman" panose="02020603050405020304" pitchFamily="18" charset="0"/>
                <a:cs typeface="Times New Roman" panose="02020603050405020304" pitchFamily="18" charset="0"/>
              </a:rPr>
              <a:t>) is a key agricultural driver in Bangladesh, especially across northern hubs like </a:t>
            </a:r>
            <a:r>
              <a:rPr sz="2000" b="0" i="0" u="none" dirty="0" err="1">
                <a:solidFill>
                  <a:srgbClr val="334155"/>
                </a:solidFill>
                <a:latin typeface="Times New Roman" panose="02020603050405020304" pitchFamily="18" charset="0"/>
                <a:cs typeface="Times New Roman" panose="02020603050405020304" pitchFamily="18" charset="0"/>
              </a:rPr>
              <a:t>Rajshahi</a:t>
            </a:r>
            <a:r>
              <a:rPr sz="2000" b="0" i="0" u="none" dirty="0">
                <a:solidFill>
                  <a:srgbClr val="334155"/>
                </a:solidFill>
                <a:latin typeface="Times New Roman" panose="02020603050405020304" pitchFamily="18" charset="0"/>
                <a:cs typeface="Times New Roman" panose="02020603050405020304" pitchFamily="18" charset="0"/>
              </a:rPr>
              <a:t> and </a:t>
            </a:r>
            <a:r>
              <a:rPr sz="2000" b="0" i="0" u="none" dirty="0" err="1">
                <a:solidFill>
                  <a:srgbClr val="334155"/>
                </a:solidFill>
                <a:latin typeface="Times New Roman" panose="02020603050405020304" pitchFamily="18" charset="0"/>
                <a:cs typeface="Times New Roman" panose="02020603050405020304" pitchFamily="18" charset="0"/>
              </a:rPr>
              <a:t>Chapainawabganj</a:t>
            </a:r>
            <a:r>
              <a:rPr sz="2000" b="0" i="0" u="none" dirty="0">
                <a:solidFill>
                  <a:srgbClr val="334155"/>
                </a:solidFill>
                <a:latin typeface="Times New Roman" panose="02020603050405020304" pitchFamily="18" charset="0"/>
                <a:cs typeface="Times New Roman" panose="02020603050405020304" pitchFamily="18" charset="0"/>
              </a:rPr>
              <a:t>.</a:t>
            </a:r>
          </a:p>
        </p:txBody>
      </p:sp>
      <p:sp>
        <p:nvSpPr>
          <p:cNvPr id="4" name="TextBox 3"/>
          <p:cNvSpPr txBox="1"/>
          <p:nvPr/>
        </p:nvSpPr>
        <p:spPr>
          <a:xfrm>
            <a:off x="571500" y="3284875"/>
            <a:ext cx="5334000" cy="974626"/>
          </a:xfrm>
          <a:prstGeom prst="rect">
            <a:avLst/>
          </a:prstGeom>
          <a:noFill/>
        </p:spPr>
        <p:txBody>
          <a:bodyPr wrap="square" lIns="0" tIns="0" rIns="0" bIns="0" anchor="t">
            <a:spAutoFit/>
          </a:bodyPr>
          <a:lstStyle/>
          <a:p>
            <a:pPr algn="just">
              <a:lnSpc>
                <a:spcPts val="1912"/>
              </a:lnSpc>
            </a:pPr>
            <a:r>
              <a:rPr sz="2400" b="1" i="0" u="none" dirty="0">
                <a:solidFill>
                  <a:srgbClr val="334155"/>
                </a:solidFill>
                <a:latin typeface="Times New Roman" panose="02020603050405020304" pitchFamily="18" charset="0"/>
                <a:cs typeface="Times New Roman" panose="02020603050405020304" pitchFamily="18" charset="0"/>
              </a:rPr>
              <a:t>Identification Challenge:</a:t>
            </a:r>
            <a:r>
              <a:rPr sz="2400" b="0" i="0" u="none" dirty="0">
                <a:solidFill>
                  <a:srgbClr val="334155"/>
                </a:solidFill>
                <a:latin typeface="Times New Roman" panose="02020603050405020304" pitchFamily="18" charset="0"/>
                <a:cs typeface="Times New Roman" panose="02020603050405020304" pitchFamily="18" charset="0"/>
              </a:rPr>
              <a:t> </a:t>
            </a:r>
            <a:r>
              <a:rPr sz="2000" b="0" i="0" u="none" dirty="0">
                <a:solidFill>
                  <a:srgbClr val="334155"/>
                </a:solidFill>
                <a:latin typeface="Times New Roman" panose="02020603050405020304" pitchFamily="18" charset="0"/>
                <a:cs typeface="Times New Roman" panose="02020603050405020304" pitchFamily="18" charset="0"/>
              </a:rPr>
              <a:t>Traditional visual sorting relies on human expertise, which is subjective, labor-intensive, and error-prone for morphologically similar varieties.</a:t>
            </a:r>
          </a:p>
        </p:txBody>
      </p:sp>
      <p:sp>
        <p:nvSpPr>
          <p:cNvPr id="5" name="TextBox 4"/>
          <p:cNvSpPr txBox="1"/>
          <p:nvPr/>
        </p:nvSpPr>
        <p:spPr>
          <a:xfrm>
            <a:off x="571500" y="4536878"/>
            <a:ext cx="5334000" cy="730969"/>
          </a:xfrm>
          <a:prstGeom prst="rect">
            <a:avLst/>
          </a:prstGeom>
          <a:noFill/>
        </p:spPr>
        <p:txBody>
          <a:bodyPr wrap="square" lIns="0" tIns="0" rIns="0" bIns="0" anchor="t">
            <a:spAutoFit/>
          </a:bodyPr>
          <a:lstStyle/>
          <a:p>
            <a:pPr algn="just">
              <a:lnSpc>
                <a:spcPts val="1912"/>
              </a:lnSpc>
            </a:pPr>
            <a:r>
              <a:rPr lang="en-GB" sz="2400" b="1" i="0" u="none" dirty="0">
                <a:solidFill>
                  <a:srgbClr val="334155"/>
                </a:solidFill>
                <a:latin typeface="Times New Roman" panose="02020603050405020304" pitchFamily="18" charset="0"/>
                <a:cs typeface="Times New Roman" panose="02020603050405020304" pitchFamily="18" charset="0"/>
              </a:rPr>
              <a:t>Paradigm Shift:</a:t>
            </a:r>
            <a:r>
              <a:rPr lang="en-GB" sz="2400" b="0" i="0" u="none" dirty="0">
                <a:solidFill>
                  <a:srgbClr val="334155"/>
                </a:solidFill>
                <a:latin typeface="Times New Roman" panose="02020603050405020304" pitchFamily="18" charset="0"/>
                <a:cs typeface="Times New Roman" panose="02020603050405020304" pitchFamily="18" charset="0"/>
              </a:rPr>
              <a:t> </a:t>
            </a:r>
            <a:r>
              <a:rPr lang="en-GB" sz="2000" b="0" i="0" u="none" dirty="0">
                <a:solidFill>
                  <a:srgbClr val="334155"/>
                </a:solidFill>
                <a:latin typeface="Times New Roman" panose="02020603050405020304" pitchFamily="18" charset="0"/>
                <a:cs typeface="Times New Roman" panose="02020603050405020304" pitchFamily="18" charset="0"/>
              </a:rPr>
              <a:t>Edge AI enables real-time, local machine intelligence directly on mobile hardware without requiring cloud connectivity.</a:t>
            </a:r>
          </a:p>
        </p:txBody>
      </p:sp>
      <p:pic>
        <p:nvPicPr>
          <p:cNvPr id="6" name="Picture 5" descr="image.png"/>
          <p:cNvPicPr>
            <a:picLocks noChangeAspect="1"/>
          </p:cNvPicPr>
          <p:nvPr/>
        </p:nvPicPr>
        <p:blipFill>
          <a:blip r:embed="rId4"/>
          <a:stretch>
            <a:fillRect/>
          </a:stretch>
        </p:blipFill>
        <p:spPr>
          <a:xfrm>
            <a:off x="6041810" y="1414964"/>
            <a:ext cx="6013880" cy="4080847"/>
          </a:xfrm>
          <a:prstGeom prst="roundRect">
            <a:avLst>
              <a:gd name="adj" fmla="val 4167"/>
            </a:avLst>
          </a:prstGeom>
          <a:solidFill>
            <a:srgbClr val="FFFFFF"/>
          </a:solidFill>
          <a:ln w="76200" cap="sq">
            <a:solidFill>
              <a:srgbClr val="EAEAEA"/>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sp>
        <p:nvSpPr>
          <p:cNvPr id="7" name="TextBox 6"/>
          <p:cNvSpPr txBox="1"/>
          <p:nvPr/>
        </p:nvSpPr>
        <p:spPr>
          <a:xfrm>
            <a:off x="571500" y="476250"/>
            <a:ext cx="11601450" cy="615553"/>
          </a:xfrm>
          <a:prstGeom prst="rect">
            <a:avLst/>
          </a:prstGeom>
          <a:noFill/>
        </p:spPr>
        <p:txBody>
          <a:bodyPr wrap="square" lIns="0" tIns="0" rIns="0" bIns="0" anchor="t">
            <a:spAutoFit/>
          </a:bodyPr>
          <a:lstStyle/>
          <a:p>
            <a:pPr algn="l"/>
            <a:r>
              <a:rPr sz="4000" b="1" i="0" dirty="0">
                <a:solidFill>
                  <a:srgbClr val="064E3B"/>
                </a:solidFill>
                <a:latin typeface="Poppins SemiBold"/>
              </a:rPr>
              <a:t>Research Background</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19050" y="18519"/>
            <a:ext cx="12192000" cy="6858000"/>
          </a:xfrm>
          <a:prstGeom prst="rect">
            <a:avLst/>
          </a:prstGeom>
        </p:spPr>
      </p:pic>
      <p:pic>
        <p:nvPicPr>
          <p:cNvPr id="3" name="Picture 2" descr="image.png"/>
          <p:cNvPicPr>
            <a:picLocks noChangeAspect="1"/>
          </p:cNvPicPr>
          <p:nvPr/>
        </p:nvPicPr>
        <p:blipFill>
          <a:blip r:embed="rId4"/>
          <a:stretch>
            <a:fillRect/>
          </a:stretch>
        </p:blipFill>
        <p:spPr>
          <a:xfrm>
            <a:off x="361950" y="1114778"/>
            <a:ext cx="5334000" cy="2204155"/>
          </a:xfrm>
          <a:prstGeom prst="rect">
            <a:avLst/>
          </a:prstGeom>
        </p:spPr>
      </p:pic>
      <p:pic>
        <p:nvPicPr>
          <p:cNvPr id="4" name="Picture 3" descr="image.png"/>
          <p:cNvPicPr>
            <a:picLocks noChangeAspect="1"/>
          </p:cNvPicPr>
          <p:nvPr/>
        </p:nvPicPr>
        <p:blipFill>
          <a:blip r:embed="rId4"/>
          <a:stretch>
            <a:fillRect/>
          </a:stretch>
        </p:blipFill>
        <p:spPr>
          <a:xfrm>
            <a:off x="361950" y="3819351"/>
            <a:ext cx="5334000" cy="2204155"/>
          </a:xfrm>
          <a:prstGeom prst="rect">
            <a:avLst/>
          </a:prstGeom>
        </p:spPr>
      </p:pic>
      <p:sp>
        <p:nvSpPr>
          <p:cNvPr id="5" name="TextBox 4"/>
          <p:cNvSpPr txBox="1"/>
          <p:nvPr/>
        </p:nvSpPr>
        <p:spPr>
          <a:xfrm>
            <a:off x="629603" y="1326796"/>
            <a:ext cx="4980622" cy="369332"/>
          </a:xfrm>
          <a:prstGeom prst="rect">
            <a:avLst/>
          </a:prstGeom>
          <a:noFill/>
        </p:spPr>
        <p:txBody>
          <a:bodyPr wrap="square" lIns="0" tIns="0" rIns="0" bIns="0" anchor="t">
            <a:spAutoFit/>
          </a:bodyPr>
          <a:lstStyle/>
          <a:p>
            <a:pPr algn="l"/>
            <a:r>
              <a:rPr lang="en-GB" sz="2400" b="0" i="0" u="none" dirty="0">
                <a:solidFill>
                  <a:srgbClr val="0F766E"/>
                </a:solidFill>
                <a:latin typeface="Poppins SemiBold"/>
              </a:rPr>
              <a:t>1. Heavy Model Mismatch</a:t>
            </a:r>
          </a:p>
        </p:txBody>
      </p:sp>
      <p:sp>
        <p:nvSpPr>
          <p:cNvPr id="6" name="TextBox 5"/>
          <p:cNvSpPr txBox="1"/>
          <p:nvPr/>
        </p:nvSpPr>
        <p:spPr>
          <a:xfrm>
            <a:off x="571500" y="1751013"/>
            <a:ext cx="4743450" cy="1218282"/>
          </a:xfrm>
          <a:prstGeom prst="rect">
            <a:avLst/>
          </a:prstGeom>
          <a:noFill/>
        </p:spPr>
        <p:txBody>
          <a:bodyPr wrap="square" lIns="0" tIns="0" rIns="0" bIns="0" anchor="t">
            <a:spAutoFit/>
          </a:bodyPr>
          <a:lstStyle/>
          <a:p>
            <a:pPr algn="l">
              <a:lnSpc>
                <a:spcPts val="1912"/>
              </a:lnSpc>
            </a:pPr>
            <a:r>
              <a:rPr lang="en-GB" sz="2000" b="0" i="0" u="none" dirty="0">
                <a:solidFill>
                  <a:srgbClr val="334155"/>
                </a:solidFill>
                <a:latin typeface="Times New Roman" panose="02020603050405020304" pitchFamily="18" charset="0"/>
                <a:cs typeface="Times New Roman" panose="02020603050405020304" pitchFamily="18" charset="0"/>
              </a:rPr>
              <a:t>State-of-the-art CNNs (</a:t>
            </a:r>
            <a:r>
              <a:rPr lang="en-GB" sz="2000" b="0" i="0" u="none" dirty="0" err="1">
                <a:solidFill>
                  <a:srgbClr val="334155"/>
                </a:solidFill>
                <a:latin typeface="Times New Roman" panose="02020603050405020304" pitchFamily="18" charset="0"/>
                <a:cs typeface="Times New Roman" panose="02020603050405020304" pitchFamily="18" charset="0"/>
              </a:rPr>
              <a:t>ResNet</a:t>
            </a:r>
            <a:r>
              <a:rPr lang="en-GB" sz="2000" b="0" i="0" u="none" dirty="0">
                <a:solidFill>
                  <a:srgbClr val="334155"/>
                </a:solidFill>
                <a:latin typeface="Times New Roman" panose="02020603050405020304" pitchFamily="18" charset="0"/>
                <a:cs typeface="Times New Roman" panose="02020603050405020304" pitchFamily="18" charset="0"/>
              </a:rPr>
              <a:t>, </a:t>
            </a:r>
            <a:r>
              <a:rPr lang="en-GB" sz="2000" b="0" i="0" u="none" dirty="0" err="1">
                <a:solidFill>
                  <a:srgbClr val="334155"/>
                </a:solidFill>
                <a:latin typeface="Times New Roman" panose="02020603050405020304" pitchFamily="18" charset="0"/>
                <a:cs typeface="Times New Roman" panose="02020603050405020304" pitchFamily="18" charset="0"/>
              </a:rPr>
              <a:t>DenseNet</a:t>
            </a:r>
            <a:r>
              <a:rPr lang="en-GB" sz="2000" b="0" i="0" u="none" dirty="0">
                <a:solidFill>
                  <a:srgbClr val="334155"/>
                </a:solidFill>
                <a:latin typeface="Times New Roman" panose="02020603050405020304" pitchFamily="18" charset="0"/>
                <a:cs typeface="Times New Roman" panose="02020603050405020304" pitchFamily="18" charset="0"/>
              </a:rPr>
              <a:t>, </a:t>
            </a:r>
            <a:r>
              <a:rPr lang="en-GB" sz="2000" b="0" i="0" u="none" dirty="0" err="1">
                <a:solidFill>
                  <a:srgbClr val="334155"/>
                </a:solidFill>
                <a:latin typeface="Times New Roman" panose="02020603050405020304" pitchFamily="18" charset="0"/>
                <a:cs typeface="Times New Roman" panose="02020603050405020304" pitchFamily="18" charset="0"/>
              </a:rPr>
              <a:t>ViTs</a:t>
            </a:r>
            <a:r>
              <a:rPr lang="en-GB" sz="2000" b="0" i="0" u="none" dirty="0">
                <a:solidFill>
                  <a:srgbClr val="334155"/>
                </a:solidFill>
                <a:latin typeface="Times New Roman" panose="02020603050405020304" pitchFamily="18" charset="0"/>
                <a:cs typeface="Times New Roman" panose="02020603050405020304" pitchFamily="18" charset="0"/>
              </a:rPr>
              <a:t>) require heavy GPU compute and memory, making direct deployment on commodity smartphones in rural areas unfeasible.</a:t>
            </a:r>
          </a:p>
        </p:txBody>
      </p:sp>
      <p:sp>
        <p:nvSpPr>
          <p:cNvPr id="7" name="TextBox 6"/>
          <p:cNvSpPr txBox="1"/>
          <p:nvPr/>
        </p:nvSpPr>
        <p:spPr>
          <a:xfrm>
            <a:off x="629603" y="4102276"/>
            <a:ext cx="4980622" cy="369332"/>
          </a:xfrm>
          <a:prstGeom prst="rect">
            <a:avLst/>
          </a:prstGeom>
          <a:noFill/>
        </p:spPr>
        <p:txBody>
          <a:bodyPr wrap="square" lIns="0" tIns="0" rIns="0" bIns="0" anchor="t">
            <a:spAutoFit/>
          </a:bodyPr>
          <a:lstStyle/>
          <a:p>
            <a:pPr algn="l"/>
            <a:r>
              <a:rPr lang="en-GB" sz="2400" b="0" i="0" u="none" dirty="0">
                <a:solidFill>
                  <a:srgbClr val="0F766E"/>
                </a:solidFill>
                <a:latin typeface="Poppins SemiBold"/>
              </a:rPr>
              <a:t>2. High Cloud Reliance</a:t>
            </a:r>
          </a:p>
        </p:txBody>
      </p:sp>
      <p:sp>
        <p:nvSpPr>
          <p:cNvPr id="8" name="TextBox 7"/>
          <p:cNvSpPr txBox="1"/>
          <p:nvPr/>
        </p:nvSpPr>
        <p:spPr>
          <a:xfrm>
            <a:off x="571500" y="4540784"/>
            <a:ext cx="4743450" cy="974626"/>
          </a:xfrm>
          <a:prstGeom prst="rect">
            <a:avLst/>
          </a:prstGeom>
          <a:noFill/>
        </p:spPr>
        <p:txBody>
          <a:bodyPr wrap="square" lIns="0" tIns="0" rIns="0" bIns="0" anchor="t">
            <a:spAutoFit/>
          </a:bodyPr>
          <a:lstStyle/>
          <a:p>
            <a:pPr algn="l">
              <a:lnSpc>
                <a:spcPts val="1912"/>
              </a:lnSpc>
            </a:pPr>
            <a:r>
              <a:rPr lang="en-GB" sz="2000" b="0" i="0" u="none" dirty="0">
                <a:solidFill>
                  <a:srgbClr val="334155"/>
                </a:solidFill>
                <a:latin typeface="Times New Roman" panose="02020603050405020304" pitchFamily="18" charset="0"/>
                <a:cs typeface="Times New Roman" panose="02020603050405020304" pitchFamily="18" charset="0"/>
              </a:rPr>
              <a:t>Cloud-based classification suffers from latency, communication cost, and network instability in remote farming orchards where internet coverage is unreliable.</a:t>
            </a:r>
          </a:p>
        </p:txBody>
      </p:sp>
      <p:sp>
        <p:nvSpPr>
          <p:cNvPr id="9" name="TextBox 8"/>
          <p:cNvSpPr txBox="1"/>
          <p:nvPr/>
        </p:nvSpPr>
        <p:spPr>
          <a:xfrm>
            <a:off x="571500" y="476250"/>
            <a:ext cx="11601450" cy="615553"/>
          </a:xfrm>
          <a:prstGeom prst="rect">
            <a:avLst/>
          </a:prstGeom>
          <a:noFill/>
        </p:spPr>
        <p:txBody>
          <a:bodyPr wrap="square" lIns="0" tIns="0" rIns="0" bIns="0" anchor="t">
            <a:spAutoFit/>
          </a:bodyPr>
          <a:lstStyle/>
          <a:p>
            <a:pPr algn="l"/>
            <a:r>
              <a:rPr sz="4000" b="0" i="0" u="none" dirty="0">
                <a:solidFill>
                  <a:srgbClr val="064E3B"/>
                </a:solidFill>
                <a:latin typeface="Poppins SemiBold"/>
              </a:rPr>
              <a:t>Problem Statement</a:t>
            </a:r>
          </a:p>
        </p:txBody>
      </p:sp>
      <p:pic>
        <p:nvPicPr>
          <p:cNvPr id="14" name="Picture 13">
            <a:extLst>
              <a:ext uri="{FF2B5EF4-FFF2-40B4-BE49-F238E27FC236}">
                <a16:creationId xmlns:a16="http://schemas.microsoft.com/office/drawing/2014/main" id="{822187DB-A7DA-B31F-35A8-4978CB1F20AA}"/>
              </a:ext>
            </a:extLst>
          </p:cNvPr>
          <p:cNvPicPr>
            <a:picLocks noChangeAspect="1"/>
          </p:cNvPicPr>
          <p:nvPr/>
        </p:nvPicPr>
        <p:blipFill>
          <a:blip r:embed="rId5"/>
          <a:stretch>
            <a:fillRect/>
          </a:stretch>
        </p:blipFill>
        <p:spPr>
          <a:xfrm>
            <a:off x="6372225" y="638528"/>
            <a:ext cx="4819604" cy="5743222"/>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4"/>
          <a:stretch>
            <a:fillRect/>
          </a:stretch>
        </p:blipFill>
        <p:spPr>
          <a:xfrm>
            <a:off x="571500" y="2664618"/>
            <a:ext cx="3530649" cy="2300287"/>
          </a:xfrm>
          <a:prstGeom prst="rect">
            <a:avLst/>
          </a:prstGeom>
        </p:spPr>
      </p:pic>
      <p:pic>
        <p:nvPicPr>
          <p:cNvPr id="4" name="Picture 3" descr="image.png"/>
          <p:cNvPicPr>
            <a:picLocks noChangeAspect="1"/>
          </p:cNvPicPr>
          <p:nvPr/>
        </p:nvPicPr>
        <p:blipFill>
          <a:blip r:embed="rId5"/>
          <a:stretch>
            <a:fillRect/>
          </a:stretch>
        </p:blipFill>
        <p:spPr>
          <a:xfrm>
            <a:off x="4330749" y="2664618"/>
            <a:ext cx="3530649" cy="2300287"/>
          </a:xfrm>
          <a:prstGeom prst="rect">
            <a:avLst/>
          </a:prstGeom>
        </p:spPr>
      </p:pic>
      <p:pic>
        <p:nvPicPr>
          <p:cNvPr id="5" name="Picture 4" descr="image.png"/>
          <p:cNvPicPr>
            <a:picLocks noChangeAspect="1"/>
          </p:cNvPicPr>
          <p:nvPr/>
        </p:nvPicPr>
        <p:blipFill>
          <a:blip r:embed="rId6"/>
          <a:stretch>
            <a:fillRect/>
          </a:stretch>
        </p:blipFill>
        <p:spPr>
          <a:xfrm>
            <a:off x="8089999" y="2664618"/>
            <a:ext cx="3530649" cy="2300287"/>
          </a:xfrm>
          <a:prstGeom prst="rect">
            <a:avLst/>
          </a:prstGeom>
        </p:spPr>
      </p:pic>
      <p:sp>
        <p:nvSpPr>
          <p:cNvPr id="6" name="TextBox 5"/>
          <p:cNvSpPr txBox="1"/>
          <p:nvPr/>
        </p:nvSpPr>
        <p:spPr>
          <a:xfrm>
            <a:off x="809625" y="3474243"/>
            <a:ext cx="3207119" cy="369332"/>
          </a:xfrm>
          <a:prstGeom prst="rect">
            <a:avLst/>
          </a:prstGeom>
          <a:noFill/>
        </p:spPr>
        <p:txBody>
          <a:bodyPr wrap="square" lIns="0" tIns="0" rIns="0" bIns="0" anchor="t">
            <a:spAutoFit/>
          </a:bodyPr>
          <a:lstStyle/>
          <a:p>
            <a:pPr algn="l"/>
            <a:r>
              <a:rPr sz="2400" b="0" i="0" u="none" dirty="0">
                <a:solidFill>
                  <a:srgbClr val="0F766E"/>
                </a:solidFill>
                <a:latin typeface="Poppins SemiBold"/>
              </a:rPr>
              <a:t>1. Benchmark CNNs</a:t>
            </a:r>
          </a:p>
        </p:txBody>
      </p:sp>
      <p:sp>
        <p:nvSpPr>
          <p:cNvPr id="7" name="TextBox 6"/>
          <p:cNvSpPr txBox="1"/>
          <p:nvPr/>
        </p:nvSpPr>
        <p:spPr>
          <a:xfrm>
            <a:off x="809625" y="3883818"/>
            <a:ext cx="3054399" cy="974626"/>
          </a:xfrm>
          <a:prstGeom prst="rect">
            <a:avLst/>
          </a:prstGeom>
          <a:noFill/>
        </p:spPr>
        <p:txBody>
          <a:bodyPr wrap="square" lIns="0" tIns="0" rIns="0" bIns="0" anchor="t">
            <a:spAutoFit/>
          </a:bodyPr>
          <a:lstStyle/>
          <a:p>
            <a:pPr algn="l">
              <a:lnSpc>
                <a:spcPts val="1912"/>
              </a:lnSpc>
            </a:pPr>
            <a:r>
              <a:rPr sz="2000" b="0" i="0" u="none" dirty="0">
                <a:solidFill>
                  <a:srgbClr val="334155"/>
                </a:solidFill>
                <a:latin typeface="Lato"/>
              </a:rPr>
              <a:t>Evaluate 5 lightweight architectures under identical protocols for accuracy, size, and latency.</a:t>
            </a:r>
          </a:p>
        </p:txBody>
      </p:sp>
      <p:sp>
        <p:nvSpPr>
          <p:cNvPr id="8" name="TextBox 7"/>
          <p:cNvSpPr txBox="1"/>
          <p:nvPr/>
        </p:nvSpPr>
        <p:spPr>
          <a:xfrm>
            <a:off x="4568874" y="3474243"/>
            <a:ext cx="3207119" cy="338554"/>
          </a:xfrm>
          <a:prstGeom prst="rect">
            <a:avLst/>
          </a:prstGeom>
          <a:noFill/>
        </p:spPr>
        <p:txBody>
          <a:bodyPr wrap="square" lIns="0" tIns="0" rIns="0" bIns="0" anchor="t">
            <a:spAutoFit/>
          </a:bodyPr>
          <a:lstStyle/>
          <a:p>
            <a:pPr algn="l"/>
            <a:r>
              <a:rPr sz="2200" b="0" i="0" u="none" dirty="0">
                <a:solidFill>
                  <a:srgbClr val="0F766E"/>
                </a:solidFill>
                <a:latin typeface="Poppins SemiBold"/>
              </a:rPr>
              <a:t>2. </a:t>
            </a:r>
            <a:r>
              <a:rPr sz="2200" b="0" i="0" u="none" dirty="0" err="1">
                <a:solidFill>
                  <a:srgbClr val="0F766E"/>
                </a:solidFill>
                <a:latin typeface="Poppins SemiBold"/>
              </a:rPr>
              <a:t>TFLite</a:t>
            </a:r>
            <a:r>
              <a:rPr sz="2200" b="0" i="0" u="none" dirty="0">
                <a:solidFill>
                  <a:srgbClr val="0F766E"/>
                </a:solidFill>
                <a:latin typeface="Poppins SemiBold"/>
              </a:rPr>
              <a:t> Optimization</a:t>
            </a:r>
          </a:p>
        </p:txBody>
      </p:sp>
      <p:sp>
        <p:nvSpPr>
          <p:cNvPr id="9" name="TextBox 8"/>
          <p:cNvSpPr txBox="1"/>
          <p:nvPr/>
        </p:nvSpPr>
        <p:spPr>
          <a:xfrm>
            <a:off x="4568874" y="3883818"/>
            <a:ext cx="3054399" cy="974626"/>
          </a:xfrm>
          <a:prstGeom prst="rect">
            <a:avLst/>
          </a:prstGeom>
          <a:noFill/>
        </p:spPr>
        <p:txBody>
          <a:bodyPr wrap="square" lIns="0" tIns="0" rIns="0" bIns="0" anchor="t">
            <a:spAutoFit/>
          </a:bodyPr>
          <a:lstStyle/>
          <a:p>
            <a:pPr algn="l">
              <a:lnSpc>
                <a:spcPts val="1912"/>
              </a:lnSpc>
            </a:pPr>
            <a:r>
              <a:rPr b="0" i="0" u="none" dirty="0">
                <a:solidFill>
                  <a:srgbClr val="334155"/>
                </a:solidFill>
                <a:latin typeface="Lato"/>
              </a:rPr>
              <a:t>Optimize chosen candidate via Float16 post-training quantization to reduce storage and footprint.</a:t>
            </a:r>
          </a:p>
        </p:txBody>
      </p:sp>
      <p:sp>
        <p:nvSpPr>
          <p:cNvPr id="10" name="TextBox 9"/>
          <p:cNvSpPr txBox="1"/>
          <p:nvPr/>
        </p:nvSpPr>
        <p:spPr>
          <a:xfrm>
            <a:off x="8328124" y="3474243"/>
            <a:ext cx="3207119" cy="369332"/>
          </a:xfrm>
          <a:prstGeom prst="rect">
            <a:avLst/>
          </a:prstGeom>
          <a:noFill/>
        </p:spPr>
        <p:txBody>
          <a:bodyPr wrap="square" lIns="0" tIns="0" rIns="0" bIns="0" anchor="t">
            <a:spAutoFit/>
          </a:bodyPr>
          <a:lstStyle/>
          <a:p>
            <a:pPr algn="l"/>
            <a:r>
              <a:rPr sz="2400" b="0" i="0" u="none" dirty="0">
                <a:solidFill>
                  <a:srgbClr val="0F766E"/>
                </a:solidFill>
                <a:latin typeface="Poppins SemiBold"/>
              </a:rPr>
              <a:t>3. </a:t>
            </a:r>
            <a:r>
              <a:rPr sz="2400" b="0" i="0" u="none" dirty="0" err="1">
                <a:solidFill>
                  <a:srgbClr val="0F766E"/>
                </a:solidFill>
                <a:latin typeface="Poppins SemiBold"/>
              </a:rPr>
              <a:t>AmmChini</a:t>
            </a:r>
            <a:r>
              <a:rPr sz="2400" b="0" i="0" u="none" dirty="0">
                <a:solidFill>
                  <a:srgbClr val="0F766E"/>
                </a:solidFill>
                <a:latin typeface="Poppins SemiBold"/>
              </a:rPr>
              <a:t> AI App</a:t>
            </a:r>
          </a:p>
        </p:txBody>
      </p:sp>
      <p:sp>
        <p:nvSpPr>
          <p:cNvPr id="11" name="TextBox 10"/>
          <p:cNvSpPr txBox="1"/>
          <p:nvPr/>
        </p:nvSpPr>
        <p:spPr>
          <a:xfrm>
            <a:off x="8328124" y="3883818"/>
            <a:ext cx="3054399" cy="974626"/>
          </a:xfrm>
          <a:prstGeom prst="rect">
            <a:avLst/>
          </a:prstGeom>
          <a:noFill/>
        </p:spPr>
        <p:txBody>
          <a:bodyPr wrap="square" lIns="0" tIns="0" rIns="0" bIns="0" anchor="t">
            <a:spAutoFit/>
          </a:bodyPr>
          <a:lstStyle/>
          <a:p>
            <a:pPr algn="l">
              <a:lnSpc>
                <a:spcPts val="1912"/>
              </a:lnSpc>
            </a:pPr>
            <a:r>
              <a:rPr sz="2000" b="0" i="0" u="none" dirty="0">
                <a:solidFill>
                  <a:srgbClr val="334155"/>
                </a:solidFill>
                <a:latin typeface="Lato"/>
              </a:rPr>
              <a:t>Develop a Flutter Android app for 100% offline, real-time mango variety classification.</a:t>
            </a:r>
          </a:p>
        </p:txBody>
      </p:sp>
      <p:pic>
        <p:nvPicPr>
          <p:cNvPr id="12" name="Picture 11" descr="image.png"/>
          <p:cNvPicPr>
            <a:picLocks noChangeAspect="1"/>
          </p:cNvPicPr>
          <p:nvPr/>
        </p:nvPicPr>
        <p:blipFill>
          <a:blip r:embed="rId7"/>
          <a:stretch>
            <a:fillRect/>
          </a:stretch>
        </p:blipFill>
        <p:spPr>
          <a:xfrm>
            <a:off x="809625" y="2950368"/>
            <a:ext cx="390525" cy="342900"/>
          </a:xfrm>
          <a:prstGeom prst="rect">
            <a:avLst/>
          </a:prstGeom>
        </p:spPr>
      </p:pic>
      <p:pic>
        <p:nvPicPr>
          <p:cNvPr id="13" name="Picture 12" descr="image.png"/>
          <p:cNvPicPr>
            <a:picLocks noChangeAspect="1"/>
          </p:cNvPicPr>
          <p:nvPr/>
        </p:nvPicPr>
        <p:blipFill>
          <a:blip r:embed="rId8"/>
          <a:stretch>
            <a:fillRect/>
          </a:stretch>
        </p:blipFill>
        <p:spPr>
          <a:xfrm>
            <a:off x="4568874" y="2950368"/>
            <a:ext cx="342900" cy="342900"/>
          </a:xfrm>
          <a:prstGeom prst="rect">
            <a:avLst/>
          </a:prstGeom>
        </p:spPr>
      </p:pic>
      <p:pic>
        <p:nvPicPr>
          <p:cNvPr id="14" name="Picture 13" descr="image.png"/>
          <p:cNvPicPr>
            <a:picLocks noChangeAspect="1"/>
          </p:cNvPicPr>
          <p:nvPr/>
        </p:nvPicPr>
        <p:blipFill>
          <a:blip r:embed="rId9"/>
          <a:stretch>
            <a:fillRect/>
          </a:stretch>
        </p:blipFill>
        <p:spPr>
          <a:xfrm>
            <a:off x="8328124" y="2950368"/>
            <a:ext cx="257175" cy="342900"/>
          </a:xfrm>
          <a:prstGeom prst="rect">
            <a:avLst/>
          </a:prstGeom>
        </p:spPr>
      </p:pic>
      <p:sp>
        <p:nvSpPr>
          <p:cNvPr id="15" name="TextBox 14"/>
          <p:cNvSpPr txBox="1"/>
          <p:nvPr/>
        </p:nvSpPr>
        <p:spPr>
          <a:xfrm>
            <a:off x="571500" y="476250"/>
            <a:ext cx="11601450" cy="430887"/>
          </a:xfrm>
          <a:prstGeom prst="rect">
            <a:avLst/>
          </a:prstGeom>
          <a:noFill/>
        </p:spPr>
        <p:txBody>
          <a:bodyPr wrap="square" lIns="0" tIns="0" rIns="0" bIns="0" anchor="t">
            <a:spAutoFit/>
          </a:bodyPr>
          <a:lstStyle/>
          <a:p>
            <a:pPr algn="l"/>
            <a:r>
              <a:rPr sz="2800" b="0" i="0" u="none" dirty="0">
                <a:solidFill>
                  <a:srgbClr val="064E3B"/>
                </a:solidFill>
                <a:latin typeface="Poppins SemiBold"/>
              </a:rPr>
              <a:t>Key Research Objectives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0" y="360218"/>
            <a:ext cx="12192000" cy="6858000"/>
          </a:xfrm>
          <a:prstGeom prst="rect">
            <a:avLst/>
          </a:prstGeom>
        </p:spPr>
      </p:pic>
      <p:graphicFrame>
        <p:nvGraphicFramePr>
          <p:cNvPr id="3" name="Table 2"/>
          <p:cNvGraphicFramePr>
            <a:graphicFrameLocks noGrp="1"/>
          </p:cNvGraphicFramePr>
          <p:nvPr>
            <p:extLst>
              <p:ext uri="{D42A27DB-BD31-4B8C-83A1-F6EECF244321}">
                <p14:modId xmlns:p14="http://schemas.microsoft.com/office/powerpoint/2010/main" val="1639618298"/>
              </p:ext>
            </p:extLst>
          </p:nvPr>
        </p:nvGraphicFramePr>
        <p:xfrm>
          <a:off x="571500" y="1396300"/>
          <a:ext cx="11048998" cy="4541660"/>
        </p:xfrm>
        <a:graphic>
          <a:graphicData uri="http://schemas.openxmlformats.org/drawingml/2006/table">
            <a:tbl>
              <a:tblPr firstRow="1" bandRow="1">
                <a:tableStyleId>{5C22544A-7EE6-4342-B048-85BDC9FD1C3A}</a:tableStyleId>
              </a:tblPr>
              <a:tblGrid>
                <a:gridCol w="2379166">
                  <a:extLst>
                    <a:ext uri="{9D8B030D-6E8A-4147-A177-3AD203B41FA5}">
                      <a16:colId xmlns:a16="http://schemas.microsoft.com/office/drawing/2014/main" val="20000"/>
                    </a:ext>
                  </a:extLst>
                </a:gridCol>
                <a:gridCol w="3226593">
                  <a:extLst>
                    <a:ext uri="{9D8B030D-6E8A-4147-A177-3AD203B41FA5}">
                      <a16:colId xmlns:a16="http://schemas.microsoft.com/office/drawing/2014/main" val="20001"/>
                    </a:ext>
                  </a:extLst>
                </a:gridCol>
                <a:gridCol w="2455217">
                  <a:extLst>
                    <a:ext uri="{9D8B030D-6E8A-4147-A177-3AD203B41FA5}">
                      <a16:colId xmlns:a16="http://schemas.microsoft.com/office/drawing/2014/main" val="20002"/>
                    </a:ext>
                  </a:extLst>
                </a:gridCol>
                <a:gridCol w="2988022">
                  <a:extLst>
                    <a:ext uri="{9D8B030D-6E8A-4147-A177-3AD203B41FA5}">
                      <a16:colId xmlns:a16="http://schemas.microsoft.com/office/drawing/2014/main" val="20003"/>
                    </a:ext>
                  </a:extLst>
                </a:gridCol>
              </a:tblGrid>
              <a:tr h="908332">
                <a:tc>
                  <a:txBody>
                    <a:bodyPr/>
                    <a:lstStyle/>
                    <a:p>
                      <a:pPr algn="l"/>
                      <a:r>
                        <a:rPr sz="2400" b="0" i="0" u="none" dirty="0">
                          <a:solidFill>
                            <a:srgbClr val="064E3B"/>
                          </a:solidFill>
                          <a:latin typeface="Poppins SemiBold"/>
                        </a:rPr>
                        <a:t>Study</a:t>
                      </a:r>
                    </a:p>
                  </a:txBody>
                  <a:tcPr marL="63500" marR="63500" marT="25400" marB="25400" anchor="ctr">
                    <a:lnL>
                      <a:noFill/>
                    </a:lnL>
                    <a:lnR>
                      <a:noFill/>
                    </a:lnR>
                    <a:lnT>
                      <a:noFill/>
                    </a:lnT>
                    <a:lnB>
                      <a:noFill/>
                    </a:lnB>
                    <a:blipFill>
                      <a:blip r:embed="rId4">
                        <a:alphaModFix amt="67000"/>
                      </a:blip>
                      <a:tile tx="0" ty="0" sx="100000" sy="100000" flip="none" algn="tl"/>
                    </a:blipFill>
                  </a:tcPr>
                </a:tc>
                <a:tc>
                  <a:txBody>
                    <a:bodyPr/>
                    <a:lstStyle/>
                    <a:p>
                      <a:pPr algn="l"/>
                      <a:r>
                        <a:rPr sz="2400" b="0" i="0" u="none" dirty="0">
                          <a:solidFill>
                            <a:srgbClr val="064E3B"/>
                          </a:solidFill>
                          <a:latin typeface="Poppins SemiBold"/>
                        </a:rPr>
                        <a:t>Focus / Architecture</a:t>
                      </a:r>
                    </a:p>
                  </a:txBody>
                  <a:tcPr marL="63500" marR="63500" marT="25400" marB="25400" anchor="ctr">
                    <a:lnL>
                      <a:noFill/>
                    </a:lnL>
                    <a:lnR>
                      <a:noFill/>
                    </a:lnR>
                    <a:lnT>
                      <a:noFill/>
                    </a:lnT>
                    <a:lnB>
                      <a:noFill/>
                    </a:lnB>
                    <a:blipFill>
                      <a:blip r:embed="rId4">
                        <a:alphaModFix amt="67000"/>
                      </a:blip>
                      <a:tile tx="0" ty="0" sx="100000" sy="100000" flip="none" algn="tl"/>
                    </a:blipFill>
                  </a:tcPr>
                </a:tc>
                <a:tc>
                  <a:txBody>
                    <a:bodyPr/>
                    <a:lstStyle/>
                    <a:p>
                      <a:pPr algn="l"/>
                      <a:r>
                        <a:rPr sz="2400" b="0" i="0" u="none">
                          <a:solidFill>
                            <a:srgbClr val="064E3B"/>
                          </a:solidFill>
                          <a:latin typeface="Poppins SemiBold"/>
                        </a:rPr>
                        <a:t>Dataset</a:t>
                      </a:r>
                    </a:p>
                  </a:txBody>
                  <a:tcPr marL="63500" marR="63500" marT="25400" marB="25400" anchor="ctr">
                    <a:lnL>
                      <a:noFill/>
                    </a:lnL>
                    <a:lnR>
                      <a:noFill/>
                    </a:lnR>
                    <a:lnT>
                      <a:noFill/>
                    </a:lnT>
                    <a:lnB>
                      <a:noFill/>
                    </a:lnB>
                    <a:blipFill>
                      <a:blip r:embed="rId4">
                        <a:alphaModFix amt="67000"/>
                      </a:blip>
                      <a:tile tx="0" ty="0" sx="100000" sy="100000" flip="none" algn="tl"/>
                    </a:blipFill>
                  </a:tcPr>
                </a:tc>
                <a:tc>
                  <a:txBody>
                    <a:bodyPr/>
                    <a:lstStyle/>
                    <a:p>
                      <a:pPr algn="l"/>
                      <a:r>
                        <a:rPr sz="2400" b="0" i="0" u="none">
                          <a:solidFill>
                            <a:srgbClr val="064E3B"/>
                          </a:solidFill>
                          <a:latin typeface="Poppins SemiBold"/>
                        </a:rPr>
                        <a:t>Key Limitation</a:t>
                      </a:r>
                    </a:p>
                  </a:txBody>
                  <a:tcPr marL="63500" marR="63500" marT="25400" marB="25400" anchor="ctr">
                    <a:lnL>
                      <a:noFill/>
                    </a:lnL>
                    <a:lnR>
                      <a:noFill/>
                    </a:lnR>
                    <a:lnT>
                      <a:noFill/>
                    </a:lnT>
                    <a:lnB>
                      <a:noFill/>
                    </a:lnB>
                    <a:blipFill>
                      <a:blip r:embed="rId4">
                        <a:alphaModFix amt="67000"/>
                      </a:blip>
                      <a:tile tx="0" ty="0" sx="100000" sy="100000" flip="none" algn="tl"/>
                    </a:blipFill>
                  </a:tcPr>
                </a:tc>
                <a:extLst>
                  <a:ext uri="{0D108BD9-81ED-4DB2-BD59-A6C34878D82A}">
                    <a16:rowId xmlns:a16="http://schemas.microsoft.com/office/drawing/2014/main" val="10000"/>
                  </a:ext>
                </a:extLst>
              </a:tr>
              <a:tr h="908332">
                <a:tc>
                  <a:txBody>
                    <a:bodyPr/>
                    <a:lstStyle/>
                    <a:p>
                      <a:pPr algn="l"/>
                      <a:r>
                        <a:rPr sz="2400" b="0" i="0" u="none">
                          <a:solidFill>
                            <a:srgbClr val="334155"/>
                          </a:solidFill>
                          <a:latin typeface="Lato"/>
                        </a:rPr>
                        <a:t>Salazar-Campose (2025)</a:t>
                      </a:r>
                    </a:p>
                  </a:txBody>
                  <a:tcPr marL="63500" marR="63500" marT="25400" marB="25400" anchor="ctr">
                    <a:lnL>
                      <a:noFill/>
                    </a:lnL>
                    <a:lnR>
                      <a:noFill/>
                    </a:lnR>
                    <a:lnT>
                      <a:noFill/>
                    </a:lnT>
                    <a:lnB>
                      <a:noFill/>
                    </a:lnB>
                    <a:blipFill>
                      <a:blip r:embed="rId4">
                        <a:alphaModFix amt="67000"/>
                      </a:blip>
                      <a:tile tx="0" ty="0" sx="100000" sy="100000" flip="none" algn="tl"/>
                    </a:blipFill>
                  </a:tcPr>
                </a:tc>
                <a:tc>
                  <a:txBody>
                    <a:bodyPr/>
                    <a:lstStyle/>
                    <a:p>
                      <a:pPr algn="l"/>
                      <a:r>
                        <a:rPr sz="2400" b="0" i="0" u="none" dirty="0">
                          <a:solidFill>
                            <a:srgbClr val="334155"/>
                          </a:solidFill>
                          <a:latin typeface="Lato"/>
                        </a:rPr>
                        <a:t>'Kent' Mango Maturity / Deep CNN</a:t>
                      </a:r>
                    </a:p>
                  </a:txBody>
                  <a:tcPr marL="63500" marR="63500" marT="25400" marB="25400" anchor="ctr">
                    <a:lnL>
                      <a:noFill/>
                    </a:lnL>
                    <a:lnR>
                      <a:noFill/>
                    </a:lnR>
                    <a:lnT>
                      <a:noFill/>
                    </a:lnT>
                    <a:lnB>
                      <a:noFill/>
                    </a:lnB>
                    <a:blipFill>
                      <a:blip r:embed="rId4">
                        <a:alphaModFix amt="67000"/>
                      </a:blip>
                      <a:tile tx="0" ty="0" sx="100000" sy="100000" flip="none" algn="tl"/>
                    </a:blipFill>
                  </a:tcPr>
                </a:tc>
                <a:tc>
                  <a:txBody>
                    <a:bodyPr/>
                    <a:lstStyle/>
                    <a:p>
                      <a:pPr algn="l"/>
                      <a:r>
                        <a:rPr sz="2400" b="0" i="0" u="none" dirty="0">
                          <a:solidFill>
                            <a:srgbClr val="334155"/>
                          </a:solidFill>
                          <a:latin typeface="Lato"/>
                        </a:rPr>
                        <a:t>International Cultivars</a:t>
                      </a:r>
                    </a:p>
                  </a:txBody>
                  <a:tcPr marL="63500" marR="63500" marT="25400" marB="25400" anchor="ctr">
                    <a:lnL>
                      <a:noFill/>
                    </a:lnL>
                    <a:lnR>
                      <a:noFill/>
                    </a:lnR>
                    <a:lnT>
                      <a:noFill/>
                    </a:lnT>
                    <a:lnB>
                      <a:noFill/>
                    </a:lnB>
                    <a:blipFill>
                      <a:blip r:embed="rId4">
                        <a:alphaModFix amt="67000"/>
                      </a:blip>
                      <a:tile tx="0" ty="0" sx="100000" sy="100000" flip="none" algn="tl"/>
                    </a:blipFill>
                  </a:tcPr>
                </a:tc>
                <a:tc>
                  <a:txBody>
                    <a:bodyPr/>
                    <a:lstStyle/>
                    <a:p>
                      <a:pPr algn="l"/>
                      <a:r>
                        <a:rPr sz="2400" b="0" i="0" u="none" dirty="0">
                          <a:solidFill>
                            <a:srgbClr val="334155"/>
                          </a:solidFill>
                          <a:latin typeface="Lato"/>
                        </a:rPr>
                        <a:t>No edge latency evaluation</a:t>
                      </a:r>
                    </a:p>
                  </a:txBody>
                  <a:tcPr marL="63500" marR="63500" marT="25400" marB="25400" anchor="ctr">
                    <a:lnL>
                      <a:noFill/>
                    </a:lnL>
                    <a:lnR>
                      <a:noFill/>
                    </a:lnR>
                    <a:lnT>
                      <a:noFill/>
                    </a:lnT>
                    <a:lnB>
                      <a:noFill/>
                    </a:lnB>
                    <a:blipFill>
                      <a:blip r:embed="rId4">
                        <a:alphaModFix amt="67000"/>
                      </a:blip>
                      <a:tile tx="0" ty="0" sx="100000" sy="100000" flip="none" algn="tl"/>
                    </a:blipFill>
                  </a:tcPr>
                </a:tc>
                <a:extLst>
                  <a:ext uri="{0D108BD9-81ED-4DB2-BD59-A6C34878D82A}">
                    <a16:rowId xmlns:a16="http://schemas.microsoft.com/office/drawing/2014/main" val="10001"/>
                  </a:ext>
                </a:extLst>
              </a:tr>
              <a:tr h="908332">
                <a:tc>
                  <a:txBody>
                    <a:bodyPr/>
                    <a:lstStyle/>
                    <a:p>
                      <a:pPr algn="l"/>
                      <a:r>
                        <a:rPr sz="2400" b="0" i="0" u="none">
                          <a:solidFill>
                            <a:srgbClr val="334155"/>
                          </a:solidFill>
                          <a:latin typeface="Lato"/>
                        </a:rPr>
                        <a:t>Wu et al. (2025)</a:t>
                      </a:r>
                    </a:p>
                  </a:txBody>
                  <a:tcPr marL="63500" marR="63500" marT="25400" marB="25400" anchor="ctr">
                    <a:lnL>
                      <a:noFill/>
                    </a:lnL>
                    <a:lnR>
                      <a:noFill/>
                    </a:lnR>
                    <a:lnT>
                      <a:noFill/>
                    </a:lnT>
                    <a:lnB>
                      <a:noFill/>
                    </a:lnB>
                    <a:blipFill>
                      <a:blip r:embed="rId4">
                        <a:alphaModFix amt="67000"/>
                      </a:blip>
                      <a:tile tx="0" ty="0" sx="100000" sy="100000" flip="none" algn="tl"/>
                    </a:blipFill>
                  </a:tcPr>
                </a:tc>
                <a:tc>
                  <a:txBody>
                    <a:bodyPr/>
                    <a:lstStyle/>
                    <a:p>
                      <a:pPr algn="l"/>
                      <a:r>
                        <a:rPr sz="2400" b="0" i="0" u="none">
                          <a:solidFill>
                            <a:srgbClr val="334155"/>
                          </a:solidFill>
                          <a:latin typeface="Lato"/>
                        </a:rPr>
                        <a:t>Aiwen Grading / Mobile CNN</a:t>
                      </a:r>
                    </a:p>
                  </a:txBody>
                  <a:tcPr marL="63500" marR="63500" marT="25400" marB="25400" anchor="ctr">
                    <a:lnL>
                      <a:noFill/>
                    </a:lnL>
                    <a:lnR>
                      <a:noFill/>
                    </a:lnR>
                    <a:lnT>
                      <a:noFill/>
                    </a:lnT>
                    <a:lnB>
                      <a:noFill/>
                    </a:lnB>
                    <a:blipFill>
                      <a:blip r:embed="rId4">
                        <a:alphaModFix amt="67000"/>
                      </a:blip>
                      <a:tile tx="0" ty="0" sx="100000" sy="100000" flip="none" algn="tl"/>
                    </a:blipFill>
                  </a:tcPr>
                </a:tc>
                <a:tc>
                  <a:txBody>
                    <a:bodyPr/>
                    <a:lstStyle/>
                    <a:p>
                      <a:pPr algn="l"/>
                      <a:r>
                        <a:rPr sz="2400" b="0" i="0" u="none" dirty="0">
                          <a:solidFill>
                            <a:srgbClr val="334155"/>
                          </a:solidFill>
                          <a:latin typeface="Lato"/>
                        </a:rPr>
                        <a:t>Single Class Grading</a:t>
                      </a:r>
                    </a:p>
                  </a:txBody>
                  <a:tcPr marL="63500" marR="63500" marT="25400" marB="25400" anchor="ctr">
                    <a:lnL>
                      <a:noFill/>
                    </a:lnL>
                    <a:lnR>
                      <a:noFill/>
                    </a:lnR>
                    <a:lnT>
                      <a:noFill/>
                    </a:lnT>
                    <a:lnB>
                      <a:noFill/>
                    </a:lnB>
                    <a:blipFill>
                      <a:blip r:embed="rId4">
                        <a:alphaModFix amt="67000"/>
                      </a:blip>
                      <a:tile tx="0" ty="0" sx="100000" sy="100000" flip="none" algn="tl"/>
                    </a:blipFill>
                  </a:tcPr>
                </a:tc>
                <a:tc>
                  <a:txBody>
                    <a:bodyPr/>
                    <a:lstStyle/>
                    <a:p>
                      <a:pPr algn="l"/>
                      <a:r>
                        <a:rPr sz="2400" b="0" i="0" u="none">
                          <a:solidFill>
                            <a:srgbClr val="334155"/>
                          </a:solidFill>
                          <a:latin typeface="Lato"/>
                        </a:rPr>
                        <a:t>Cloud-dependent backend</a:t>
                      </a:r>
                    </a:p>
                  </a:txBody>
                  <a:tcPr marL="63500" marR="63500" marT="25400" marB="25400" anchor="ctr">
                    <a:lnL>
                      <a:noFill/>
                    </a:lnL>
                    <a:lnR>
                      <a:noFill/>
                    </a:lnR>
                    <a:lnT>
                      <a:noFill/>
                    </a:lnT>
                    <a:lnB>
                      <a:noFill/>
                    </a:lnB>
                    <a:blipFill>
                      <a:blip r:embed="rId4">
                        <a:alphaModFix amt="67000"/>
                      </a:blip>
                      <a:tile tx="0" ty="0" sx="100000" sy="100000" flip="none" algn="tl"/>
                    </a:blipFill>
                  </a:tcPr>
                </a:tc>
                <a:extLst>
                  <a:ext uri="{0D108BD9-81ED-4DB2-BD59-A6C34878D82A}">
                    <a16:rowId xmlns:a16="http://schemas.microsoft.com/office/drawing/2014/main" val="10002"/>
                  </a:ext>
                </a:extLst>
              </a:tr>
              <a:tr h="908332">
                <a:tc>
                  <a:txBody>
                    <a:bodyPr/>
                    <a:lstStyle/>
                    <a:p>
                      <a:pPr algn="l"/>
                      <a:r>
                        <a:rPr sz="2400" b="0" i="0" u="none">
                          <a:solidFill>
                            <a:srgbClr val="334155"/>
                          </a:solidFill>
                          <a:latin typeface="Lato"/>
                        </a:rPr>
                        <a:t>Howard et al. (2019)</a:t>
                      </a:r>
                    </a:p>
                  </a:txBody>
                  <a:tcPr marL="63500" marR="63500" marT="25400" marB="25400" anchor="ctr">
                    <a:lnL>
                      <a:noFill/>
                    </a:lnL>
                    <a:lnR>
                      <a:noFill/>
                    </a:lnR>
                    <a:lnT>
                      <a:noFill/>
                    </a:lnT>
                    <a:lnB>
                      <a:noFill/>
                    </a:lnB>
                    <a:blipFill>
                      <a:blip r:embed="rId4">
                        <a:alphaModFix amt="67000"/>
                      </a:blip>
                      <a:tile tx="0" ty="0" sx="100000" sy="100000" flip="none" algn="tl"/>
                    </a:blipFill>
                  </a:tcPr>
                </a:tc>
                <a:tc>
                  <a:txBody>
                    <a:bodyPr/>
                    <a:lstStyle/>
                    <a:p>
                      <a:pPr algn="l"/>
                      <a:r>
                        <a:rPr sz="2400" b="0" i="0" u="none">
                          <a:solidFill>
                            <a:srgbClr val="334155"/>
                          </a:solidFill>
                          <a:latin typeface="Lato"/>
                        </a:rPr>
                        <a:t>MobileNetV3 NAS Architecture</a:t>
                      </a:r>
                    </a:p>
                  </a:txBody>
                  <a:tcPr marL="63500" marR="63500" marT="25400" marB="25400" anchor="ctr">
                    <a:lnL>
                      <a:noFill/>
                    </a:lnL>
                    <a:lnR>
                      <a:noFill/>
                    </a:lnR>
                    <a:lnT>
                      <a:noFill/>
                    </a:lnT>
                    <a:lnB>
                      <a:noFill/>
                    </a:lnB>
                    <a:blipFill>
                      <a:blip r:embed="rId4">
                        <a:alphaModFix amt="67000"/>
                      </a:blip>
                      <a:tile tx="0" ty="0" sx="100000" sy="100000" flip="none" algn="tl"/>
                    </a:blipFill>
                  </a:tcPr>
                </a:tc>
                <a:tc>
                  <a:txBody>
                    <a:bodyPr/>
                    <a:lstStyle/>
                    <a:p>
                      <a:pPr algn="l"/>
                      <a:r>
                        <a:rPr sz="2400" b="0" i="0" u="none">
                          <a:solidFill>
                            <a:srgbClr val="334155"/>
                          </a:solidFill>
                          <a:latin typeface="Lato"/>
                        </a:rPr>
                        <a:t>ImageNet-1K Benchmark</a:t>
                      </a:r>
                    </a:p>
                  </a:txBody>
                  <a:tcPr marL="63500" marR="63500" marT="25400" marB="25400" anchor="ctr">
                    <a:lnL>
                      <a:noFill/>
                    </a:lnL>
                    <a:lnR>
                      <a:noFill/>
                    </a:lnR>
                    <a:lnT>
                      <a:noFill/>
                    </a:lnT>
                    <a:lnB>
                      <a:noFill/>
                    </a:lnB>
                    <a:blipFill>
                      <a:blip r:embed="rId4">
                        <a:alphaModFix amt="67000"/>
                      </a:blip>
                      <a:tile tx="0" ty="0" sx="100000" sy="100000" flip="none" algn="tl"/>
                    </a:blipFill>
                  </a:tcPr>
                </a:tc>
                <a:tc>
                  <a:txBody>
                    <a:bodyPr/>
                    <a:lstStyle/>
                    <a:p>
                      <a:pPr algn="l"/>
                      <a:r>
                        <a:rPr sz="2400" b="0" i="0" u="none" dirty="0">
                          <a:solidFill>
                            <a:srgbClr val="334155"/>
                          </a:solidFill>
                          <a:latin typeface="Lato"/>
                        </a:rPr>
                        <a:t>Generic vision, no local </a:t>
                      </a:r>
                      <a:r>
                        <a:rPr sz="2400" b="0" i="0" u="none" dirty="0" err="1">
                          <a:solidFill>
                            <a:srgbClr val="334155"/>
                          </a:solidFill>
                          <a:latin typeface="Lato"/>
                        </a:rPr>
                        <a:t>agro</a:t>
                      </a:r>
                      <a:r>
                        <a:rPr sz="2400" b="0" i="0" u="none" dirty="0">
                          <a:solidFill>
                            <a:srgbClr val="334155"/>
                          </a:solidFill>
                          <a:latin typeface="Lato"/>
                        </a:rPr>
                        <a:t> data</a:t>
                      </a:r>
                    </a:p>
                  </a:txBody>
                  <a:tcPr marL="63500" marR="63500" marT="25400" marB="25400" anchor="ctr">
                    <a:lnL>
                      <a:noFill/>
                    </a:lnL>
                    <a:lnR>
                      <a:noFill/>
                    </a:lnR>
                    <a:lnT>
                      <a:noFill/>
                    </a:lnT>
                    <a:lnB>
                      <a:noFill/>
                    </a:lnB>
                    <a:blipFill>
                      <a:blip r:embed="rId4">
                        <a:alphaModFix amt="67000"/>
                      </a:blip>
                      <a:tile tx="0" ty="0" sx="100000" sy="100000" flip="none" algn="tl"/>
                    </a:blipFill>
                  </a:tcPr>
                </a:tc>
                <a:extLst>
                  <a:ext uri="{0D108BD9-81ED-4DB2-BD59-A6C34878D82A}">
                    <a16:rowId xmlns:a16="http://schemas.microsoft.com/office/drawing/2014/main" val="10003"/>
                  </a:ext>
                </a:extLst>
              </a:tr>
              <a:tr h="908332">
                <a:tc>
                  <a:txBody>
                    <a:bodyPr/>
                    <a:lstStyle/>
                    <a:p>
                      <a:pPr algn="l"/>
                      <a:r>
                        <a:rPr sz="2400" b="0" i="0" u="none">
                          <a:solidFill>
                            <a:srgbClr val="334155"/>
                          </a:solidFill>
                          <a:latin typeface="Lato"/>
                        </a:rPr>
                        <a:t>Islam et al. (2021)</a:t>
                      </a:r>
                    </a:p>
                  </a:txBody>
                  <a:tcPr marL="63500" marR="63500" marT="25400" marB="25400" anchor="ctr">
                    <a:lnL>
                      <a:noFill/>
                    </a:lnL>
                    <a:lnR>
                      <a:noFill/>
                    </a:lnR>
                    <a:lnT>
                      <a:noFill/>
                    </a:lnT>
                    <a:lnB>
                      <a:noFill/>
                    </a:lnB>
                    <a:blipFill>
                      <a:blip r:embed="rId4">
                        <a:alphaModFix amt="67000"/>
                      </a:blip>
                      <a:tile tx="0" ty="0" sx="100000" sy="100000" flip="none" algn="tl"/>
                    </a:blipFill>
                  </a:tcPr>
                </a:tc>
                <a:tc>
                  <a:txBody>
                    <a:bodyPr/>
                    <a:lstStyle/>
                    <a:p>
                      <a:pPr algn="l"/>
                      <a:r>
                        <a:rPr sz="2400" b="0" i="0" u="none" dirty="0">
                          <a:solidFill>
                            <a:srgbClr val="334155"/>
                          </a:solidFill>
                          <a:latin typeface="Lato"/>
                        </a:rPr>
                        <a:t>Shallow CNN Classification</a:t>
                      </a:r>
                    </a:p>
                  </a:txBody>
                  <a:tcPr marL="63500" marR="63500" marT="25400" marB="25400" anchor="ctr">
                    <a:lnL>
                      <a:noFill/>
                    </a:lnL>
                    <a:lnR>
                      <a:noFill/>
                    </a:lnR>
                    <a:lnT>
                      <a:noFill/>
                    </a:lnT>
                    <a:lnB>
                      <a:noFill/>
                    </a:lnB>
                    <a:blipFill>
                      <a:blip r:embed="rId4">
                        <a:alphaModFix amt="67000"/>
                      </a:blip>
                      <a:tile tx="0" ty="0" sx="100000" sy="100000" flip="none" algn="tl"/>
                    </a:blipFill>
                  </a:tcPr>
                </a:tc>
                <a:tc>
                  <a:txBody>
                    <a:bodyPr/>
                    <a:lstStyle/>
                    <a:p>
                      <a:pPr algn="l"/>
                      <a:r>
                        <a:rPr sz="2400" b="0" i="0" u="none">
                          <a:solidFill>
                            <a:srgbClr val="334155"/>
                          </a:solidFill>
                          <a:latin typeface="Lato"/>
                        </a:rPr>
                        <a:t>Local Mango Varieties</a:t>
                      </a:r>
                    </a:p>
                  </a:txBody>
                  <a:tcPr marL="63500" marR="63500" marT="25400" marB="25400" anchor="ctr">
                    <a:lnL>
                      <a:noFill/>
                    </a:lnL>
                    <a:lnR>
                      <a:noFill/>
                    </a:lnR>
                    <a:lnT>
                      <a:noFill/>
                    </a:lnT>
                    <a:lnB>
                      <a:noFill/>
                    </a:lnB>
                    <a:blipFill>
                      <a:blip r:embed="rId4">
                        <a:alphaModFix amt="67000"/>
                      </a:blip>
                      <a:tile tx="0" ty="0" sx="100000" sy="100000" flip="none" algn="tl"/>
                    </a:blipFill>
                  </a:tcPr>
                </a:tc>
                <a:tc>
                  <a:txBody>
                    <a:bodyPr/>
                    <a:lstStyle/>
                    <a:p>
                      <a:pPr algn="l"/>
                      <a:r>
                        <a:rPr sz="2400" b="0" i="0" u="none" dirty="0">
                          <a:solidFill>
                            <a:srgbClr val="334155"/>
                          </a:solidFill>
                          <a:latin typeface="Lato"/>
                        </a:rPr>
                        <a:t>No mobile deployment testing</a:t>
                      </a:r>
                    </a:p>
                  </a:txBody>
                  <a:tcPr marL="63500" marR="63500" marT="25400" marB="25400" anchor="ctr">
                    <a:lnL>
                      <a:noFill/>
                    </a:lnL>
                    <a:lnR>
                      <a:noFill/>
                    </a:lnR>
                    <a:lnT>
                      <a:noFill/>
                    </a:lnT>
                    <a:lnB>
                      <a:noFill/>
                    </a:lnB>
                    <a:blipFill>
                      <a:blip r:embed="rId4">
                        <a:alphaModFix amt="67000"/>
                      </a:blip>
                      <a:tile tx="0" ty="0" sx="100000" sy="100000" flip="none" algn="tl"/>
                    </a:blipFill>
                  </a:tcPr>
                </a:tc>
                <a:extLst>
                  <a:ext uri="{0D108BD9-81ED-4DB2-BD59-A6C34878D82A}">
                    <a16:rowId xmlns:a16="http://schemas.microsoft.com/office/drawing/2014/main" val="10004"/>
                  </a:ext>
                </a:extLst>
              </a:tr>
            </a:tbl>
          </a:graphicData>
        </a:graphic>
      </p:graphicFrame>
      <p:sp>
        <p:nvSpPr>
          <p:cNvPr id="4" name="Rectangle 3"/>
          <p:cNvSpPr/>
          <p:nvPr/>
        </p:nvSpPr>
        <p:spPr>
          <a:xfrm>
            <a:off x="571500" y="3071812"/>
            <a:ext cx="2379166"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2950666" y="3071812"/>
            <a:ext cx="3226593"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177260" y="3071812"/>
            <a:ext cx="2455217"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8632477" y="3071812"/>
            <a:ext cx="2988022"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71500" y="3552825"/>
            <a:ext cx="2379166"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2950666" y="3552825"/>
            <a:ext cx="3226593"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177260" y="3552825"/>
            <a:ext cx="2455217"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8632477" y="3552825"/>
            <a:ext cx="2988022"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571500" y="4033837"/>
            <a:ext cx="2379166"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2950666" y="4033837"/>
            <a:ext cx="3226593"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177260" y="4033837"/>
            <a:ext cx="2455217"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8632477" y="4033837"/>
            <a:ext cx="2988022"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571500" y="4514850"/>
            <a:ext cx="2379166"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2950666" y="4514850"/>
            <a:ext cx="3226593"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6177260" y="4514850"/>
            <a:ext cx="2455217"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8632477" y="4514850"/>
            <a:ext cx="2988022"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571500" y="4995862"/>
            <a:ext cx="2379166"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2950666" y="4995862"/>
            <a:ext cx="3226593"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6177260" y="4995862"/>
            <a:ext cx="2455217"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8632477" y="4995862"/>
            <a:ext cx="2988022"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571500" y="476250"/>
            <a:ext cx="11601450" cy="615553"/>
          </a:xfrm>
          <a:prstGeom prst="rect">
            <a:avLst/>
          </a:prstGeom>
          <a:noFill/>
        </p:spPr>
        <p:txBody>
          <a:bodyPr wrap="square" lIns="0" tIns="0" rIns="0" bIns="0" anchor="t">
            <a:spAutoFit/>
          </a:bodyPr>
          <a:lstStyle/>
          <a:p>
            <a:pPr algn="l"/>
            <a:r>
              <a:rPr sz="4000" b="0" i="0" u="none" dirty="0">
                <a:solidFill>
                  <a:srgbClr val="064E3B"/>
                </a:solidFill>
                <a:latin typeface="Poppins SemiBold"/>
              </a:rPr>
              <a:t>Literature Review Summary</a:t>
            </a:r>
          </a:p>
        </p:txBody>
      </p:sp>
      <p:sp>
        <p:nvSpPr>
          <p:cNvPr id="25" name="TextBox 24">
            <a:extLst>
              <a:ext uri="{FF2B5EF4-FFF2-40B4-BE49-F238E27FC236}">
                <a16:creationId xmlns:a16="http://schemas.microsoft.com/office/drawing/2014/main" id="{F645CFA8-F41A-8B33-3B95-C44B728114A7}"/>
              </a:ext>
            </a:extLst>
          </p:cNvPr>
          <p:cNvSpPr txBox="1"/>
          <p:nvPr/>
        </p:nvSpPr>
        <p:spPr>
          <a:xfrm>
            <a:off x="1236518" y="6199887"/>
            <a:ext cx="9722427" cy="615553"/>
          </a:xfrm>
          <a:prstGeom prst="rect">
            <a:avLst/>
          </a:prstGeom>
          <a:noFill/>
        </p:spPr>
        <p:txBody>
          <a:bodyPr wrap="square" lIns="0" tIns="0" rIns="0" bIns="0" anchor="t">
            <a:spAutoFit/>
          </a:bodyPr>
          <a:lstStyle/>
          <a:p>
            <a:pPr algn="ctr"/>
            <a:r>
              <a:rPr lang="en-BD" sz="4000" dirty="0">
                <a:solidFill>
                  <a:srgbClr val="00B0F0"/>
                </a:solidFill>
              </a:rPr>
              <a:t>Our work addresses all four limitations.</a:t>
            </a:r>
            <a:endParaRPr sz="4000" b="0" i="0" u="none" dirty="0">
              <a:solidFill>
                <a:srgbClr val="00B0F0"/>
              </a:solidFill>
              <a:latin typeface="Poppins SemiBold"/>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4"/>
          <a:stretch>
            <a:fillRect/>
          </a:stretch>
        </p:blipFill>
        <p:spPr>
          <a:xfrm>
            <a:off x="571500" y="2065867"/>
            <a:ext cx="5334000" cy="3149070"/>
          </a:xfrm>
          <a:prstGeom prst="rect">
            <a:avLst/>
          </a:prstGeom>
        </p:spPr>
      </p:pic>
      <p:pic>
        <p:nvPicPr>
          <p:cNvPr id="4" name="Picture 3" descr="image.png"/>
          <p:cNvPicPr>
            <a:picLocks noChangeAspect="1"/>
          </p:cNvPicPr>
          <p:nvPr/>
        </p:nvPicPr>
        <p:blipFill>
          <a:blip r:embed="rId5"/>
          <a:stretch>
            <a:fillRect/>
          </a:stretch>
        </p:blipFill>
        <p:spPr>
          <a:xfrm>
            <a:off x="6286500" y="2065867"/>
            <a:ext cx="5334000" cy="3149070"/>
          </a:xfrm>
          <a:prstGeom prst="rect">
            <a:avLst/>
          </a:prstGeom>
        </p:spPr>
      </p:pic>
      <p:sp>
        <p:nvSpPr>
          <p:cNvPr id="5" name="TextBox 4"/>
          <p:cNvSpPr txBox="1"/>
          <p:nvPr/>
        </p:nvSpPr>
        <p:spPr>
          <a:xfrm>
            <a:off x="866775" y="2416348"/>
            <a:ext cx="4980622" cy="369332"/>
          </a:xfrm>
          <a:prstGeom prst="rect">
            <a:avLst/>
          </a:prstGeom>
          <a:noFill/>
        </p:spPr>
        <p:txBody>
          <a:bodyPr wrap="square" lIns="0" tIns="0" rIns="0" bIns="0" anchor="t">
            <a:spAutoFit/>
          </a:bodyPr>
          <a:lstStyle/>
          <a:p>
            <a:pPr algn="l"/>
            <a:r>
              <a:rPr sz="2400" b="0" i="0" u="none" dirty="0">
                <a:solidFill>
                  <a:srgbClr val="0F766E"/>
                </a:solidFill>
                <a:latin typeface="Poppins SemiBold"/>
              </a:rPr>
              <a:t>Identified Research Gap</a:t>
            </a:r>
          </a:p>
        </p:txBody>
      </p:sp>
      <p:sp>
        <p:nvSpPr>
          <p:cNvPr id="6" name="TextBox 5"/>
          <p:cNvSpPr txBox="1"/>
          <p:nvPr/>
        </p:nvSpPr>
        <p:spPr>
          <a:xfrm>
            <a:off x="866775" y="2950102"/>
            <a:ext cx="4743450" cy="487313"/>
          </a:xfrm>
          <a:prstGeom prst="rect">
            <a:avLst/>
          </a:prstGeom>
          <a:noFill/>
        </p:spPr>
        <p:txBody>
          <a:bodyPr wrap="square" lIns="0" tIns="0" rIns="0" bIns="0" anchor="t">
            <a:spAutoFit/>
          </a:bodyPr>
          <a:lstStyle/>
          <a:p>
            <a:pPr algn="l">
              <a:lnSpc>
                <a:spcPts val="1912"/>
              </a:lnSpc>
            </a:pPr>
            <a:r>
              <a:rPr b="0" i="0" u="none" dirty="0">
                <a:solidFill>
                  <a:srgbClr val="334155"/>
                </a:solidFill>
                <a:latin typeface="Lato"/>
              </a:rPr>
              <a:t>• </a:t>
            </a:r>
            <a:r>
              <a:rPr sz="2000" b="0" i="0" u="none" dirty="0">
                <a:solidFill>
                  <a:srgbClr val="334155"/>
                </a:solidFill>
                <a:latin typeface="Lato"/>
              </a:rPr>
              <a:t>Focus solely on laboratory accuracy while ignoring model size and latency.</a:t>
            </a:r>
            <a:endParaRPr b="0" i="0" u="none" dirty="0">
              <a:solidFill>
                <a:srgbClr val="334155"/>
              </a:solidFill>
              <a:latin typeface="Lato"/>
            </a:endParaRPr>
          </a:p>
        </p:txBody>
      </p:sp>
      <p:sp>
        <p:nvSpPr>
          <p:cNvPr id="7" name="TextBox 6"/>
          <p:cNvSpPr txBox="1"/>
          <p:nvPr/>
        </p:nvSpPr>
        <p:spPr>
          <a:xfrm>
            <a:off x="866775" y="3651778"/>
            <a:ext cx="4743450" cy="487313"/>
          </a:xfrm>
          <a:prstGeom prst="rect">
            <a:avLst/>
          </a:prstGeom>
          <a:noFill/>
        </p:spPr>
        <p:txBody>
          <a:bodyPr wrap="square" lIns="0" tIns="0" rIns="0" bIns="0" anchor="t">
            <a:spAutoFit/>
          </a:bodyPr>
          <a:lstStyle/>
          <a:p>
            <a:pPr algn="l">
              <a:lnSpc>
                <a:spcPts val="1912"/>
              </a:lnSpc>
            </a:pPr>
            <a:r>
              <a:rPr sz="2000" b="0" i="0" u="none" dirty="0">
                <a:solidFill>
                  <a:srgbClr val="334155"/>
                </a:solidFill>
                <a:latin typeface="Lato"/>
              </a:rPr>
              <a:t>• Lack of systematic benchmarking under identical preprocessing conditions.</a:t>
            </a:r>
          </a:p>
        </p:txBody>
      </p:sp>
      <p:sp>
        <p:nvSpPr>
          <p:cNvPr id="8" name="TextBox 7"/>
          <p:cNvSpPr txBox="1"/>
          <p:nvPr/>
        </p:nvSpPr>
        <p:spPr>
          <a:xfrm>
            <a:off x="866775" y="4319587"/>
            <a:ext cx="4743450" cy="730969"/>
          </a:xfrm>
          <a:prstGeom prst="rect">
            <a:avLst/>
          </a:prstGeom>
          <a:noFill/>
        </p:spPr>
        <p:txBody>
          <a:bodyPr wrap="square" lIns="0" tIns="0" rIns="0" bIns="0" anchor="t">
            <a:spAutoFit/>
          </a:bodyPr>
          <a:lstStyle/>
          <a:p>
            <a:pPr algn="l">
              <a:lnSpc>
                <a:spcPts val="1912"/>
              </a:lnSpc>
            </a:pPr>
            <a:r>
              <a:rPr sz="2000" b="0" i="0" u="none" dirty="0">
                <a:solidFill>
                  <a:srgbClr val="334155"/>
                </a:solidFill>
                <a:latin typeface="Lato"/>
              </a:rPr>
              <a:t>• Absence of end-to-end deployable mobile frameworks for local Bangladeshi varieties.</a:t>
            </a:r>
          </a:p>
        </p:txBody>
      </p:sp>
      <p:sp>
        <p:nvSpPr>
          <p:cNvPr id="9" name="TextBox 8"/>
          <p:cNvSpPr txBox="1"/>
          <p:nvPr/>
        </p:nvSpPr>
        <p:spPr>
          <a:xfrm>
            <a:off x="6581775" y="2371192"/>
            <a:ext cx="4980622" cy="369332"/>
          </a:xfrm>
          <a:prstGeom prst="rect">
            <a:avLst/>
          </a:prstGeom>
          <a:noFill/>
        </p:spPr>
        <p:txBody>
          <a:bodyPr wrap="square" lIns="0" tIns="0" rIns="0" bIns="0" anchor="t">
            <a:spAutoFit/>
          </a:bodyPr>
          <a:lstStyle/>
          <a:p>
            <a:pPr algn="l"/>
            <a:r>
              <a:rPr sz="2400" b="0" i="0" u="none" dirty="0">
                <a:solidFill>
                  <a:srgbClr val="0F766E"/>
                </a:solidFill>
                <a:latin typeface="Poppins SemiBold"/>
              </a:rPr>
              <a:t>Proposed Contribution</a:t>
            </a:r>
          </a:p>
        </p:txBody>
      </p:sp>
      <p:sp>
        <p:nvSpPr>
          <p:cNvPr id="10" name="TextBox 9"/>
          <p:cNvSpPr txBox="1"/>
          <p:nvPr/>
        </p:nvSpPr>
        <p:spPr>
          <a:xfrm>
            <a:off x="6581775" y="2916235"/>
            <a:ext cx="4743450" cy="485775"/>
          </a:xfrm>
          <a:prstGeom prst="rect">
            <a:avLst/>
          </a:prstGeom>
          <a:noFill/>
        </p:spPr>
        <p:txBody>
          <a:bodyPr wrap="square" lIns="0" tIns="0" rIns="0" bIns="0" anchor="t">
            <a:spAutoFit/>
          </a:bodyPr>
          <a:lstStyle/>
          <a:p>
            <a:pPr algn="l">
              <a:lnSpc>
                <a:spcPts val="1912"/>
              </a:lnSpc>
            </a:pPr>
            <a:r>
              <a:rPr sz="2000" b="0" i="0" u="none" dirty="0">
                <a:solidFill>
                  <a:srgbClr val="334155"/>
                </a:solidFill>
                <a:latin typeface="Lato"/>
              </a:rPr>
              <a:t>• Systematic evaluation of 5 lightweight CNN backbones on 10 native varieties.</a:t>
            </a:r>
          </a:p>
        </p:txBody>
      </p:sp>
      <p:sp>
        <p:nvSpPr>
          <p:cNvPr id="11" name="TextBox 10"/>
          <p:cNvSpPr txBox="1"/>
          <p:nvPr/>
        </p:nvSpPr>
        <p:spPr>
          <a:xfrm>
            <a:off x="6581775" y="3617911"/>
            <a:ext cx="4743450" cy="485775"/>
          </a:xfrm>
          <a:prstGeom prst="rect">
            <a:avLst/>
          </a:prstGeom>
          <a:noFill/>
        </p:spPr>
        <p:txBody>
          <a:bodyPr wrap="square" lIns="0" tIns="0" rIns="0" bIns="0" anchor="t">
            <a:spAutoFit/>
          </a:bodyPr>
          <a:lstStyle/>
          <a:p>
            <a:pPr algn="l">
              <a:lnSpc>
                <a:spcPts val="1912"/>
              </a:lnSpc>
            </a:pPr>
            <a:r>
              <a:rPr sz="2000" b="0" i="0" u="none" dirty="0">
                <a:solidFill>
                  <a:srgbClr val="334155"/>
                </a:solidFill>
                <a:latin typeface="Lato"/>
              </a:rPr>
              <a:t>• Dynamic pipeline ensuring architecture-specific tensor normalization.</a:t>
            </a:r>
          </a:p>
        </p:txBody>
      </p:sp>
      <p:sp>
        <p:nvSpPr>
          <p:cNvPr id="12" name="TextBox 11"/>
          <p:cNvSpPr txBox="1"/>
          <p:nvPr/>
        </p:nvSpPr>
        <p:spPr>
          <a:xfrm>
            <a:off x="6581775" y="4319587"/>
            <a:ext cx="4743450" cy="485775"/>
          </a:xfrm>
          <a:prstGeom prst="rect">
            <a:avLst/>
          </a:prstGeom>
          <a:noFill/>
        </p:spPr>
        <p:txBody>
          <a:bodyPr wrap="square" lIns="0" tIns="0" rIns="0" bIns="0" anchor="t">
            <a:spAutoFit/>
          </a:bodyPr>
          <a:lstStyle/>
          <a:p>
            <a:pPr algn="l">
              <a:lnSpc>
                <a:spcPts val="1912"/>
              </a:lnSpc>
            </a:pPr>
            <a:r>
              <a:rPr sz="2000" b="0" i="0" u="none" dirty="0">
                <a:solidFill>
                  <a:srgbClr val="334155"/>
                </a:solidFill>
                <a:latin typeface="Lato"/>
              </a:rPr>
              <a:t>• Production-ready Flutter app delivering fully offline inference on Android.</a:t>
            </a:r>
          </a:p>
        </p:txBody>
      </p:sp>
      <p:sp>
        <p:nvSpPr>
          <p:cNvPr id="13" name="TextBox 12"/>
          <p:cNvSpPr txBox="1"/>
          <p:nvPr/>
        </p:nvSpPr>
        <p:spPr>
          <a:xfrm>
            <a:off x="571500" y="476250"/>
            <a:ext cx="11601450" cy="615553"/>
          </a:xfrm>
          <a:prstGeom prst="rect">
            <a:avLst/>
          </a:prstGeom>
          <a:noFill/>
        </p:spPr>
        <p:txBody>
          <a:bodyPr wrap="square" lIns="0" tIns="0" rIns="0" bIns="0" anchor="t">
            <a:spAutoFit/>
          </a:bodyPr>
          <a:lstStyle/>
          <a:p>
            <a:pPr algn="l"/>
            <a:r>
              <a:rPr sz="4000" b="0" i="0" u="none" dirty="0">
                <a:solidFill>
                  <a:srgbClr val="064E3B"/>
                </a:solidFill>
                <a:latin typeface="Poppins SemiBold"/>
              </a:rPr>
              <a:t>Research Gap &amp; Contribution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0" y="0"/>
            <a:ext cx="12192000" cy="6858000"/>
          </a:xfrm>
          <a:prstGeom prst="rect">
            <a:avLst/>
          </a:prstGeom>
        </p:spPr>
      </p:pic>
      <p:graphicFrame>
        <p:nvGraphicFramePr>
          <p:cNvPr id="3" name="Table 2"/>
          <p:cNvGraphicFramePr>
            <a:graphicFrameLocks noGrp="1"/>
          </p:cNvGraphicFramePr>
          <p:nvPr>
            <p:extLst>
              <p:ext uri="{D42A27DB-BD31-4B8C-83A1-F6EECF244321}">
                <p14:modId xmlns:p14="http://schemas.microsoft.com/office/powerpoint/2010/main" val="2991106480"/>
              </p:ext>
            </p:extLst>
          </p:nvPr>
        </p:nvGraphicFramePr>
        <p:xfrm>
          <a:off x="61736" y="1154840"/>
          <a:ext cx="6249617" cy="5275631"/>
        </p:xfrm>
        <a:graphic>
          <a:graphicData uri="http://schemas.openxmlformats.org/drawingml/2006/table">
            <a:tbl>
              <a:tblPr firstRow="1" bandRow="1">
                <a:tableStyleId>{5C22544A-7EE6-4342-B048-85BDC9FD1C3A}</a:tableStyleId>
              </a:tblPr>
              <a:tblGrid>
                <a:gridCol w="710658">
                  <a:extLst>
                    <a:ext uri="{9D8B030D-6E8A-4147-A177-3AD203B41FA5}">
                      <a16:colId xmlns:a16="http://schemas.microsoft.com/office/drawing/2014/main" val="20000"/>
                    </a:ext>
                  </a:extLst>
                </a:gridCol>
                <a:gridCol w="3149137">
                  <a:extLst>
                    <a:ext uri="{9D8B030D-6E8A-4147-A177-3AD203B41FA5}">
                      <a16:colId xmlns:a16="http://schemas.microsoft.com/office/drawing/2014/main" val="20001"/>
                    </a:ext>
                  </a:extLst>
                </a:gridCol>
                <a:gridCol w="1065987">
                  <a:extLst>
                    <a:ext uri="{9D8B030D-6E8A-4147-A177-3AD203B41FA5}">
                      <a16:colId xmlns:a16="http://schemas.microsoft.com/office/drawing/2014/main" val="20002"/>
                    </a:ext>
                  </a:extLst>
                </a:gridCol>
                <a:gridCol w="1323835">
                  <a:extLst>
                    <a:ext uri="{9D8B030D-6E8A-4147-A177-3AD203B41FA5}">
                      <a16:colId xmlns:a16="http://schemas.microsoft.com/office/drawing/2014/main" val="20003"/>
                    </a:ext>
                  </a:extLst>
                </a:gridCol>
              </a:tblGrid>
              <a:tr h="870157">
                <a:tc>
                  <a:txBody>
                    <a:bodyPr/>
                    <a:lstStyle/>
                    <a:p>
                      <a:pPr algn="l"/>
                      <a:r>
                        <a:rPr sz="1600" b="0" i="0" u="none">
                          <a:solidFill>
                            <a:srgbClr val="064E3B"/>
                          </a:solidFill>
                          <a:latin typeface="Poppins SemiBold"/>
                        </a:rPr>
                        <a:t>Class ID</a:t>
                      </a:r>
                    </a:p>
                  </a:txBody>
                  <a:tcPr marL="63500" marR="63500" marT="25400" marB="25400" anchor="ctr">
                    <a:lnL>
                      <a:noFill/>
                    </a:lnL>
                    <a:lnR>
                      <a:noFill/>
                    </a:lnR>
                    <a:lnT>
                      <a:noFill/>
                    </a:lnT>
                    <a:lnB>
                      <a:noFill/>
                    </a:lnB>
                    <a:solidFill>
                      <a:srgbClr val="F1F5F9"/>
                    </a:solidFill>
                  </a:tcPr>
                </a:tc>
                <a:tc>
                  <a:txBody>
                    <a:bodyPr/>
                    <a:lstStyle/>
                    <a:p>
                      <a:pPr algn="l"/>
                      <a:r>
                        <a:rPr sz="1600" b="0" i="0" u="none" dirty="0">
                          <a:solidFill>
                            <a:srgbClr val="064E3B"/>
                          </a:solidFill>
                          <a:latin typeface="Poppins SemiBold"/>
                        </a:rPr>
                        <a:t>Mango Variety (Cultivar)</a:t>
                      </a:r>
                    </a:p>
                  </a:txBody>
                  <a:tcPr marL="63500" marR="63500" marT="25400" marB="25400" anchor="ctr">
                    <a:lnL>
                      <a:noFill/>
                    </a:lnL>
                    <a:lnR>
                      <a:noFill/>
                    </a:lnR>
                    <a:lnT>
                      <a:noFill/>
                    </a:lnT>
                    <a:lnB>
                      <a:noFill/>
                    </a:lnB>
                    <a:solidFill>
                      <a:srgbClr val="F1F5F9"/>
                    </a:solidFill>
                  </a:tcPr>
                </a:tc>
                <a:tc>
                  <a:txBody>
                    <a:bodyPr/>
                    <a:lstStyle/>
                    <a:p>
                      <a:pPr algn="l"/>
                      <a:r>
                        <a:rPr sz="1600" b="0" i="0" u="none" dirty="0">
                          <a:solidFill>
                            <a:srgbClr val="064E3B"/>
                          </a:solidFill>
                          <a:latin typeface="Poppins SemiBold"/>
                        </a:rPr>
                        <a:t>Sample Count</a:t>
                      </a:r>
                    </a:p>
                  </a:txBody>
                  <a:tcPr marL="63500" marR="63500" marT="25400" marB="25400" anchor="ctr">
                    <a:lnL>
                      <a:noFill/>
                    </a:lnL>
                    <a:lnR>
                      <a:noFill/>
                    </a:lnR>
                    <a:lnT>
                      <a:noFill/>
                    </a:lnT>
                    <a:lnB>
                      <a:noFill/>
                    </a:lnB>
                    <a:solidFill>
                      <a:srgbClr val="F1F5F9"/>
                    </a:solidFill>
                  </a:tcPr>
                </a:tc>
                <a:tc>
                  <a:txBody>
                    <a:bodyPr/>
                    <a:lstStyle/>
                    <a:p>
                      <a:pPr algn="l"/>
                      <a:r>
                        <a:rPr sz="1600" b="0" i="0" u="none">
                          <a:solidFill>
                            <a:srgbClr val="064E3B"/>
                          </a:solidFill>
                          <a:latin typeface="Poppins SemiBold"/>
                        </a:rPr>
                        <a:t>Dataset Share (%)</a:t>
                      </a:r>
                    </a:p>
                  </a:txBody>
                  <a:tcPr marL="63500" marR="63500" marT="25400" marB="25400" anchor="ctr">
                    <a:lnL>
                      <a:noFill/>
                    </a:lnL>
                    <a:lnR>
                      <a:noFill/>
                    </a:lnR>
                    <a:lnT>
                      <a:noFill/>
                    </a:lnT>
                    <a:lnB>
                      <a:noFill/>
                    </a:lnB>
                    <a:solidFill>
                      <a:srgbClr val="F1F5F9"/>
                    </a:solidFill>
                  </a:tcPr>
                </a:tc>
                <a:extLst>
                  <a:ext uri="{0D108BD9-81ED-4DB2-BD59-A6C34878D82A}">
                    <a16:rowId xmlns:a16="http://schemas.microsoft.com/office/drawing/2014/main" val="10000"/>
                  </a:ext>
                </a:extLst>
              </a:tr>
              <a:tr h="533032">
                <a:tc>
                  <a:txBody>
                    <a:bodyPr/>
                    <a:lstStyle/>
                    <a:p>
                      <a:pPr algn="l"/>
                      <a:r>
                        <a:rPr sz="1600" b="0" i="0" u="none">
                          <a:solidFill>
                            <a:srgbClr val="334155"/>
                          </a:solidFill>
                          <a:latin typeface="Lato"/>
                        </a:rPr>
                        <a:t>1</a:t>
                      </a:r>
                    </a:p>
                  </a:txBody>
                  <a:tcPr marL="63500" marR="63500" marT="25400" marB="25400" anchor="ctr">
                    <a:lnL>
                      <a:noFill/>
                    </a:lnL>
                    <a:lnR>
                      <a:noFill/>
                    </a:lnR>
                    <a:lnT>
                      <a:noFill/>
                    </a:lnT>
                    <a:lnB>
                      <a:noFill/>
                    </a:lnB>
                    <a:noFill/>
                  </a:tcPr>
                </a:tc>
                <a:tc>
                  <a:txBody>
                    <a:bodyPr/>
                    <a:lstStyle/>
                    <a:p>
                      <a:pPr algn="l"/>
                      <a:r>
                        <a:rPr sz="1600" b="0" i="0" u="none">
                          <a:solidFill>
                            <a:srgbClr val="334155"/>
                          </a:solidFill>
                          <a:latin typeface="Lato"/>
                        </a:rPr>
                        <a:t>Amrapali</a:t>
                      </a:r>
                    </a:p>
                  </a:txBody>
                  <a:tcPr marL="63500" marR="63500" marT="25400" marB="25400" anchor="ctr">
                    <a:lnL>
                      <a:noFill/>
                    </a:lnL>
                    <a:lnR>
                      <a:noFill/>
                    </a:lnR>
                    <a:lnT>
                      <a:noFill/>
                    </a:lnT>
                    <a:lnB>
                      <a:noFill/>
                    </a:lnB>
                    <a:noFill/>
                  </a:tcPr>
                </a:tc>
                <a:tc>
                  <a:txBody>
                    <a:bodyPr/>
                    <a:lstStyle/>
                    <a:p>
                      <a:pPr algn="l"/>
                      <a:r>
                        <a:rPr sz="1600" b="0" i="0" u="none">
                          <a:solidFill>
                            <a:srgbClr val="334155"/>
                          </a:solidFill>
                          <a:latin typeface="Lato"/>
                        </a:rPr>
                        <a:t>252</a:t>
                      </a:r>
                    </a:p>
                  </a:txBody>
                  <a:tcPr marL="63500" marR="63500" marT="25400" marB="25400" anchor="ctr">
                    <a:lnL>
                      <a:noFill/>
                    </a:lnL>
                    <a:lnR>
                      <a:noFill/>
                    </a:lnR>
                    <a:lnT>
                      <a:noFill/>
                    </a:lnT>
                    <a:lnB>
                      <a:noFill/>
                    </a:lnB>
                    <a:noFill/>
                  </a:tcPr>
                </a:tc>
                <a:tc>
                  <a:txBody>
                    <a:bodyPr/>
                    <a:lstStyle/>
                    <a:p>
                      <a:pPr algn="l"/>
                      <a:r>
                        <a:rPr sz="1600" b="0" i="0" u="none">
                          <a:solidFill>
                            <a:srgbClr val="334155"/>
                          </a:solidFill>
                          <a:latin typeface="Lato"/>
                        </a:rPr>
                        <a:t>12.53%</a:t>
                      </a:r>
                    </a:p>
                  </a:txBody>
                  <a:tcPr marL="63500" marR="63500" marT="25400" marB="25400" anchor="ctr">
                    <a:lnL>
                      <a:noFill/>
                    </a:lnL>
                    <a:lnR>
                      <a:noFill/>
                    </a:lnR>
                    <a:lnT>
                      <a:noFill/>
                    </a:lnT>
                    <a:lnB>
                      <a:noFill/>
                    </a:lnB>
                    <a:noFill/>
                  </a:tcPr>
                </a:tc>
                <a:extLst>
                  <a:ext uri="{0D108BD9-81ED-4DB2-BD59-A6C34878D82A}">
                    <a16:rowId xmlns:a16="http://schemas.microsoft.com/office/drawing/2014/main" val="10001"/>
                  </a:ext>
                </a:extLst>
              </a:tr>
              <a:tr h="533032">
                <a:tc>
                  <a:txBody>
                    <a:bodyPr/>
                    <a:lstStyle/>
                    <a:p>
                      <a:pPr algn="l"/>
                      <a:r>
                        <a:rPr sz="1600" b="0" i="0" u="none">
                          <a:solidFill>
                            <a:srgbClr val="334155"/>
                          </a:solidFill>
                          <a:latin typeface="Lato"/>
                        </a:rPr>
                        <a:t>2</a:t>
                      </a:r>
                    </a:p>
                  </a:txBody>
                  <a:tcPr marL="63500" marR="63500" marT="25400" marB="25400" anchor="ctr">
                    <a:lnL>
                      <a:noFill/>
                    </a:lnL>
                    <a:lnR>
                      <a:noFill/>
                    </a:lnR>
                    <a:lnT>
                      <a:noFill/>
                    </a:lnT>
                    <a:lnB>
                      <a:noFill/>
                    </a:lnB>
                    <a:solidFill>
                      <a:srgbClr val="F8FAFC"/>
                    </a:solidFill>
                  </a:tcPr>
                </a:tc>
                <a:tc>
                  <a:txBody>
                    <a:bodyPr/>
                    <a:lstStyle/>
                    <a:p>
                      <a:pPr algn="l"/>
                      <a:r>
                        <a:rPr sz="1600" b="0" i="0" u="none" dirty="0">
                          <a:solidFill>
                            <a:srgbClr val="334155"/>
                          </a:solidFill>
                          <a:latin typeface="Lato"/>
                        </a:rPr>
                        <a:t>Bari-4</a:t>
                      </a:r>
                    </a:p>
                  </a:txBody>
                  <a:tcPr marL="63500" marR="63500" marT="25400" marB="25400" anchor="ctr">
                    <a:lnL>
                      <a:noFill/>
                    </a:lnL>
                    <a:lnR>
                      <a:noFill/>
                    </a:lnR>
                    <a:lnT>
                      <a:noFill/>
                    </a:lnT>
                    <a:lnB>
                      <a:noFill/>
                    </a:lnB>
                    <a:solidFill>
                      <a:srgbClr val="F8FAFC"/>
                    </a:solidFill>
                  </a:tcPr>
                </a:tc>
                <a:tc>
                  <a:txBody>
                    <a:bodyPr/>
                    <a:lstStyle/>
                    <a:p>
                      <a:pPr algn="l"/>
                      <a:r>
                        <a:rPr sz="1600" b="0" i="0" u="none">
                          <a:solidFill>
                            <a:srgbClr val="334155"/>
                          </a:solidFill>
                          <a:latin typeface="Lato"/>
                        </a:rPr>
                        <a:t>235</a:t>
                      </a:r>
                    </a:p>
                  </a:txBody>
                  <a:tcPr marL="63500" marR="63500" marT="25400" marB="25400" anchor="ctr">
                    <a:lnL>
                      <a:noFill/>
                    </a:lnL>
                    <a:lnR>
                      <a:noFill/>
                    </a:lnR>
                    <a:lnT>
                      <a:noFill/>
                    </a:lnT>
                    <a:lnB>
                      <a:noFill/>
                    </a:lnB>
                    <a:solidFill>
                      <a:srgbClr val="F8FAFC"/>
                    </a:solidFill>
                  </a:tcPr>
                </a:tc>
                <a:tc>
                  <a:txBody>
                    <a:bodyPr/>
                    <a:lstStyle/>
                    <a:p>
                      <a:pPr algn="l"/>
                      <a:r>
                        <a:rPr sz="1600" b="0" i="0" u="none">
                          <a:solidFill>
                            <a:srgbClr val="334155"/>
                          </a:solidFill>
                          <a:latin typeface="Lato"/>
                        </a:rPr>
                        <a:t>11.68%</a:t>
                      </a:r>
                    </a:p>
                  </a:txBody>
                  <a:tcPr marL="63500" marR="63500" marT="25400" marB="25400" anchor="ctr">
                    <a:lnL>
                      <a:noFill/>
                    </a:lnL>
                    <a:lnR>
                      <a:noFill/>
                    </a:lnR>
                    <a:lnT>
                      <a:noFill/>
                    </a:lnT>
                    <a:lnB>
                      <a:noFill/>
                    </a:lnB>
                    <a:solidFill>
                      <a:srgbClr val="F8FAFC"/>
                    </a:solidFill>
                  </a:tcPr>
                </a:tc>
                <a:extLst>
                  <a:ext uri="{0D108BD9-81ED-4DB2-BD59-A6C34878D82A}">
                    <a16:rowId xmlns:a16="http://schemas.microsoft.com/office/drawing/2014/main" val="10002"/>
                  </a:ext>
                </a:extLst>
              </a:tr>
              <a:tr h="533032">
                <a:tc>
                  <a:txBody>
                    <a:bodyPr/>
                    <a:lstStyle/>
                    <a:p>
                      <a:pPr algn="l"/>
                      <a:r>
                        <a:rPr sz="1600" b="0" i="0" u="none">
                          <a:solidFill>
                            <a:srgbClr val="334155"/>
                          </a:solidFill>
                          <a:latin typeface="Lato"/>
                        </a:rPr>
                        <a:t>3</a:t>
                      </a:r>
                    </a:p>
                  </a:txBody>
                  <a:tcPr marL="63500" marR="63500" marT="25400" marB="25400" anchor="ctr">
                    <a:lnL>
                      <a:noFill/>
                    </a:lnL>
                    <a:lnR>
                      <a:noFill/>
                    </a:lnR>
                    <a:lnT>
                      <a:noFill/>
                    </a:lnT>
                    <a:lnB>
                      <a:noFill/>
                    </a:lnB>
                    <a:noFill/>
                  </a:tcPr>
                </a:tc>
                <a:tc>
                  <a:txBody>
                    <a:bodyPr/>
                    <a:lstStyle/>
                    <a:p>
                      <a:pPr algn="l"/>
                      <a:r>
                        <a:rPr sz="1600" b="0" i="0" u="none">
                          <a:solidFill>
                            <a:srgbClr val="334155"/>
                          </a:solidFill>
                          <a:latin typeface="Lato"/>
                        </a:rPr>
                        <a:t>Fazlee</a:t>
                      </a:r>
                    </a:p>
                  </a:txBody>
                  <a:tcPr marL="63500" marR="63500" marT="25400" marB="25400" anchor="ctr">
                    <a:lnL>
                      <a:noFill/>
                    </a:lnL>
                    <a:lnR>
                      <a:noFill/>
                    </a:lnR>
                    <a:lnT>
                      <a:noFill/>
                    </a:lnT>
                    <a:lnB>
                      <a:noFill/>
                    </a:lnB>
                    <a:noFill/>
                  </a:tcPr>
                </a:tc>
                <a:tc>
                  <a:txBody>
                    <a:bodyPr/>
                    <a:lstStyle/>
                    <a:p>
                      <a:pPr algn="l"/>
                      <a:r>
                        <a:rPr sz="1600" b="0" i="0" u="none">
                          <a:solidFill>
                            <a:srgbClr val="334155"/>
                          </a:solidFill>
                          <a:latin typeface="Lato"/>
                        </a:rPr>
                        <a:t>156</a:t>
                      </a:r>
                    </a:p>
                  </a:txBody>
                  <a:tcPr marL="63500" marR="63500" marT="25400" marB="25400" anchor="ctr">
                    <a:lnL>
                      <a:noFill/>
                    </a:lnL>
                    <a:lnR>
                      <a:noFill/>
                    </a:lnR>
                    <a:lnT>
                      <a:noFill/>
                    </a:lnT>
                    <a:lnB>
                      <a:noFill/>
                    </a:lnB>
                    <a:noFill/>
                  </a:tcPr>
                </a:tc>
                <a:tc>
                  <a:txBody>
                    <a:bodyPr/>
                    <a:lstStyle/>
                    <a:p>
                      <a:pPr algn="l"/>
                      <a:r>
                        <a:rPr sz="1600" b="0" i="0" u="none">
                          <a:solidFill>
                            <a:srgbClr val="334155"/>
                          </a:solidFill>
                          <a:latin typeface="Lato"/>
                        </a:rPr>
                        <a:t>7.75%</a:t>
                      </a:r>
                    </a:p>
                  </a:txBody>
                  <a:tcPr marL="63500" marR="63500" marT="25400" marB="25400" anchor="ctr">
                    <a:lnL>
                      <a:noFill/>
                    </a:lnL>
                    <a:lnR>
                      <a:noFill/>
                    </a:lnR>
                    <a:lnT>
                      <a:noFill/>
                    </a:lnT>
                    <a:lnB>
                      <a:noFill/>
                    </a:lnB>
                    <a:noFill/>
                  </a:tcPr>
                </a:tc>
                <a:extLst>
                  <a:ext uri="{0D108BD9-81ED-4DB2-BD59-A6C34878D82A}">
                    <a16:rowId xmlns:a16="http://schemas.microsoft.com/office/drawing/2014/main" val="10003"/>
                  </a:ext>
                </a:extLst>
              </a:tr>
              <a:tr h="533032">
                <a:tc>
                  <a:txBody>
                    <a:bodyPr/>
                    <a:lstStyle/>
                    <a:p>
                      <a:pPr algn="l"/>
                      <a:r>
                        <a:rPr sz="1600" b="0" i="0" u="none">
                          <a:solidFill>
                            <a:srgbClr val="334155"/>
                          </a:solidFill>
                          <a:latin typeface="Lato"/>
                        </a:rPr>
                        <a:t>4</a:t>
                      </a:r>
                    </a:p>
                  </a:txBody>
                  <a:tcPr marL="63500" marR="63500" marT="25400" marB="25400" anchor="ctr">
                    <a:lnL>
                      <a:noFill/>
                    </a:lnL>
                    <a:lnR>
                      <a:noFill/>
                    </a:lnR>
                    <a:lnT>
                      <a:noFill/>
                    </a:lnT>
                    <a:lnB>
                      <a:noFill/>
                    </a:lnB>
                    <a:solidFill>
                      <a:srgbClr val="F8FAFC"/>
                    </a:solidFill>
                  </a:tcPr>
                </a:tc>
                <a:tc>
                  <a:txBody>
                    <a:bodyPr/>
                    <a:lstStyle/>
                    <a:p>
                      <a:pPr algn="l"/>
                      <a:r>
                        <a:rPr sz="1600" b="0" i="0" u="none">
                          <a:solidFill>
                            <a:srgbClr val="334155"/>
                          </a:solidFill>
                          <a:latin typeface="Lato"/>
                        </a:rPr>
                        <a:t>Harivanga</a:t>
                      </a:r>
                    </a:p>
                  </a:txBody>
                  <a:tcPr marL="63500" marR="63500" marT="25400" marB="25400" anchor="ctr">
                    <a:lnL>
                      <a:noFill/>
                    </a:lnL>
                    <a:lnR>
                      <a:noFill/>
                    </a:lnR>
                    <a:lnT>
                      <a:noFill/>
                    </a:lnT>
                    <a:lnB>
                      <a:noFill/>
                    </a:lnB>
                    <a:solidFill>
                      <a:srgbClr val="F8FAFC"/>
                    </a:solidFill>
                  </a:tcPr>
                </a:tc>
                <a:tc>
                  <a:txBody>
                    <a:bodyPr/>
                    <a:lstStyle/>
                    <a:p>
                      <a:pPr algn="l"/>
                      <a:r>
                        <a:rPr sz="1600" b="0" i="0" u="none">
                          <a:solidFill>
                            <a:srgbClr val="334155"/>
                          </a:solidFill>
                          <a:latin typeface="Lato"/>
                        </a:rPr>
                        <a:t>202</a:t>
                      </a:r>
                    </a:p>
                  </a:txBody>
                  <a:tcPr marL="63500" marR="63500" marT="25400" marB="25400" anchor="ctr">
                    <a:lnL>
                      <a:noFill/>
                    </a:lnL>
                    <a:lnR>
                      <a:noFill/>
                    </a:lnR>
                    <a:lnT>
                      <a:noFill/>
                    </a:lnT>
                    <a:lnB>
                      <a:noFill/>
                    </a:lnB>
                    <a:solidFill>
                      <a:srgbClr val="F8FAFC"/>
                    </a:solidFill>
                  </a:tcPr>
                </a:tc>
                <a:tc>
                  <a:txBody>
                    <a:bodyPr/>
                    <a:lstStyle/>
                    <a:p>
                      <a:pPr algn="l"/>
                      <a:r>
                        <a:rPr sz="1600" b="0" i="0" u="none" dirty="0">
                          <a:solidFill>
                            <a:srgbClr val="334155"/>
                          </a:solidFill>
                          <a:latin typeface="Lato"/>
                        </a:rPr>
                        <a:t>10.04%</a:t>
                      </a:r>
                    </a:p>
                  </a:txBody>
                  <a:tcPr marL="63500" marR="63500" marT="25400" marB="25400" anchor="ctr">
                    <a:lnL>
                      <a:noFill/>
                    </a:lnL>
                    <a:lnR>
                      <a:noFill/>
                    </a:lnR>
                    <a:lnT>
                      <a:noFill/>
                    </a:lnT>
                    <a:lnB>
                      <a:noFill/>
                    </a:lnB>
                    <a:solidFill>
                      <a:srgbClr val="F8FAFC"/>
                    </a:solidFill>
                  </a:tcPr>
                </a:tc>
                <a:extLst>
                  <a:ext uri="{0D108BD9-81ED-4DB2-BD59-A6C34878D82A}">
                    <a16:rowId xmlns:a16="http://schemas.microsoft.com/office/drawing/2014/main" val="10004"/>
                  </a:ext>
                </a:extLst>
              </a:tr>
              <a:tr h="533032">
                <a:tc>
                  <a:txBody>
                    <a:bodyPr/>
                    <a:lstStyle/>
                    <a:p>
                      <a:pPr algn="l"/>
                      <a:r>
                        <a:rPr sz="1600" b="0" i="0" u="none">
                          <a:solidFill>
                            <a:srgbClr val="334155"/>
                          </a:solidFill>
                          <a:latin typeface="Lato"/>
                        </a:rPr>
                        <a:t>5</a:t>
                      </a:r>
                    </a:p>
                  </a:txBody>
                  <a:tcPr marL="63500" marR="63500" marT="25400" marB="25400" anchor="ctr">
                    <a:lnL>
                      <a:noFill/>
                    </a:lnL>
                    <a:lnR>
                      <a:noFill/>
                    </a:lnR>
                    <a:lnT>
                      <a:noFill/>
                    </a:lnT>
                    <a:lnB>
                      <a:noFill/>
                    </a:lnB>
                    <a:noFill/>
                  </a:tcPr>
                </a:tc>
                <a:tc>
                  <a:txBody>
                    <a:bodyPr/>
                    <a:lstStyle/>
                    <a:p>
                      <a:pPr algn="l"/>
                      <a:r>
                        <a:rPr sz="1600" b="0" i="0" u="none">
                          <a:solidFill>
                            <a:srgbClr val="334155"/>
                          </a:solidFill>
                          <a:latin typeface="Lato"/>
                        </a:rPr>
                        <a:t>Kanchon Langra &amp; Langra</a:t>
                      </a:r>
                    </a:p>
                  </a:txBody>
                  <a:tcPr marL="63500" marR="63500" marT="25400" marB="25400" anchor="ctr">
                    <a:lnL>
                      <a:noFill/>
                    </a:lnL>
                    <a:lnR>
                      <a:noFill/>
                    </a:lnR>
                    <a:lnT>
                      <a:noFill/>
                    </a:lnT>
                    <a:lnB>
                      <a:noFill/>
                    </a:lnB>
                    <a:noFill/>
                  </a:tcPr>
                </a:tc>
                <a:tc>
                  <a:txBody>
                    <a:bodyPr/>
                    <a:lstStyle/>
                    <a:p>
                      <a:pPr algn="l"/>
                      <a:r>
                        <a:rPr sz="1600" b="0" i="0" u="none">
                          <a:solidFill>
                            <a:srgbClr val="334155"/>
                          </a:solidFill>
                          <a:latin typeface="Lato"/>
                        </a:rPr>
                        <a:t>412</a:t>
                      </a:r>
                    </a:p>
                  </a:txBody>
                  <a:tcPr marL="63500" marR="63500" marT="25400" marB="25400" anchor="ctr">
                    <a:lnL>
                      <a:noFill/>
                    </a:lnL>
                    <a:lnR>
                      <a:noFill/>
                    </a:lnR>
                    <a:lnT>
                      <a:noFill/>
                    </a:lnT>
                    <a:lnB>
                      <a:noFill/>
                    </a:lnB>
                    <a:noFill/>
                  </a:tcPr>
                </a:tc>
                <a:tc>
                  <a:txBody>
                    <a:bodyPr/>
                    <a:lstStyle/>
                    <a:p>
                      <a:pPr algn="l"/>
                      <a:r>
                        <a:rPr sz="1600" b="0" i="0" u="none">
                          <a:solidFill>
                            <a:srgbClr val="334155"/>
                          </a:solidFill>
                          <a:latin typeface="Lato"/>
                        </a:rPr>
                        <a:t>20.48%</a:t>
                      </a:r>
                    </a:p>
                  </a:txBody>
                  <a:tcPr marL="63500" marR="63500" marT="25400" marB="25400" anchor="ctr">
                    <a:lnL>
                      <a:noFill/>
                    </a:lnL>
                    <a:lnR>
                      <a:noFill/>
                    </a:lnR>
                    <a:lnT>
                      <a:noFill/>
                    </a:lnT>
                    <a:lnB>
                      <a:noFill/>
                    </a:lnB>
                    <a:noFill/>
                  </a:tcPr>
                </a:tc>
                <a:extLst>
                  <a:ext uri="{0D108BD9-81ED-4DB2-BD59-A6C34878D82A}">
                    <a16:rowId xmlns:a16="http://schemas.microsoft.com/office/drawing/2014/main" val="10005"/>
                  </a:ext>
                </a:extLst>
              </a:tr>
              <a:tr h="870157">
                <a:tc>
                  <a:txBody>
                    <a:bodyPr/>
                    <a:lstStyle/>
                    <a:p>
                      <a:pPr algn="l"/>
                      <a:r>
                        <a:rPr sz="1600" b="0" i="0" u="none">
                          <a:solidFill>
                            <a:srgbClr val="334155"/>
                          </a:solidFill>
                          <a:latin typeface="Lato"/>
                        </a:rPr>
                        <a:t>6</a:t>
                      </a:r>
                    </a:p>
                  </a:txBody>
                  <a:tcPr marL="63500" marR="63500" marT="25400" marB="25400" anchor="ctr">
                    <a:lnL>
                      <a:noFill/>
                    </a:lnL>
                    <a:lnR>
                      <a:noFill/>
                    </a:lnR>
                    <a:lnT>
                      <a:noFill/>
                    </a:lnT>
                    <a:lnB>
                      <a:noFill/>
                    </a:lnB>
                    <a:solidFill>
                      <a:srgbClr val="F8FAFC"/>
                    </a:solidFill>
                  </a:tcPr>
                </a:tc>
                <a:tc>
                  <a:txBody>
                    <a:bodyPr/>
                    <a:lstStyle/>
                    <a:p>
                      <a:pPr algn="l"/>
                      <a:r>
                        <a:rPr sz="1600" b="0" i="0" u="none">
                          <a:solidFill>
                            <a:srgbClr val="334155"/>
                          </a:solidFill>
                          <a:latin typeface="Lato"/>
                        </a:rPr>
                        <a:t>Other Native Types (Bari-7, Katimon, Mollika, Nilambori)</a:t>
                      </a:r>
                    </a:p>
                  </a:txBody>
                  <a:tcPr marL="63500" marR="63500" marT="25400" marB="25400" anchor="ctr">
                    <a:lnL>
                      <a:noFill/>
                    </a:lnL>
                    <a:lnR>
                      <a:noFill/>
                    </a:lnR>
                    <a:lnT>
                      <a:noFill/>
                    </a:lnT>
                    <a:lnB>
                      <a:noFill/>
                    </a:lnB>
                    <a:solidFill>
                      <a:srgbClr val="F8FAFC"/>
                    </a:solidFill>
                  </a:tcPr>
                </a:tc>
                <a:tc>
                  <a:txBody>
                    <a:bodyPr/>
                    <a:lstStyle/>
                    <a:p>
                      <a:pPr algn="l"/>
                      <a:r>
                        <a:rPr sz="1600" b="0" i="0" u="none">
                          <a:solidFill>
                            <a:srgbClr val="334155"/>
                          </a:solidFill>
                          <a:latin typeface="Lato"/>
                        </a:rPr>
                        <a:t>755</a:t>
                      </a:r>
                    </a:p>
                  </a:txBody>
                  <a:tcPr marL="63500" marR="63500" marT="25400" marB="25400" anchor="ctr">
                    <a:lnL>
                      <a:noFill/>
                    </a:lnL>
                    <a:lnR>
                      <a:noFill/>
                    </a:lnR>
                    <a:lnT>
                      <a:noFill/>
                    </a:lnT>
                    <a:lnB>
                      <a:noFill/>
                    </a:lnB>
                    <a:solidFill>
                      <a:srgbClr val="F8FAFC"/>
                    </a:solidFill>
                  </a:tcPr>
                </a:tc>
                <a:tc>
                  <a:txBody>
                    <a:bodyPr/>
                    <a:lstStyle/>
                    <a:p>
                      <a:pPr algn="l"/>
                      <a:r>
                        <a:rPr sz="1600" b="0" i="0" u="none">
                          <a:solidFill>
                            <a:srgbClr val="334155"/>
                          </a:solidFill>
                          <a:latin typeface="Lato"/>
                        </a:rPr>
                        <a:t>37.52%</a:t>
                      </a:r>
                    </a:p>
                  </a:txBody>
                  <a:tcPr marL="63500" marR="63500" marT="25400" marB="25400" anchor="ctr">
                    <a:lnL>
                      <a:noFill/>
                    </a:lnL>
                    <a:lnR>
                      <a:noFill/>
                    </a:lnR>
                    <a:lnT>
                      <a:noFill/>
                    </a:lnT>
                    <a:lnB>
                      <a:noFill/>
                    </a:lnB>
                    <a:solidFill>
                      <a:srgbClr val="F8FAFC"/>
                    </a:solidFill>
                  </a:tcPr>
                </a:tc>
                <a:extLst>
                  <a:ext uri="{0D108BD9-81ED-4DB2-BD59-A6C34878D82A}">
                    <a16:rowId xmlns:a16="http://schemas.microsoft.com/office/drawing/2014/main" val="10006"/>
                  </a:ext>
                </a:extLst>
              </a:tr>
              <a:tr h="870157">
                <a:tc>
                  <a:txBody>
                    <a:bodyPr/>
                    <a:lstStyle/>
                    <a:p>
                      <a:pPr algn="l"/>
                      <a:r>
                        <a:rPr sz="1600" b="1" i="0" u="none">
                          <a:solidFill>
                            <a:srgbClr val="334155"/>
                          </a:solidFill>
                          <a:latin typeface="Lato"/>
                        </a:rPr>
                        <a:t>Total</a:t>
                      </a:r>
                    </a:p>
                  </a:txBody>
                  <a:tcPr marL="63500" marR="63500" marT="25400" marB="25400" anchor="ctr">
                    <a:lnL>
                      <a:noFill/>
                    </a:lnL>
                    <a:lnR>
                      <a:noFill/>
                    </a:lnR>
                    <a:lnT>
                      <a:noFill/>
                    </a:lnT>
                    <a:lnB>
                      <a:noFill/>
                    </a:lnB>
                    <a:noFill/>
                  </a:tcPr>
                </a:tc>
                <a:tc>
                  <a:txBody>
                    <a:bodyPr/>
                    <a:lstStyle/>
                    <a:p>
                      <a:pPr algn="l"/>
                      <a:r>
                        <a:rPr sz="1600" b="1" i="0" u="none" dirty="0">
                          <a:solidFill>
                            <a:srgbClr val="334155"/>
                          </a:solidFill>
                          <a:latin typeface="Lato"/>
                        </a:rPr>
                        <a:t>10 Indigenous Classes</a:t>
                      </a:r>
                    </a:p>
                  </a:txBody>
                  <a:tcPr marL="63500" marR="63500" marT="25400" marB="25400" anchor="ctr">
                    <a:lnL>
                      <a:noFill/>
                    </a:lnL>
                    <a:lnR>
                      <a:noFill/>
                    </a:lnR>
                    <a:lnT>
                      <a:noFill/>
                    </a:lnT>
                    <a:lnB>
                      <a:noFill/>
                    </a:lnB>
                    <a:noFill/>
                  </a:tcPr>
                </a:tc>
                <a:tc>
                  <a:txBody>
                    <a:bodyPr/>
                    <a:lstStyle/>
                    <a:p>
                      <a:pPr algn="l"/>
                      <a:r>
                        <a:rPr sz="1600" b="1" i="0" u="none">
                          <a:solidFill>
                            <a:srgbClr val="334155"/>
                          </a:solidFill>
                          <a:latin typeface="Lato"/>
                        </a:rPr>
                        <a:t>2,012 Images</a:t>
                      </a:r>
                    </a:p>
                  </a:txBody>
                  <a:tcPr marL="63500" marR="63500" marT="25400" marB="25400" anchor="ctr">
                    <a:lnL>
                      <a:noFill/>
                    </a:lnL>
                    <a:lnR>
                      <a:noFill/>
                    </a:lnR>
                    <a:lnT>
                      <a:noFill/>
                    </a:lnT>
                    <a:lnB>
                      <a:noFill/>
                    </a:lnB>
                    <a:noFill/>
                  </a:tcPr>
                </a:tc>
                <a:tc>
                  <a:txBody>
                    <a:bodyPr/>
                    <a:lstStyle/>
                    <a:p>
                      <a:pPr algn="l"/>
                      <a:r>
                        <a:rPr sz="1600" b="1" i="0" u="none" dirty="0">
                          <a:solidFill>
                            <a:srgbClr val="334155"/>
                          </a:solidFill>
                          <a:latin typeface="Lato"/>
                        </a:rPr>
                        <a:t>100.0%</a:t>
                      </a:r>
                    </a:p>
                  </a:txBody>
                  <a:tcPr marL="63500" marR="63500" marT="25400" marB="25400" anchor="ctr">
                    <a:lnL>
                      <a:noFill/>
                    </a:lnL>
                    <a:lnR>
                      <a:noFill/>
                    </a:lnR>
                    <a:lnT>
                      <a:noFill/>
                    </a:lnT>
                    <a:lnB>
                      <a:noFill/>
                    </a:lnB>
                    <a:noFill/>
                  </a:tcPr>
                </a:tc>
                <a:extLst>
                  <a:ext uri="{0D108BD9-81ED-4DB2-BD59-A6C34878D82A}">
                    <a16:rowId xmlns:a16="http://schemas.microsoft.com/office/drawing/2014/main" val="10007"/>
                  </a:ext>
                </a:extLst>
              </a:tr>
            </a:tbl>
          </a:graphicData>
        </a:graphic>
      </p:graphicFrame>
      <p:sp>
        <p:nvSpPr>
          <p:cNvPr id="4" name="Rectangle 3"/>
          <p:cNvSpPr/>
          <p:nvPr/>
        </p:nvSpPr>
        <p:spPr>
          <a:xfrm>
            <a:off x="571500" y="2350293"/>
            <a:ext cx="1256407"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1827907" y="2350293"/>
            <a:ext cx="5567511"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7395418" y="2350293"/>
            <a:ext cx="188461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9280028" y="2350293"/>
            <a:ext cx="2340471"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71500" y="2831306"/>
            <a:ext cx="1256407"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1827907" y="2831306"/>
            <a:ext cx="5567511"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7395418" y="2831306"/>
            <a:ext cx="188461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9280028" y="2831306"/>
            <a:ext cx="2340471"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571500" y="3312318"/>
            <a:ext cx="1256407"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1827907" y="3312318"/>
            <a:ext cx="5567511"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7395418" y="3312318"/>
            <a:ext cx="188461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9280028" y="3312318"/>
            <a:ext cx="2340471"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571500" y="3793331"/>
            <a:ext cx="1256407"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1827907" y="3793331"/>
            <a:ext cx="5567511"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7395418" y="3793331"/>
            <a:ext cx="188461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9280028" y="3793331"/>
            <a:ext cx="2340471"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571500" y="4274343"/>
            <a:ext cx="1256407"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1827907" y="4274343"/>
            <a:ext cx="5567511"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7395418" y="4274343"/>
            <a:ext cx="188461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9280028" y="4274343"/>
            <a:ext cx="2340471"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571500" y="4755356"/>
            <a:ext cx="1256407"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1827907" y="4755356"/>
            <a:ext cx="5567511"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7395418" y="4755356"/>
            <a:ext cx="188461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9280028" y="4755356"/>
            <a:ext cx="2340471"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571500" y="5236368"/>
            <a:ext cx="1256407"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1827907" y="5236368"/>
            <a:ext cx="5567511"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7395418" y="5236368"/>
            <a:ext cx="188461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9280028" y="5236368"/>
            <a:ext cx="2340471"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571500" y="5717381"/>
            <a:ext cx="1256407"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1827907" y="5717381"/>
            <a:ext cx="5567511"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7395418" y="5717381"/>
            <a:ext cx="188461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9280028" y="5717381"/>
            <a:ext cx="2340471"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571500" y="476250"/>
            <a:ext cx="11601450" cy="615553"/>
          </a:xfrm>
          <a:prstGeom prst="rect">
            <a:avLst/>
          </a:prstGeom>
          <a:noFill/>
        </p:spPr>
        <p:txBody>
          <a:bodyPr wrap="square" lIns="0" tIns="0" rIns="0" bIns="0" anchor="t">
            <a:spAutoFit/>
          </a:bodyPr>
          <a:lstStyle/>
          <a:p>
            <a:pPr algn="l"/>
            <a:r>
              <a:rPr sz="4000" b="0" i="0" u="none" dirty="0">
                <a:solidFill>
                  <a:srgbClr val="064E3B"/>
                </a:solidFill>
                <a:latin typeface="Poppins SemiBold"/>
              </a:rPr>
              <a:t>Mangifera2012 Dataset Details</a:t>
            </a:r>
          </a:p>
        </p:txBody>
      </p:sp>
      <p:pic>
        <p:nvPicPr>
          <p:cNvPr id="37" name="Picture 36">
            <a:extLst>
              <a:ext uri="{FF2B5EF4-FFF2-40B4-BE49-F238E27FC236}">
                <a16:creationId xmlns:a16="http://schemas.microsoft.com/office/drawing/2014/main" id="{246E58F5-7801-C89C-7F58-51BF0D2459DD}"/>
              </a:ext>
            </a:extLst>
          </p:cNvPr>
          <p:cNvPicPr>
            <a:picLocks noChangeAspect="1"/>
          </p:cNvPicPr>
          <p:nvPr/>
        </p:nvPicPr>
        <p:blipFill>
          <a:blip r:embed="rId4"/>
          <a:stretch>
            <a:fillRect/>
          </a:stretch>
        </p:blipFill>
        <p:spPr>
          <a:xfrm>
            <a:off x="6311354" y="1154840"/>
            <a:ext cx="5745179" cy="5275632"/>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0" y="0"/>
            <a:ext cx="12192000" cy="6858000"/>
          </a:xfrm>
          <a:prstGeom prst="rect">
            <a:avLst/>
          </a:prstGeom>
        </p:spPr>
      </p:pic>
      <p:sp>
        <p:nvSpPr>
          <p:cNvPr id="3" name="Rectangle 2"/>
          <p:cNvSpPr/>
          <p:nvPr/>
        </p:nvSpPr>
        <p:spPr>
          <a:xfrm>
            <a:off x="571500" y="3795712"/>
            <a:ext cx="11049000" cy="38100"/>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10733" y="4052887"/>
            <a:ext cx="2552193" cy="369332"/>
          </a:xfrm>
          <a:prstGeom prst="rect">
            <a:avLst/>
          </a:prstGeom>
          <a:noFill/>
        </p:spPr>
        <p:txBody>
          <a:bodyPr wrap="square" lIns="0" tIns="0" rIns="0" bIns="0" anchor="t">
            <a:spAutoFit/>
          </a:bodyPr>
          <a:lstStyle/>
          <a:p>
            <a:pPr algn="ctr"/>
            <a:r>
              <a:rPr sz="2400" b="0" i="0" u="none" dirty="0">
                <a:solidFill>
                  <a:srgbClr val="0F766E"/>
                </a:solidFill>
                <a:latin typeface="Poppins SemiBold"/>
              </a:rPr>
              <a:t>1. Data Prep</a:t>
            </a:r>
          </a:p>
        </p:txBody>
      </p:sp>
      <p:sp>
        <p:nvSpPr>
          <p:cNvPr id="5" name="TextBox 4"/>
          <p:cNvSpPr txBox="1"/>
          <p:nvPr/>
        </p:nvSpPr>
        <p:spPr>
          <a:xfrm>
            <a:off x="571500" y="4462462"/>
            <a:ext cx="2430660" cy="1218282"/>
          </a:xfrm>
          <a:prstGeom prst="rect">
            <a:avLst/>
          </a:prstGeom>
          <a:noFill/>
        </p:spPr>
        <p:txBody>
          <a:bodyPr wrap="square" lIns="0" tIns="0" rIns="0" bIns="0" anchor="t">
            <a:spAutoFit/>
          </a:bodyPr>
          <a:lstStyle/>
          <a:p>
            <a:pPr algn="ctr">
              <a:lnSpc>
                <a:spcPts val="1912"/>
              </a:lnSpc>
            </a:pPr>
            <a:r>
              <a:rPr sz="2000" b="0" i="0" u="none" dirty="0">
                <a:solidFill>
                  <a:srgbClr val="334155"/>
                </a:solidFill>
                <a:latin typeface="Lato"/>
              </a:rPr>
              <a:t>Image resizing (224x224), dynamic normalization &amp; online data augmentation.</a:t>
            </a:r>
          </a:p>
        </p:txBody>
      </p:sp>
      <p:sp>
        <p:nvSpPr>
          <p:cNvPr id="6" name="TextBox 5"/>
          <p:cNvSpPr txBox="1"/>
          <p:nvPr/>
        </p:nvSpPr>
        <p:spPr>
          <a:xfrm>
            <a:off x="3383413" y="1782229"/>
            <a:ext cx="2552193" cy="738664"/>
          </a:xfrm>
          <a:prstGeom prst="rect">
            <a:avLst/>
          </a:prstGeom>
          <a:noFill/>
        </p:spPr>
        <p:txBody>
          <a:bodyPr wrap="square" lIns="0" tIns="0" rIns="0" bIns="0" anchor="t">
            <a:spAutoFit/>
          </a:bodyPr>
          <a:lstStyle/>
          <a:p>
            <a:pPr algn="ctr"/>
            <a:r>
              <a:rPr sz="2400" b="0" i="0" u="none" dirty="0">
                <a:solidFill>
                  <a:srgbClr val="0F766E"/>
                </a:solidFill>
                <a:latin typeface="Poppins SemiBold"/>
              </a:rPr>
              <a:t>2. Transfer Learning</a:t>
            </a:r>
          </a:p>
        </p:txBody>
      </p:sp>
      <p:sp>
        <p:nvSpPr>
          <p:cNvPr id="7" name="TextBox 6"/>
          <p:cNvSpPr txBox="1"/>
          <p:nvPr/>
        </p:nvSpPr>
        <p:spPr>
          <a:xfrm>
            <a:off x="3444180" y="2519184"/>
            <a:ext cx="2430660" cy="1218282"/>
          </a:xfrm>
          <a:prstGeom prst="rect">
            <a:avLst/>
          </a:prstGeom>
          <a:noFill/>
        </p:spPr>
        <p:txBody>
          <a:bodyPr wrap="square" lIns="0" tIns="0" rIns="0" bIns="0" anchor="t">
            <a:spAutoFit/>
          </a:bodyPr>
          <a:lstStyle/>
          <a:p>
            <a:pPr algn="ctr">
              <a:lnSpc>
                <a:spcPts val="1912"/>
              </a:lnSpc>
            </a:pPr>
            <a:r>
              <a:rPr sz="2000" b="0" i="0" u="none" dirty="0">
                <a:solidFill>
                  <a:srgbClr val="334155"/>
                </a:solidFill>
                <a:latin typeface="Lato"/>
              </a:rPr>
              <a:t>Frozen ImageNet backbones trained with custom GAP + Dense classification head.</a:t>
            </a:r>
          </a:p>
        </p:txBody>
      </p:sp>
      <p:sp>
        <p:nvSpPr>
          <p:cNvPr id="8" name="TextBox 7"/>
          <p:cNvSpPr txBox="1"/>
          <p:nvPr/>
        </p:nvSpPr>
        <p:spPr>
          <a:xfrm>
            <a:off x="6256094" y="4052887"/>
            <a:ext cx="2552193" cy="738664"/>
          </a:xfrm>
          <a:prstGeom prst="rect">
            <a:avLst/>
          </a:prstGeom>
          <a:noFill/>
        </p:spPr>
        <p:txBody>
          <a:bodyPr wrap="square" lIns="0" tIns="0" rIns="0" bIns="0" anchor="t">
            <a:spAutoFit/>
          </a:bodyPr>
          <a:lstStyle/>
          <a:p>
            <a:pPr algn="ctr"/>
            <a:r>
              <a:rPr sz="2400" b="0" i="0" u="none" dirty="0">
                <a:solidFill>
                  <a:srgbClr val="0F766E"/>
                </a:solidFill>
                <a:latin typeface="Poppins SemiBold"/>
              </a:rPr>
              <a:t>3. Benchmarking</a:t>
            </a:r>
          </a:p>
        </p:txBody>
      </p:sp>
      <p:sp>
        <p:nvSpPr>
          <p:cNvPr id="9" name="TextBox 8"/>
          <p:cNvSpPr txBox="1"/>
          <p:nvPr/>
        </p:nvSpPr>
        <p:spPr>
          <a:xfrm>
            <a:off x="6316860" y="4801132"/>
            <a:ext cx="2430660" cy="974626"/>
          </a:xfrm>
          <a:prstGeom prst="rect">
            <a:avLst/>
          </a:prstGeom>
          <a:noFill/>
        </p:spPr>
        <p:txBody>
          <a:bodyPr wrap="square" lIns="0" tIns="0" rIns="0" bIns="0" anchor="t">
            <a:spAutoFit/>
          </a:bodyPr>
          <a:lstStyle/>
          <a:p>
            <a:pPr algn="ctr">
              <a:lnSpc>
                <a:spcPts val="1912"/>
              </a:lnSpc>
            </a:pPr>
            <a:r>
              <a:rPr sz="2000" b="0" i="0" u="none" dirty="0">
                <a:solidFill>
                  <a:srgbClr val="334155"/>
                </a:solidFill>
                <a:latin typeface="Lato"/>
              </a:rPr>
              <a:t>Multi-objective analysis of accuracy, F1-score, size, and mobile latency.</a:t>
            </a:r>
          </a:p>
        </p:txBody>
      </p:sp>
      <p:sp>
        <p:nvSpPr>
          <p:cNvPr id="10" name="TextBox 9"/>
          <p:cNvSpPr txBox="1"/>
          <p:nvPr/>
        </p:nvSpPr>
        <p:spPr>
          <a:xfrm>
            <a:off x="9128774" y="1816097"/>
            <a:ext cx="2552193" cy="738664"/>
          </a:xfrm>
          <a:prstGeom prst="rect">
            <a:avLst/>
          </a:prstGeom>
          <a:noFill/>
        </p:spPr>
        <p:txBody>
          <a:bodyPr wrap="square" lIns="0" tIns="0" rIns="0" bIns="0" anchor="t">
            <a:spAutoFit/>
          </a:bodyPr>
          <a:lstStyle/>
          <a:p>
            <a:pPr algn="ctr"/>
            <a:r>
              <a:rPr sz="2400" b="0" i="0" u="none" dirty="0">
                <a:solidFill>
                  <a:srgbClr val="0F766E"/>
                </a:solidFill>
                <a:latin typeface="Poppins SemiBold"/>
              </a:rPr>
              <a:t>4. Edge Deployment</a:t>
            </a:r>
          </a:p>
        </p:txBody>
      </p:sp>
      <p:sp>
        <p:nvSpPr>
          <p:cNvPr id="11" name="TextBox 10"/>
          <p:cNvSpPr txBox="1"/>
          <p:nvPr/>
        </p:nvSpPr>
        <p:spPr>
          <a:xfrm>
            <a:off x="9189541" y="2733675"/>
            <a:ext cx="2430660" cy="974626"/>
          </a:xfrm>
          <a:prstGeom prst="rect">
            <a:avLst/>
          </a:prstGeom>
          <a:noFill/>
        </p:spPr>
        <p:txBody>
          <a:bodyPr wrap="square" lIns="0" tIns="0" rIns="0" bIns="0" anchor="t">
            <a:spAutoFit/>
          </a:bodyPr>
          <a:lstStyle/>
          <a:p>
            <a:pPr algn="ctr">
              <a:lnSpc>
                <a:spcPts val="1912"/>
              </a:lnSpc>
            </a:pPr>
            <a:r>
              <a:rPr sz="2000" b="0" i="0" u="none" dirty="0" err="1">
                <a:solidFill>
                  <a:srgbClr val="334155"/>
                </a:solidFill>
                <a:latin typeface="Lato"/>
              </a:rPr>
              <a:t>TFLite</a:t>
            </a:r>
            <a:r>
              <a:rPr sz="2000" b="0" i="0" u="none" dirty="0">
                <a:solidFill>
                  <a:srgbClr val="334155"/>
                </a:solidFill>
                <a:latin typeface="Lato"/>
              </a:rPr>
              <a:t> Float16 quantization &amp; Flutter integration for </a:t>
            </a:r>
            <a:r>
              <a:rPr sz="2000" b="0" i="0" u="none" dirty="0" err="1">
                <a:solidFill>
                  <a:srgbClr val="334155"/>
                </a:solidFill>
                <a:latin typeface="Lato"/>
              </a:rPr>
              <a:t>AmmChini</a:t>
            </a:r>
            <a:r>
              <a:rPr sz="2000" b="0" i="0" u="none" dirty="0">
                <a:solidFill>
                  <a:srgbClr val="334155"/>
                </a:solidFill>
                <a:latin typeface="Lato"/>
              </a:rPr>
              <a:t> AI app.</a:t>
            </a:r>
          </a:p>
        </p:txBody>
      </p:sp>
      <p:sp>
        <p:nvSpPr>
          <p:cNvPr id="12" name="TextBox 11"/>
          <p:cNvSpPr txBox="1"/>
          <p:nvPr/>
        </p:nvSpPr>
        <p:spPr>
          <a:xfrm>
            <a:off x="571500" y="476250"/>
            <a:ext cx="11601450" cy="615553"/>
          </a:xfrm>
          <a:prstGeom prst="rect">
            <a:avLst/>
          </a:prstGeom>
          <a:noFill/>
        </p:spPr>
        <p:txBody>
          <a:bodyPr wrap="square" lIns="0" tIns="0" rIns="0" bIns="0" anchor="t">
            <a:spAutoFit/>
          </a:bodyPr>
          <a:lstStyle/>
          <a:p>
            <a:pPr algn="l"/>
            <a:r>
              <a:rPr sz="4000" b="0" i="0" u="none" dirty="0">
                <a:solidFill>
                  <a:srgbClr val="064E3B"/>
                </a:solidFill>
                <a:latin typeface="Poppins SemiBold"/>
              </a:rPr>
              <a:t>End-to-End Methodological Pipeline</a:t>
            </a:r>
          </a:p>
        </p:txBody>
      </p:sp>
      <p:sp>
        <p:nvSpPr>
          <p:cNvPr id="13" name="Rounded Rectangle 12"/>
          <p:cNvSpPr/>
          <p:nvPr/>
        </p:nvSpPr>
        <p:spPr>
          <a:xfrm>
            <a:off x="1701105" y="3729037"/>
            <a:ext cx="171450" cy="171450"/>
          </a:xfrm>
          <a:prstGeom prst="roundRect">
            <a:avLst>
              <a:gd name="adj" fmla="val 50000"/>
            </a:avLst>
          </a:prstGeom>
          <a:solidFill>
            <a:srgbClr val="FFFFFF"/>
          </a:solidFill>
          <a:ln w="38100">
            <a:solidFill>
              <a:srgbClr val="05966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4573785" y="3729037"/>
            <a:ext cx="171450" cy="171450"/>
          </a:xfrm>
          <a:prstGeom prst="roundRect">
            <a:avLst>
              <a:gd name="adj" fmla="val 50000"/>
            </a:avLst>
          </a:prstGeom>
          <a:solidFill>
            <a:srgbClr val="FFFFFF"/>
          </a:solidFill>
          <a:ln w="38100">
            <a:solidFill>
              <a:srgbClr val="05966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7446466" y="3729037"/>
            <a:ext cx="171450" cy="171450"/>
          </a:xfrm>
          <a:prstGeom prst="roundRect">
            <a:avLst>
              <a:gd name="adj" fmla="val 50000"/>
            </a:avLst>
          </a:prstGeom>
          <a:solidFill>
            <a:srgbClr val="FFFFFF"/>
          </a:solidFill>
          <a:ln w="38100">
            <a:solidFill>
              <a:srgbClr val="05966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10319146" y="3729037"/>
            <a:ext cx="171450" cy="171450"/>
          </a:xfrm>
          <a:prstGeom prst="roundRect">
            <a:avLst>
              <a:gd name="adj" fmla="val 50000"/>
            </a:avLst>
          </a:prstGeom>
          <a:solidFill>
            <a:srgbClr val="FFFFFF"/>
          </a:solidFill>
          <a:ln w="38100">
            <a:solidFill>
              <a:srgbClr val="05966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9580B3A-C236-692F-1CD0-5F87EC5D307A}"/>
              </a:ext>
            </a:extLst>
          </p:cNvPr>
          <p:cNvPicPr>
            <a:picLocks noChangeAspect="1"/>
          </p:cNvPicPr>
          <p:nvPr/>
        </p:nvPicPr>
        <p:blipFill>
          <a:blip r:embed="rId3"/>
          <a:stretch>
            <a:fillRect/>
          </a:stretch>
        </p:blipFill>
        <p:spPr>
          <a:xfrm>
            <a:off x="620889" y="945444"/>
            <a:ext cx="10611555" cy="5912556"/>
          </a:xfrm>
          <a:prstGeom prst="rect">
            <a:avLst/>
          </a:prstGeom>
        </p:spPr>
      </p:pic>
      <p:sp>
        <p:nvSpPr>
          <p:cNvPr id="7" name="TextBox 6">
            <a:extLst>
              <a:ext uri="{FF2B5EF4-FFF2-40B4-BE49-F238E27FC236}">
                <a16:creationId xmlns:a16="http://schemas.microsoft.com/office/drawing/2014/main" id="{E2C2FF2A-8D43-9538-0A23-1A8823B16BD9}"/>
              </a:ext>
            </a:extLst>
          </p:cNvPr>
          <p:cNvSpPr txBox="1"/>
          <p:nvPr/>
        </p:nvSpPr>
        <p:spPr>
          <a:xfrm>
            <a:off x="571500" y="250470"/>
            <a:ext cx="11601450" cy="615553"/>
          </a:xfrm>
          <a:prstGeom prst="rect">
            <a:avLst/>
          </a:prstGeom>
          <a:noFill/>
        </p:spPr>
        <p:txBody>
          <a:bodyPr wrap="square" lIns="0" tIns="0" rIns="0" bIns="0" anchor="t">
            <a:spAutoFit/>
          </a:bodyPr>
          <a:lstStyle/>
          <a:p>
            <a:pPr algn="l"/>
            <a:r>
              <a:rPr lang="en-US" sz="4000" b="0" i="0" u="none" dirty="0">
                <a:solidFill>
                  <a:srgbClr val="064E3B"/>
                </a:solidFill>
                <a:latin typeface="Poppins SemiBold"/>
              </a:rPr>
              <a:t>Methodology Workflow</a:t>
            </a:r>
            <a:endParaRPr sz="4000" b="0" i="0" u="none" dirty="0">
              <a:solidFill>
                <a:srgbClr val="064E3B"/>
              </a:solidFill>
              <a:latin typeface="Poppins SemiBold"/>
            </a:endParaRPr>
          </a:p>
        </p:txBody>
      </p:sp>
    </p:spTree>
    <p:extLst>
      <p:ext uri="{BB962C8B-B14F-4D97-AF65-F5344CB8AC3E}">
        <p14:creationId xmlns:p14="http://schemas.microsoft.com/office/powerpoint/2010/main" val="21865688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4"/>
          <a:stretch>
            <a:fillRect/>
          </a:stretch>
        </p:blipFill>
        <p:spPr>
          <a:xfrm>
            <a:off x="571500" y="2664618"/>
            <a:ext cx="3530649" cy="2300287"/>
          </a:xfrm>
          <a:prstGeom prst="rect">
            <a:avLst/>
          </a:prstGeom>
        </p:spPr>
      </p:pic>
      <p:pic>
        <p:nvPicPr>
          <p:cNvPr id="4" name="Picture 3" descr="image.png"/>
          <p:cNvPicPr>
            <a:picLocks noChangeAspect="1"/>
          </p:cNvPicPr>
          <p:nvPr/>
        </p:nvPicPr>
        <p:blipFill>
          <a:blip r:embed="rId5"/>
          <a:stretch>
            <a:fillRect/>
          </a:stretch>
        </p:blipFill>
        <p:spPr>
          <a:xfrm>
            <a:off x="4330749" y="2664618"/>
            <a:ext cx="3530649" cy="2300287"/>
          </a:xfrm>
          <a:prstGeom prst="rect">
            <a:avLst/>
          </a:prstGeom>
        </p:spPr>
      </p:pic>
      <p:pic>
        <p:nvPicPr>
          <p:cNvPr id="5" name="Picture 4" descr="image.png"/>
          <p:cNvPicPr>
            <a:picLocks noChangeAspect="1"/>
          </p:cNvPicPr>
          <p:nvPr/>
        </p:nvPicPr>
        <p:blipFill>
          <a:blip r:embed="rId6"/>
          <a:stretch>
            <a:fillRect/>
          </a:stretch>
        </p:blipFill>
        <p:spPr>
          <a:xfrm>
            <a:off x="8089999" y="2664618"/>
            <a:ext cx="3530649" cy="2300287"/>
          </a:xfrm>
          <a:prstGeom prst="rect">
            <a:avLst/>
          </a:prstGeom>
        </p:spPr>
      </p:pic>
      <p:sp>
        <p:nvSpPr>
          <p:cNvPr id="6" name="TextBox 5"/>
          <p:cNvSpPr txBox="1"/>
          <p:nvPr/>
        </p:nvSpPr>
        <p:spPr>
          <a:xfrm>
            <a:off x="809625" y="3474243"/>
            <a:ext cx="3207119" cy="430887"/>
          </a:xfrm>
          <a:prstGeom prst="rect">
            <a:avLst/>
          </a:prstGeom>
          <a:noFill/>
        </p:spPr>
        <p:txBody>
          <a:bodyPr wrap="square" lIns="0" tIns="0" rIns="0" bIns="0" anchor="t">
            <a:spAutoFit/>
          </a:bodyPr>
          <a:lstStyle/>
          <a:p>
            <a:pPr algn="l"/>
            <a:r>
              <a:rPr sz="2800" b="0" i="0" u="none" dirty="0" err="1">
                <a:solidFill>
                  <a:srgbClr val="0F766E"/>
                </a:solidFill>
                <a:latin typeface="Poppins SemiBold"/>
              </a:rPr>
              <a:t>MobileNet</a:t>
            </a:r>
            <a:r>
              <a:rPr sz="2800" b="0" i="0" u="none" dirty="0">
                <a:solidFill>
                  <a:srgbClr val="0F766E"/>
                </a:solidFill>
                <a:latin typeface="Poppins SemiBold"/>
              </a:rPr>
              <a:t> V2/V3</a:t>
            </a:r>
          </a:p>
        </p:txBody>
      </p:sp>
      <p:sp>
        <p:nvSpPr>
          <p:cNvPr id="7" name="TextBox 6"/>
          <p:cNvSpPr txBox="1"/>
          <p:nvPr/>
        </p:nvSpPr>
        <p:spPr>
          <a:xfrm>
            <a:off x="809625" y="3883818"/>
            <a:ext cx="3054399" cy="974626"/>
          </a:xfrm>
          <a:prstGeom prst="rect">
            <a:avLst/>
          </a:prstGeom>
          <a:noFill/>
        </p:spPr>
        <p:txBody>
          <a:bodyPr wrap="square" lIns="0" tIns="0" rIns="0" bIns="0" anchor="t">
            <a:spAutoFit/>
          </a:bodyPr>
          <a:lstStyle/>
          <a:p>
            <a:pPr algn="l">
              <a:lnSpc>
                <a:spcPts val="1912"/>
              </a:lnSpc>
            </a:pPr>
            <a:r>
              <a:rPr sz="2000" b="0" i="0" u="none" dirty="0">
                <a:solidFill>
                  <a:srgbClr val="334155"/>
                </a:solidFill>
                <a:latin typeface="Lato"/>
              </a:rPr>
              <a:t>Inverted residual blocks, </a:t>
            </a:r>
            <a:r>
              <a:rPr sz="2000" b="0" i="0" u="none" dirty="0" err="1">
                <a:solidFill>
                  <a:srgbClr val="334155"/>
                </a:solidFill>
                <a:latin typeface="Lato"/>
              </a:rPr>
              <a:t>depthwise</a:t>
            </a:r>
            <a:r>
              <a:rPr sz="2000" b="0" i="0" u="none" dirty="0">
                <a:solidFill>
                  <a:srgbClr val="334155"/>
                </a:solidFill>
                <a:latin typeface="Lato"/>
              </a:rPr>
              <a:t> separable convolutions &amp; Hard-Swish activation.</a:t>
            </a:r>
          </a:p>
        </p:txBody>
      </p:sp>
      <p:sp>
        <p:nvSpPr>
          <p:cNvPr id="8" name="TextBox 7"/>
          <p:cNvSpPr txBox="1"/>
          <p:nvPr/>
        </p:nvSpPr>
        <p:spPr>
          <a:xfrm>
            <a:off x="4568874" y="3474243"/>
            <a:ext cx="3207119" cy="369332"/>
          </a:xfrm>
          <a:prstGeom prst="rect">
            <a:avLst/>
          </a:prstGeom>
          <a:noFill/>
        </p:spPr>
        <p:txBody>
          <a:bodyPr wrap="square" lIns="0" tIns="0" rIns="0" bIns="0" anchor="t">
            <a:spAutoFit/>
          </a:bodyPr>
          <a:lstStyle/>
          <a:p>
            <a:pPr algn="l"/>
            <a:r>
              <a:rPr sz="2400" b="0" i="0" u="none" dirty="0">
                <a:solidFill>
                  <a:srgbClr val="0F766E"/>
                </a:solidFill>
                <a:latin typeface="Poppins SemiBold"/>
              </a:rPr>
              <a:t>EfficientNetV2B0</a:t>
            </a:r>
          </a:p>
        </p:txBody>
      </p:sp>
      <p:sp>
        <p:nvSpPr>
          <p:cNvPr id="9" name="TextBox 8"/>
          <p:cNvSpPr txBox="1"/>
          <p:nvPr/>
        </p:nvSpPr>
        <p:spPr>
          <a:xfrm>
            <a:off x="4568874" y="3883818"/>
            <a:ext cx="3054399" cy="974626"/>
          </a:xfrm>
          <a:prstGeom prst="rect">
            <a:avLst/>
          </a:prstGeom>
          <a:noFill/>
        </p:spPr>
        <p:txBody>
          <a:bodyPr wrap="square" lIns="0" tIns="0" rIns="0" bIns="0" anchor="t">
            <a:spAutoFit/>
          </a:bodyPr>
          <a:lstStyle/>
          <a:p>
            <a:pPr algn="l">
              <a:lnSpc>
                <a:spcPts val="1912"/>
              </a:lnSpc>
            </a:pPr>
            <a:r>
              <a:rPr sz="2000" b="0" i="0" u="none" dirty="0">
                <a:solidFill>
                  <a:srgbClr val="334155"/>
                </a:solidFill>
                <a:latin typeface="Lato"/>
              </a:rPr>
              <a:t>Fused-</a:t>
            </a:r>
            <a:r>
              <a:rPr sz="2000" b="0" i="0" u="none" dirty="0" err="1">
                <a:solidFill>
                  <a:srgbClr val="334155"/>
                </a:solidFill>
                <a:latin typeface="Lato"/>
              </a:rPr>
              <a:t>MBConv</a:t>
            </a:r>
            <a:r>
              <a:rPr sz="2000" b="0" i="0" u="none" dirty="0">
                <a:solidFill>
                  <a:srgbClr val="334155"/>
                </a:solidFill>
                <a:latin typeface="Lato"/>
              </a:rPr>
              <a:t> layers and compound scaling for enhanced feature extraction efficiency.</a:t>
            </a:r>
          </a:p>
        </p:txBody>
      </p:sp>
      <p:sp>
        <p:nvSpPr>
          <p:cNvPr id="10" name="TextBox 9"/>
          <p:cNvSpPr txBox="1"/>
          <p:nvPr/>
        </p:nvSpPr>
        <p:spPr>
          <a:xfrm>
            <a:off x="8328124" y="3474243"/>
            <a:ext cx="3207119" cy="307777"/>
          </a:xfrm>
          <a:prstGeom prst="rect">
            <a:avLst/>
          </a:prstGeom>
          <a:noFill/>
        </p:spPr>
        <p:txBody>
          <a:bodyPr wrap="square" lIns="0" tIns="0" rIns="0" bIns="0" anchor="t">
            <a:spAutoFit/>
          </a:bodyPr>
          <a:lstStyle/>
          <a:p>
            <a:pPr algn="l"/>
            <a:r>
              <a:rPr sz="2000" b="0" i="0" u="none" dirty="0" err="1">
                <a:solidFill>
                  <a:srgbClr val="0F766E"/>
                </a:solidFill>
                <a:latin typeface="Poppins SemiBold"/>
              </a:rPr>
              <a:t>DenseNet</a:t>
            </a:r>
            <a:r>
              <a:rPr sz="2000" b="0" i="0" u="none" dirty="0">
                <a:solidFill>
                  <a:srgbClr val="0F766E"/>
                </a:solidFill>
                <a:latin typeface="Poppins SemiBold"/>
              </a:rPr>
              <a:t> / </a:t>
            </a:r>
            <a:r>
              <a:rPr sz="2000" b="0" i="0" u="none" dirty="0" err="1">
                <a:solidFill>
                  <a:srgbClr val="0F766E"/>
                </a:solidFill>
                <a:latin typeface="Poppins SemiBold"/>
              </a:rPr>
              <a:t>NASNet</a:t>
            </a:r>
            <a:endParaRPr sz="2000" b="0" i="0" u="none" dirty="0">
              <a:solidFill>
                <a:srgbClr val="0F766E"/>
              </a:solidFill>
              <a:latin typeface="Poppins SemiBold"/>
            </a:endParaRPr>
          </a:p>
        </p:txBody>
      </p:sp>
      <p:sp>
        <p:nvSpPr>
          <p:cNvPr id="11" name="TextBox 10"/>
          <p:cNvSpPr txBox="1"/>
          <p:nvPr/>
        </p:nvSpPr>
        <p:spPr>
          <a:xfrm>
            <a:off x="8328124" y="3883818"/>
            <a:ext cx="3054399" cy="974626"/>
          </a:xfrm>
          <a:prstGeom prst="rect">
            <a:avLst/>
          </a:prstGeom>
          <a:noFill/>
        </p:spPr>
        <p:txBody>
          <a:bodyPr wrap="square" lIns="0" tIns="0" rIns="0" bIns="0" anchor="t">
            <a:spAutoFit/>
          </a:bodyPr>
          <a:lstStyle/>
          <a:p>
            <a:pPr algn="l">
              <a:lnSpc>
                <a:spcPts val="1912"/>
              </a:lnSpc>
            </a:pPr>
            <a:r>
              <a:rPr sz="2000" b="0" i="0" u="none" dirty="0">
                <a:solidFill>
                  <a:srgbClr val="334155"/>
                </a:solidFill>
                <a:latin typeface="Lato"/>
              </a:rPr>
              <a:t>Dense feature concatenation and neural architecture search blocks for comparative analysis.</a:t>
            </a:r>
          </a:p>
        </p:txBody>
      </p:sp>
      <p:pic>
        <p:nvPicPr>
          <p:cNvPr id="12" name="Picture 11" descr="image.png"/>
          <p:cNvPicPr>
            <a:picLocks noChangeAspect="1"/>
          </p:cNvPicPr>
          <p:nvPr/>
        </p:nvPicPr>
        <p:blipFill>
          <a:blip r:embed="rId7"/>
          <a:stretch>
            <a:fillRect/>
          </a:stretch>
        </p:blipFill>
        <p:spPr>
          <a:xfrm>
            <a:off x="809625" y="2950368"/>
            <a:ext cx="390525" cy="342900"/>
          </a:xfrm>
          <a:prstGeom prst="rect">
            <a:avLst/>
          </a:prstGeom>
        </p:spPr>
      </p:pic>
      <p:pic>
        <p:nvPicPr>
          <p:cNvPr id="13" name="Picture 12" descr="image.png"/>
          <p:cNvPicPr>
            <a:picLocks noChangeAspect="1"/>
          </p:cNvPicPr>
          <p:nvPr/>
        </p:nvPicPr>
        <p:blipFill>
          <a:blip r:embed="rId8"/>
          <a:stretch>
            <a:fillRect/>
          </a:stretch>
        </p:blipFill>
        <p:spPr>
          <a:xfrm>
            <a:off x="4568874" y="2950368"/>
            <a:ext cx="342900" cy="342900"/>
          </a:xfrm>
          <a:prstGeom prst="rect">
            <a:avLst/>
          </a:prstGeom>
        </p:spPr>
      </p:pic>
      <p:pic>
        <p:nvPicPr>
          <p:cNvPr id="14" name="Picture 13" descr="image.png"/>
          <p:cNvPicPr>
            <a:picLocks noChangeAspect="1"/>
          </p:cNvPicPr>
          <p:nvPr/>
        </p:nvPicPr>
        <p:blipFill>
          <a:blip r:embed="rId9"/>
          <a:stretch>
            <a:fillRect/>
          </a:stretch>
        </p:blipFill>
        <p:spPr>
          <a:xfrm>
            <a:off x="8328124" y="2950368"/>
            <a:ext cx="428625" cy="342900"/>
          </a:xfrm>
          <a:prstGeom prst="rect">
            <a:avLst/>
          </a:prstGeom>
        </p:spPr>
      </p:pic>
      <p:sp>
        <p:nvSpPr>
          <p:cNvPr id="15" name="TextBox 14"/>
          <p:cNvSpPr txBox="1"/>
          <p:nvPr/>
        </p:nvSpPr>
        <p:spPr>
          <a:xfrm>
            <a:off x="571500" y="476250"/>
            <a:ext cx="11601450" cy="615553"/>
          </a:xfrm>
          <a:prstGeom prst="rect">
            <a:avLst/>
          </a:prstGeom>
          <a:noFill/>
        </p:spPr>
        <p:txBody>
          <a:bodyPr wrap="square" lIns="0" tIns="0" rIns="0" bIns="0" anchor="t">
            <a:spAutoFit/>
          </a:bodyPr>
          <a:lstStyle/>
          <a:p>
            <a:pPr algn="l"/>
            <a:r>
              <a:rPr sz="4000" b="0" i="0" u="none" dirty="0">
                <a:solidFill>
                  <a:srgbClr val="064E3B"/>
                </a:solidFill>
                <a:latin typeface="Poppins SemiBold"/>
              </a:rPr>
              <a:t>Evaluated CNN Backbones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0" y="0"/>
            <a:ext cx="12192000" cy="6858000"/>
          </a:xfrm>
          <a:prstGeom prst="rect">
            <a:avLst/>
          </a:prstGeom>
        </p:spPr>
      </p:pic>
      <p:sp>
        <p:nvSpPr>
          <p:cNvPr id="3" name="TextBox 2"/>
          <p:cNvSpPr txBox="1"/>
          <p:nvPr/>
        </p:nvSpPr>
        <p:spPr>
          <a:xfrm>
            <a:off x="571500" y="476250"/>
            <a:ext cx="9565922" cy="615553"/>
          </a:xfrm>
          <a:prstGeom prst="rect">
            <a:avLst/>
          </a:prstGeom>
          <a:noFill/>
        </p:spPr>
        <p:txBody>
          <a:bodyPr wrap="square" lIns="0" tIns="0" rIns="0" bIns="0" anchor="t">
            <a:spAutoFit/>
          </a:bodyPr>
          <a:lstStyle/>
          <a:p>
            <a:pPr algn="l"/>
            <a:r>
              <a:rPr sz="4000" b="0" i="0" u="none" dirty="0">
                <a:solidFill>
                  <a:srgbClr val="064E3B"/>
                </a:solidFill>
                <a:latin typeface="Poppins SemiBold"/>
              </a:rPr>
              <a:t>Edge Mobile System Setup</a:t>
            </a:r>
          </a:p>
        </p:txBody>
      </p:sp>
      <p:sp>
        <p:nvSpPr>
          <p:cNvPr id="5" name="TextBox 4"/>
          <p:cNvSpPr txBox="1"/>
          <p:nvPr/>
        </p:nvSpPr>
        <p:spPr>
          <a:xfrm>
            <a:off x="571500" y="1247775"/>
            <a:ext cx="5600700" cy="369332"/>
          </a:xfrm>
          <a:prstGeom prst="rect">
            <a:avLst/>
          </a:prstGeom>
          <a:noFill/>
        </p:spPr>
        <p:txBody>
          <a:bodyPr wrap="square" lIns="0" tIns="0" rIns="0" bIns="0" anchor="t">
            <a:spAutoFit/>
          </a:bodyPr>
          <a:lstStyle/>
          <a:p>
            <a:pPr algn="l"/>
            <a:r>
              <a:rPr sz="2400" b="0" i="0" u="none" dirty="0">
                <a:solidFill>
                  <a:srgbClr val="0F766E"/>
                </a:solidFill>
                <a:latin typeface="Poppins SemiBold"/>
              </a:rPr>
              <a:t>Cross-Platform Flutter Architecture</a:t>
            </a:r>
          </a:p>
        </p:txBody>
      </p:sp>
      <p:sp>
        <p:nvSpPr>
          <p:cNvPr id="6" name="TextBox 5"/>
          <p:cNvSpPr txBox="1"/>
          <p:nvPr/>
        </p:nvSpPr>
        <p:spPr>
          <a:xfrm>
            <a:off x="571500" y="1657350"/>
            <a:ext cx="4711700" cy="1218282"/>
          </a:xfrm>
          <a:prstGeom prst="rect">
            <a:avLst/>
          </a:prstGeom>
          <a:noFill/>
        </p:spPr>
        <p:txBody>
          <a:bodyPr wrap="square" lIns="0" tIns="0" rIns="0" bIns="0" anchor="t">
            <a:spAutoFit/>
          </a:bodyPr>
          <a:lstStyle/>
          <a:p>
            <a:pPr algn="just">
              <a:lnSpc>
                <a:spcPts val="1912"/>
              </a:lnSpc>
            </a:pPr>
            <a:r>
              <a:rPr sz="2000" b="0" i="0" u="none" dirty="0">
                <a:solidFill>
                  <a:srgbClr val="334155"/>
                </a:solidFill>
                <a:latin typeface="Lato"/>
              </a:rPr>
              <a:t>The application captures camera frames or gallery images, decodes RGB pixels into flat Float32 </a:t>
            </a:r>
            <a:r>
              <a:rPr sz="2000" b="0" i="0" u="none" dirty="0" err="1">
                <a:solidFill>
                  <a:srgbClr val="334155"/>
                </a:solidFill>
                <a:latin typeface="Lato"/>
              </a:rPr>
              <a:t>ByteBuffers</a:t>
            </a:r>
            <a:r>
              <a:rPr sz="2000" b="0" i="0" u="none" dirty="0">
                <a:solidFill>
                  <a:srgbClr val="334155"/>
                </a:solidFill>
                <a:latin typeface="Lato"/>
              </a:rPr>
              <a:t>, and passes tensors directly to local </a:t>
            </a:r>
            <a:r>
              <a:rPr sz="2000" b="0" i="0" u="none" dirty="0" err="1">
                <a:solidFill>
                  <a:srgbClr val="334155"/>
                </a:solidFill>
                <a:latin typeface="Lato"/>
              </a:rPr>
              <a:t>TFLite</a:t>
            </a:r>
            <a:r>
              <a:rPr sz="2000" b="0" i="0" u="none" dirty="0">
                <a:solidFill>
                  <a:srgbClr val="334155"/>
                </a:solidFill>
                <a:latin typeface="Lato"/>
              </a:rPr>
              <a:t> interpreters.</a:t>
            </a:r>
          </a:p>
        </p:txBody>
      </p:sp>
      <p:sp>
        <p:nvSpPr>
          <p:cNvPr id="7" name="TextBox 6"/>
          <p:cNvSpPr txBox="1"/>
          <p:nvPr/>
        </p:nvSpPr>
        <p:spPr>
          <a:xfrm>
            <a:off x="571500" y="3087336"/>
            <a:ext cx="4395611" cy="974626"/>
          </a:xfrm>
          <a:prstGeom prst="rect">
            <a:avLst/>
          </a:prstGeom>
          <a:noFill/>
        </p:spPr>
        <p:txBody>
          <a:bodyPr wrap="square" lIns="0" tIns="0" rIns="0" bIns="0" anchor="t">
            <a:spAutoFit/>
          </a:bodyPr>
          <a:lstStyle/>
          <a:p>
            <a:pPr algn="just">
              <a:lnSpc>
                <a:spcPts val="1912"/>
              </a:lnSpc>
            </a:pPr>
            <a:r>
              <a:rPr sz="2000" b="0" i="0" u="none" dirty="0">
                <a:solidFill>
                  <a:srgbClr val="334155"/>
                </a:solidFill>
                <a:latin typeface="Lato"/>
              </a:rPr>
              <a:t>This bypasses external API calls completely, achieving zero network dependency and low execution latency in field conditions.</a:t>
            </a:r>
          </a:p>
        </p:txBody>
      </p:sp>
      <p:pic>
        <p:nvPicPr>
          <p:cNvPr id="13" name="Picture 12">
            <a:extLst>
              <a:ext uri="{FF2B5EF4-FFF2-40B4-BE49-F238E27FC236}">
                <a16:creationId xmlns:a16="http://schemas.microsoft.com/office/drawing/2014/main" id="{C0AFCA7C-AC91-67B1-92ED-71031BE00BF9}"/>
              </a:ext>
            </a:extLst>
          </p:cNvPr>
          <p:cNvPicPr>
            <a:picLocks noChangeAspect="1"/>
          </p:cNvPicPr>
          <p:nvPr/>
        </p:nvPicPr>
        <p:blipFill>
          <a:blip r:embed="rId4"/>
          <a:srcRect t="10294"/>
          <a:stretch>
            <a:fillRect/>
          </a:stretch>
        </p:blipFill>
        <p:spPr>
          <a:xfrm>
            <a:off x="76655" y="4145607"/>
            <a:ext cx="5097889" cy="2844210"/>
          </a:xfrm>
          <a:prstGeom prst="rect">
            <a:avLst/>
          </a:prstGeom>
        </p:spPr>
      </p:pic>
      <p:pic>
        <p:nvPicPr>
          <p:cNvPr id="14" name="Picture 13">
            <a:extLst>
              <a:ext uri="{FF2B5EF4-FFF2-40B4-BE49-F238E27FC236}">
                <a16:creationId xmlns:a16="http://schemas.microsoft.com/office/drawing/2014/main" id="{43ED03DF-8B48-E58D-A011-472BEE1F4377}"/>
              </a:ext>
            </a:extLst>
          </p:cNvPr>
          <p:cNvPicPr>
            <a:picLocks noChangeAspect="1"/>
          </p:cNvPicPr>
          <p:nvPr/>
        </p:nvPicPr>
        <p:blipFill>
          <a:blip r:embed="rId5"/>
          <a:stretch>
            <a:fillRect/>
          </a:stretch>
        </p:blipFill>
        <p:spPr>
          <a:xfrm>
            <a:off x="7577618" y="344433"/>
            <a:ext cx="4151538" cy="6496624"/>
          </a:xfrm>
          <a:prstGeom prst="rect">
            <a:avLst/>
          </a:prstGeom>
        </p:spPr>
      </p:pic>
      <p:cxnSp>
        <p:nvCxnSpPr>
          <p:cNvPr id="21" name="Straight Arrow Connector 20">
            <a:extLst>
              <a:ext uri="{FF2B5EF4-FFF2-40B4-BE49-F238E27FC236}">
                <a16:creationId xmlns:a16="http://schemas.microsoft.com/office/drawing/2014/main" id="{AD9259BC-4249-2DC1-FE41-306ABE19218A}"/>
              </a:ext>
            </a:extLst>
          </p:cNvPr>
          <p:cNvCxnSpPr>
            <a:cxnSpLocks/>
          </p:cNvCxnSpPr>
          <p:nvPr/>
        </p:nvCxnSpPr>
        <p:spPr>
          <a:xfrm flipH="1">
            <a:off x="4967111" y="3982369"/>
            <a:ext cx="3612445" cy="905720"/>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cxnSp>
        <p:nvCxnSpPr>
          <p:cNvPr id="23" name="Straight Arrow Connector 22">
            <a:extLst>
              <a:ext uri="{FF2B5EF4-FFF2-40B4-BE49-F238E27FC236}">
                <a16:creationId xmlns:a16="http://schemas.microsoft.com/office/drawing/2014/main" id="{48E98154-DA64-5FAF-C63D-4EBDF9AE4122}"/>
              </a:ext>
            </a:extLst>
          </p:cNvPr>
          <p:cNvCxnSpPr/>
          <p:nvPr/>
        </p:nvCxnSpPr>
        <p:spPr>
          <a:xfrm flipV="1">
            <a:off x="4967111" y="4594578"/>
            <a:ext cx="3612445" cy="880533"/>
          </a:xfrm>
          <a:prstGeom prst="straightConnector1">
            <a:avLst/>
          </a:prstGeom>
          <a:ln w="53975">
            <a:tailEnd type="triangle"/>
          </a:ln>
        </p:spPr>
        <p:style>
          <a:lnRef idx="3">
            <a:schemeClr val="accent4"/>
          </a:lnRef>
          <a:fillRef idx="0">
            <a:schemeClr val="accent4"/>
          </a:fillRef>
          <a:effectRef idx="2">
            <a:schemeClr val="accent4"/>
          </a:effectRef>
          <a:fontRef idx="minor">
            <a:schemeClr val="tx1"/>
          </a:fontRef>
        </p:style>
      </p:cxn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4"/>
          <a:stretch>
            <a:fillRect/>
          </a:stretch>
        </p:blipFill>
        <p:spPr>
          <a:xfrm>
            <a:off x="0" y="1"/>
            <a:ext cx="11943644" cy="8003822"/>
          </a:xfrm>
          <a:prstGeom prst="rect">
            <a:avLst/>
          </a:prstGeom>
        </p:spPr>
      </p:pic>
      <p:sp>
        <p:nvSpPr>
          <p:cNvPr id="4" name="TextBox 3"/>
          <p:cNvSpPr txBox="1"/>
          <p:nvPr/>
        </p:nvSpPr>
        <p:spPr>
          <a:xfrm>
            <a:off x="571500" y="5924462"/>
            <a:ext cx="11049000" cy="487313"/>
          </a:xfrm>
          <a:prstGeom prst="rect">
            <a:avLst/>
          </a:prstGeom>
          <a:noFill/>
        </p:spPr>
        <p:txBody>
          <a:bodyPr wrap="square" lIns="0" tIns="0" rIns="0" bIns="0" anchor="t">
            <a:spAutoFit/>
          </a:bodyPr>
          <a:lstStyle/>
          <a:p>
            <a:pPr algn="ctr">
              <a:lnSpc>
                <a:spcPts val="1912"/>
              </a:lnSpc>
            </a:pPr>
            <a:r>
              <a:rPr sz="2000" b="0" i="1" u="none" dirty="0">
                <a:solidFill>
                  <a:srgbClr val="334155"/>
                </a:solidFill>
                <a:latin typeface="Lato"/>
              </a:rPr>
              <a:t>EfficientNetV2B0 achieved peak accuracy (92.00%), followed closely by DenseNet121 and MobileNetV3-Small.</a:t>
            </a:r>
          </a:p>
        </p:txBody>
      </p:sp>
      <p:sp>
        <p:nvSpPr>
          <p:cNvPr id="5" name="TextBox 4"/>
          <p:cNvSpPr txBox="1"/>
          <p:nvPr/>
        </p:nvSpPr>
        <p:spPr>
          <a:xfrm>
            <a:off x="571500" y="476250"/>
            <a:ext cx="11601450" cy="615553"/>
          </a:xfrm>
          <a:prstGeom prst="rect">
            <a:avLst/>
          </a:prstGeom>
          <a:noFill/>
        </p:spPr>
        <p:txBody>
          <a:bodyPr wrap="square" lIns="0" tIns="0" rIns="0" bIns="0" anchor="t">
            <a:spAutoFit/>
          </a:bodyPr>
          <a:lstStyle/>
          <a:p>
            <a:pPr algn="l"/>
            <a:r>
              <a:rPr sz="4000" b="0" i="0" u="none" dirty="0">
                <a:solidFill>
                  <a:srgbClr val="064E3B"/>
                </a:solidFill>
                <a:latin typeface="Poppins SemiBold"/>
              </a:rPr>
              <a:t>Accuracy Performance Benchmarking</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0" y="0"/>
            <a:ext cx="12192000" cy="6858000"/>
          </a:xfrm>
          <a:prstGeom prst="rect">
            <a:avLst/>
          </a:prstGeom>
        </p:spPr>
      </p:pic>
      <p:graphicFrame>
        <p:nvGraphicFramePr>
          <p:cNvPr id="3" name="Table 2"/>
          <p:cNvGraphicFramePr>
            <a:graphicFrameLocks noGrp="1"/>
          </p:cNvGraphicFramePr>
          <p:nvPr>
            <p:extLst>
              <p:ext uri="{D42A27DB-BD31-4B8C-83A1-F6EECF244321}">
                <p14:modId xmlns:p14="http://schemas.microsoft.com/office/powerpoint/2010/main" val="2754596510"/>
              </p:ext>
            </p:extLst>
          </p:nvPr>
        </p:nvGraphicFramePr>
        <p:xfrm>
          <a:off x="571500" y="1383246"/>
          <a:ext cx="11048997" cy="4998505"/>
        </p:xfrm>
        <a:graphic>
          <a:graphicData uri="http://schemas.openxmlformats.org/drawingml/2006/table">
            <a:tbl>
              <a:tblPr firstRow="1" bandRow="1">
                <a:tableStyleId>{5C22544A-7EE6-4342-B048-85BDC9FD1C3A}</a:tableStyleId>
              </a:tblPr>
              <a:tblGrid>
                <a:gridCol w="2449562">
                  <a:extLst>
                    <a:ext uri="{9D8B030D-6E8A-4147-A177-3AD203B41FA5}">
                      <a16:colId xmlns:a16="http://schemas.microsoft.com/office/drawing/2014/main" val="20000"/>
                    </a:ext>
                  </a:extLst>
                </a:gridCol>
                <a:gridCol w="1482625">
                  <a:extLst>
                    <a:ext uri="{9D8B030D-6E8A-4147-A177-3AD203B41FA5}">
                      <a16:colId xmlns:a16="http://schemas.microsoft.com/office/drawing/2014/main" val="20001"/>
                    </a:ext>
                  </a:extLst>
                </a:gridCol>
                <a:gridCol w="1430982">
                  <a:extLst>
                    <a:ext uri="{9D8B030D-6E8A-4147-A177-3AD203B41FA5}">
                      <a16:colId xmlns:a16="http://schemas.microsoft.com/office/drawing/2014/main" val="20002"/>
                    </a:ext>
                  </a:extLst>
                </a:gridCol>
                <a:gridCol w="1727596">
                  <a:extLst>
                    <a:ext uri="{9D8B030D-6E8A-4147-A177-3AD203B41FA5}">
                      <a16:colId xmlns:a16="http://schemas.microsoft.com/office/drawing/2014/main" val="20003"/>
                    </a:ext>
                  </a:extLst>
                </a:gridCol>
                <a:gridCol w="1585763">
                  <a:extLst>
                    <a:ext uri="{9D8B030D-6E8A-4147-A177-3AD203B41FA5}">
                      <a16:colId xmlns:a16="http://schemas.microsoft.com/office/drawing/2014/main" val="20004"/>
                    </a:ext>
                  </a:extLst>
                </a:gridCol>
                <a:gridCol w="2372469">
                  <a:extLst>
                    <a:ext uri="{9D8B030D-6E8A-4147-A177-3AD203B41FA5}">
                      <a16:colId xmlns:a16="http://schemas.microsoft.com/office/drawing/2014/main" val="20005"/>
                    </a:ext>
                  </a:extLst>
                </a:gridCol>
              </a:tblGrid>
              <a:tr h="833084">
                <a:tc>
                  <a:txBody>
                    <a:bodyPr/>
                    <a:lstStyle/>
                    <a:p>
                      <a:pPr algn="l"/>
                      <a:r>
                        <a:rPr sz="2000" b="0" i="0" u="none">
                          <a:solidFill>
                            <a:srgbClr val="064E3B"/>
                          </a:solidFill>
                          <a:latin typeface="Poppins SemiBold"/>
                        </a:rPr>
                        <a:t>Model Name</a:t>
                      </a:r>
                    </a:p>
                  </a:txBody>
                  <a:tcPr marL="63500" marR="63500" marT="25400" marB="25400" anchor="ctr">
                    <a:lnL>
                      <a:noFill/>
                    </a:lnL>
                    <a:lnR>
                      <a:noFill/>
                    </a:lnR>
                    <a:lnT>
                      <a:noFill/>
                    </a:lnT>
                    <a:lnB>
                      <a:noFill/>
                    </a:lnB>
                    <a:solidFill>
                      <a:srgbClr val="F1F5F9"/>
                    </a:solidFill>
                  </a:tcPr>
                </a:tc>
                <a:tc>
                  <a:txBody>
                    <a:bodyPr/>
                    <a:lstStyle/>
                    <a:p>
                      <a:pPr algn="l"/>
                      <a:r>
                        <a:rPr sz="2000" b="0" i="0" u="none" dirty="0">
                          <a:solidFill>
                            <a:srgbClr val="064E3B"/>
                          </a:solidFill>
                          <a:latin typeface="Poppins SemiBold"/>
                        </a:rPr>
                        <a:t>Accuracy</a:t>
                      </a:r>
                    </a:p>
                  </a:txBody>
                  <a:tcPr marL="63500" marR="63500" marT="25400" marB="25400" anchor="ctr">
                    <a:lnL>
                      <a:noFill/>
                    </a:lnL>
                    <a:lnR>
                      <a:noFill/>
                    </a:lnR>
                    <a:lnT>
                      <a:noFill/>
                    </a:lnT>
                    <a:lnB>
                      <a:noFill/>
                    </a:lnB>
                    <a:solidFill>
                      <a:srgbClr val="F1F5F9"/>
                    </a:solidFill>
                  </a:tcPr>
                </a:tc>
                <a:tc>
                  <a:txBody>
                    <a:bodyPr/>
                    <a:lstStyle/>
                    <a:p>
                      <a:pPr algn="l"/>
                      <a:r>
                        <a:rPr sz="2000" b="0" i="0" u="none">
                          <a:solidFill>
                            <a:srgbClr val="064E3B"/>
                          </a:solidFill>
                          <a:latin typeface="Poppins SemiBold"/>
                        </a:rPr>
                        <a:t>Precision</a:t>
                      </a:r>
                    </a:p>
                  </a:txBody>
                  <a:tcPr marL="63500" marR="63500" marT="25400" marB="25400" anchor="ctr">
                    <a:lnL>
                      <a:noFill/>
                    </a:lnL>
                    <a:lnR>
                      <a:noFill/>
                    </a:lnR>
                    <a:lnT>
                      <a:noFill/>
                    </a:lnT>
                    <a:lnB>
                      <a:noFill/>
                    </a:lnB>
                    <a:solidFill>
                      <a:srgbClr val="F1F5F9"/>
                    </a:solidFill>
                  </a:tcPr>
                </a:tc>
                <a:tc>
                  <a:txBody>
                    <a:bodyPr/>
                    <a:lstStyle/>
                    <a:p>
                      <a:pPr algn="l"/>
                      <a:r>
                        <a:rPr sz="2000" b="0" i="0" u="none">
                          <a:solidFill>
                            <a:srgbClr val="064E3B"/>
                          </a:solidFill>
                          <a:latin typeface="Poppins SemiBold"/>
                        </a:rPr>
                        <a:t>Weighted F1</a:t>
                      </a:r>
                    </a:p>
                  </a:txBody>
                  <a:tcPr marL="63500" marR="63500" marT="25400" marB="25400" anchor="ctr">
                    <a:lnL>
                      <a:noFill/>
                    </a:lnL>
                    <a:lnR>
                      <a:noFill/>
                    </a:lnR>
                    <a:lnT>
                      <a:noFill/>
                    </a:lnT>
                    <a:lnB>
                      <a:noFill/>
                    </a:lnB>
                    <a:solidFill>
                      <a:srgbClr val="F1F5F9"/>
                    </a:solidFill>
                  </a:tcPr>
                </a:tc>
                <a:tc>
                  <a:txBody>
                    <a:bodyPr/>
                    <a:lstStyle/>
                    <a:p>
                      <a:pPr algn="l"/>
                      <a:r>
                        <a:rPr sz="2000" b="0" i="0" u="none">
                          <a:solidFill>
                            <a:srgbClr val="064E3B"/>
                          </a:solidFill>
                          <a:latin typeface="Poppins SemiBold"/>
                        </a:rPr>
                        <a:t>Model Size</a:t>
                      </a:r>
                    </a:p>
                  </a:txBody>
                  <a:tcPr marL="63500" marR="63500" marT="25400" marB="25400" anchor="ctr">
                    <a:lnL>
                      <a:noFill/>
                    </a:lnL>
                    <a:lnR>
                      <a:noFill/>
                    </a:lnR>
                    <a:lnT>
                      <a:noFill/>
                    </a:lnT>
                    <a:lnB>
                      <a:noFill/>
                    </a:lnB>
                    <a:solidFill>
                      <a:srgbClr val="F1F5F9"/>
                    </a:solidFill>
                  </a:tcPr>
                </a:tc>
                <a:tc>
                  <a:txBody>
                    <a:bodyPr/>
                    <a:lstStyle/>
                    <a:p>
                      <a:pPr algn="l"/>
                      <a:r>
                        <a:rPr sz="2000" b="0" i="0" u="none">
                          <a:solidFill>
                            <a:srgbClr val="064E3B"/>
                          </a:solidFill>
                          <a:latin typeface="Poppins SemiBold"/>
                        </a:rPr>
                        <a:t>Inference Latency</a:t>
                      </a:r>
                    </a:p>
                  </a:txBody>
                  <a:tcPr marL="63500" marR="63500" marT="25400" marB="25400" anchor="ctr">
                    <a:lnL>
                      <a:noFill/>
                    </a:lnL>
                    <a:lnR>
                      <a:noFill/>
                    </a:lnR>
                    <a:lnT>
                      <a:noFill/>
                    </a:lnT>
                    <a:lnB>
                      <a:noFill/>
                    </a:lnB>
                    <a:solidFill>
                      <a:srgbClr val="F1F5F9"/>
                    </a:solidFill>
                  </a:tcPr>
                </a:tc>
                <a:extLst>
                  <a:ext uri="{0D108BD9-81ED-4DB2-BD59-A6C34878D82A}">
                    <a16:rowId xmlns:a16="http://schemas.microsoft.com/office/drawing/2014/main" val="10000"/>
                  </a:ext>
                </a:extLst>
              </a:tr>
              <a:tr h="833084">
                <a:tc>
                  <a:txBody>
                    <a:bodyPr/>
                    <a:lstStyle/>
                    <a:p>
                      <a:pPr algn="l"/>
                      <a:r>
                        <a:rPr sz="2000" b="0" i="0" u="none">
                          <a:solidFill>
                            <a:srgbClr val="334155"/>
                          </a:solidFill>
                          <a:latin typeface="Lato"/>
                        </a:rPr>
                        <a:t>MobileNetV2</a:t>
                      </a:r>
                    </a:p>
                  </a:txBody>
                  <a:tcPr marL="63500" marR="63500" marT="25400" marB="25400" anchor="ctr">
                    <a:lnL>
                      <a:noFill/>
                    </a:lnL>
                    <a:lnR>
                      <a:noFill/>
                    </a:lnR>
                    <a:lnT>
                      <a:noFill/>
                    </a:lnT>
                    <a:lnB>
                      <a:noFill/>
                    </a:lnB>
                    <a:noFill/>
                  </a:tcPr>
                </a:tc>
                <a:tc>
                  <a:txBody>
                    <a:bodyPr/>
                    <a:lstStyle/>
                    <a:p>
                      <a:pPr algn="l"/>
                      <a:r>
                        <a:rPr sz="2000" b="0" i="0" u="none">
                          <a:solidFill>
                            <a:srgbClr val="334155"/>
                          </a:solidFill>
                          <a:latin typeface="Lato"/>
                        </a:rPr>
                        <a:t>80.25%</a:t>
                      </a:r>
                    </a:p>
                  </a:txBody>
                  <a:tcPr marL="63500" marR="63500" marT="25400" marB="25400" anchor="ctr">
                    <a:lnL>
                      <a:noFill/>
                    </a:lnL>
                    <a:lnR>
                      <a:noFill/>
                    </a:lnR>
                    <a:lnT>
                      <a:noFill/>
                    </a:lnT>
                    <a:lnB>
                      <a:noFill/>
                    </a:lnB>
                    <a:noFill/>
                  </a:tcPr>
                </a:tc>
                <a:tc>
                  <a:txBody>
                    <a:bodyPr/>
                    <a:lstStyle/>
                    <a:p>
                      <a:pPr algn="l"/>
                      <a:r>
                        <a:rPr sz="2000" b="0" i="0" u="none">
                          <a:solidFill>
                            <a:srgbClr val="334155"/>
                          </a:solidFill>
                          <a:latin typeface="Lato"/>
                        </a:rPr>
                        <a:t>80.92%</a:t>
                      </a:r>
                    </a:p>
                  </a:txBody>
                  <a:tcPr marL="63500" marR="63500" marT="25400" marB="25400" anchor="ctr">
                    <a:lnL>
                      <a:noFill/>
                    </a:lnL>
                    <a:lnR>
                      <a:noFill/>
                    </a:lnR>
                    <a:lnT>
                      <a:noFill/>
                    </a:lnT>
                    <a:lnB>
                      <a:noFill/>
                    </a:lnB>
                    <a:noFill/>
                  </a:tcPr>
                </a:tc>
                <a:tc>
                  <a:txBody>
                    <a:bodyPr/>
                    <a:lstStyle/>
                    <a:p>
                      <a:pPr algn="l"/>
                      <a:r>
                        <a:rPr sz="2000" b="0" i="0" u="none">
                          <a:solidFill>
                            <a:srgbClr val="334155"/>
                          </a:solidFill>
                          <a:latin typeface="Lato"/>
                        </a:rPr>
                        <a:t>80.33%</a:t>
                      </a:r>
                    </a:p>
                  </a:txBody>
                  <a:tcPr marL="63500" marR="63500" marT="25400" marB="25400" anchor="ctr">
                    <a:lnL>
                      <a:noFill/>
                    </a:lnL>
                    <a:lnR>
                      <a:noFill/>
                    </a:lnR>
                    <a:lnT>
                      <a:noFill/>
                    </a:lnT>
                    <a:lnB>
                      <a:noFill/>
                    </a:lnB>
                    <a:noFill/>
                  </a:tcPr>
                </a:tc>
                <a:tc>
                  <a:txBody>
                    <a:bodyPr/>
                    <a:lstStyle/>
                    <a:p>
                      <a:pPr algn="l"/>
                      <a:r>
                        <a:rPr sz="2000" b="0" i="0" u="none">
                          <a:solidFill>
                            <a:srgbClr val="334155"/>
                          </a:solidFill>
                          <a:latin typeface="Lato"/>
                        </a:rPr>
                        <a:t>11.07 MB</a:t>
                      </a:r>
                    </a:p>
                  </a:txBody>
                  <a:tcPr marL="63500" marR="63500" marT="25400" marB="25400" anchor="ctr">
                    <a:lnL>
                      <a:noFill/>
                    </a:lnL>
                    <a:lnR>
                      <a:noFill/>
                    </a:lnR>
                    <a:lnT>
                      <a:noFill/>
                    </a:lnT>
                    <a:lnB>
                      <a:noFill/>
                    </a:lnB>
                    <a:noFill/>
                  </a:tcPr>
                </a:tc>
                <a:tc>
                  <a:txBody>
                    <a:bodyPr/>
                    <a:lstStyle/>
                    <a:p>
                      <a:pPr algn="l"/>
                      <a:r>
                        <a:rPr sz="2000" b="0" i="0" u="none">
                          <a:solidFill>
                            <a:srgbClr val="334155"/>
                          </a:solidFill>
                          <a:latin typeface="Lato"/>
                        </a:rPr>
                        <a:t>34.66 ms</a:t>
                      </a:r>
                    </a:p>
                  </a:txBody>
                  <a:tcPr marL="63500" marR="63500" marT="25400" marB="25400" anchor="ctr">
                    <a:lnL>
                      <a:noFill/>
                    </a:lnL>
                    <a:lnR>
                      <a:noFill/>
                    </a:lnR>
                    <a:lnT>
                      <a:noFill/>
                    </a:lnT>
                    <a:lnB>
                      <a:noFill/>
                    </a:lnB>
                    <a:noFill/>
                  </a:tcPr>
                </a:tc>
                <a:extLst>
                  <a:ext uri="{0D108BD9-81ED-4DB2-BD59-A6C34878D82A}">
                    <a16:rowId xmlns:a16="http://schemas.microsoft.com/office/drawing/2014/main" val="10001"/>
                  </a:ext>
                </a:extLst>
              </a:tr>
              <a:tr h="833084">
                <a:tc>
                  <a:txBody>
                    <a:bodyPr/>
                    <a:lstStyle/>
                    <a:p>
                      <a:pPr algn="l"/>
                      <a:r>
                        <a:rPr sz="2000" b="1" i="0" u="none" dirty="0">
                          <a:solidFill>
                            <a:srgbClr val="334155"/>
                          </a:solidFill>
                          <a:latin typeface="Lato"/>
                        </a:rPr>
                        <a:t>MobileNetV3-Small</a:t>
                      </a:r>
                    </a:p>
                  </a:txBody>
                  <a:tcPr marL="63500" marR="63500" marT="25400" marB="25400" anchor="ctr">
                    <a:lnL>
                      <a:noFill/>
                    </a:lnL>
                    <a:lnR>
                      <a:noFill/>
                    </a:lnR>
                    <a:lnT>
                      <a:noFill/>
                    </a:lnT>
                    <a:lnB>
                      <a:noFill/>
                    </a:lnB>
                    <a:solidFill>
                      <a:srgbClr val="D1FAE5"/>
                    </a:solidFill>
                  </a:tcPr>
                </a:tc>
                <a:tc>
                  <a:txBody>
                    <a:bodyPr/>
                    <a:lstStyle/>
                    <a:p>
                      <a:pPr algn="l"/>
                      <a:r>
                        <a:rPr sz="2000" b="1" i="0" u="none" dirty="0">
                          <a:solidFill>
                            <a:srgbClr val="334155"/>
                          </a:solidFill>
                          <a:latin typeface="Lato"/>
                        </a:rPr>
                        <a:t>88.50%</a:t>
                      </a:r>
                    </a:p>
                  </a:txBody>
                  <a:tcPr marL="63500" marR="63500" marT="25400" marB="25400" anchor="ctr">
                    <a:lnL>
                      <a:noFill/>
                    </a:lnL>
                    <a:lnR>
                      <a:noFill/>
                    </a:lnR>
                    <a:lnT>
                      <a:noFill/>
                    </a:lnT>
                    <a:lnB>
                      <a:noFill/>
                    </a:lnB>
                    <a:solidFill>
                      <a:srgbClr val="D1FAE5"/>
                    </a:solidFill>
                  </a:tcPr>
                </a:tc>
                <a:tc>
                  <a:txBody>
                    <a:bodyPr/>
                    <a:lstStyle/>
                    <a:p>
                      <a:pPr algn="l"/>
                      <a:r>
                        <a:rPr sz="2000" b="1" i="0" u="none" dirty="0">
                          <a:solidFill>
                            <a:srgbClr val="334155"/>
                          </a:solidFill>
                          <a:latin typeface="Lato"/>
                        </a:rPr>
                        <a:t>88.60%</a:t>
                      </a:r>
                    </a:p>
                  </a:txBody>
                  <a:tcPr marL="63500" marR="63500" marT="25400" marB="25400" anchor="ctr">
                    <a:lnL>
                      <a:noFill/>
                    </a:lnL>
                    <a:lnR>
                      <a:noFill/>
                    </a:lnR>
                    <a:lnT>
                      <a:noFill/>
                    </a:lnT>
                    <a:lnB>
                      <a:noFill/>
                    </a:lnB>
                    <a:solidFill>
                      <a:srgbClr val="D1FAE5"/>
                    </a:solidFill>
                  </a:tcPr>
                </a:tc>
                <a:tc>
                  <a:txBody>
                    <a:bodyPr/>
                    <a:lstStyle/>
                    <a:p>
                      <a:pPr algn="l"/>
                      <a:r>
                        <a:rPr sz="2000" b="1" i="0" u="none">
                          <a:solidFill>
                            <a:srgbClr val="334155"/>
                          </a:solidFill>
                          <a:latin typeface="Lato"/>
                        </a:rPr>
                        <a:t>88.27%</a:t>
                      </a:r>
                    </a:p>
                  </a:txBody>
                  <a:tcPr marL="63500" marR="63500" marT="25400" marB="25400" anchor="ctr">
                    <a:lnL>
                      <a:noFill/>
                    </a:lnL>
                    <a:lnR>
                      <a:noFill/>
                    </a:lnR>
                    <a:lnT>
                      <a:noFill/>
                    </a:lnT>
                    <a:lnB>
                      <a:noFill/>
                    </a:lnB>
                    <a:solidFill>
                      <a:srgbClr val="D1FAE5"/>
                    </a:solidFill>
                  </a:tcPr>
                </a:tc>
                <a:tc>
                  <a:txBody>
                    <a:bodyPr/>
                    <a:lstStyle/>
                    <a:p>
                      <a:pPr algn="l"/>
                      <a:r>
                        <a:rPr sz="2000" b="1" i="0" u="none">
                          <a:solidFill>
                            <a:srgbClr val="334155"/>
                          </a:solidFill>
                          <a:latin typeface="Lato"/>
                        </a:rPr>
                        <a:t>4.99 MB</a:t>
                      </a:r>
                    </a:p>
                  </a:txBody>
                  <a:tcPr marL="63500" marR="63500" marT="25400" marB="25400" anchor="ctr">
                    <a:lnL>
                      <a:noFill/>
                    </a:lnL>
                    <a:lnR>
                      <a:noFill/>
                    </a:lnR>
                    <a:lnT>
                      <a:noFill/>
                    </a:lnT>
                    <a:lnB>
                      <a:noFill/>
                    </a:lnB>
                    <a:solidFill>
                      <a:srgbClr val="D1FAE5"/>
                    </a:solidFill>
                  </a:tcPr>
                </a:tc>
                <a:tc>
                  <a:txBody>
                    <a:bodyPr/>
                    <a:lstStyle/>
                    <a:p>
                      <a:pPr algn="l"/>
                      <a:r>
                        <a:rPr sz="2000" b="1" i="0" u="none">
                          <a:solidFill>
                            <a:srgbClr val="334155"/>
                          </a:solidFill>
                          <a:latin typeface="Lato"/>
                        </a:rPr>
                        <a:t>28.29 ms</a:t>
                      </a:r>
                    </a:p>
                  </a:txBody>
                  <a:tcPr marL="63500" marR="63500" marT="25400" marB="25400" anchor="ctr">
                    <a:lnL>
                      <a:noFill/>
                    </a:lnL>
                    <a:lnR>
                      <a:noFill/>
                    </a:lnR>
                    <a:lnT>
                      <a:noFill/>
                    </a:lnT>
                    <a:lnB>
                      <a:noFill/>
                    </a:lnB>
                    <a:solidFill>
                      <a:srgbClr val="D1FAE5"/>
                    </a:solidFill>
                  </a:tcPr>
                </a:tc>
                <a:extLst>
                  <a:ext uri="{0D108BD9-81ED-4DB2-BD59-A6C34878D82A}">
                    <a16:rowId xmlns:a16="http://schemas.microsoft.com/office/drawing/2014/main" val="10002"/>
                  </a:ext>
                </a:extLst>
              </a:tr>
              <a:tr h="833084">
                <a:tc>
                  <a:txBody>
                    <a:bodyPr/>
                    <a:lstStyle/>
                    <a:p>
                      <a:pPr algn="l"/>
                      <a:r>
                        <a:rPr sz="2000" b="0" i="0" u="none">
                          <a:solidFill>
                            <a:srgbClr val="334155"/>
                          </a:solidFill>
                          <a:latin typeface="Lato"/>
                        </a:rPr>
                        <a:t>EfficientNetV2B0</a:t>
                      </a:r>
                    </a:p>
                  </a:txBody>
                  <a:tcPr marL="63500" marR="63500" marT="25400" marB="25400" anchor="ctr">
                    <a:lnL>
                      <a:noFill/>
                    </a:lnL>
                    <a:lnR>
                      <a:noFill/>
                    </a:lnR>
                    <a:lnT>
                      <a:noFill/>
                    </a:lnT>
                    <a:lnB>
                      <a:noFill/>
                    </a:lnB>
                    <a:noFill/>
                  </a:tcPr>
                </a:tc>
                <a:tc>
                  <a:txBody>
                    <a:bodyPr/>
                    <a:lstStyle/>
                    <a:p>
                      <a:pPr algn="l"/>
                      <a:r>
                        <a:rPr sz="2000" b="0" i="0" u="none" dirty="0">
                          <a:solidFill>
                            <a:srgbClr val="334155"/>
                          </a:solidFill>
                          <a:latin typeface="Lato"/>
                        </a:rPr>
                        <a:t>92.00%</a:t>
                      </a:r>
                    </a:p>
                  </a:txBody>
                  <a:tcPr marL="63500" marR="63500" marT="25400" marB="25400" anchor="ctr">
                    <a:lnL>
                      <a:noFill/>
                    </a:lnL>
                    <a:lnR>
                      <a:noFill/>
                    </a:lnR>
                    <a:lnT>
                      <a:noFill/>
                    </a:lnT>
                    <a:lnB>
                      <a:noFill/>
                    </a:lnB>
                    <a:noFill/>
                  </a:tcPr>
                </a:tc>
                <a:tc>
                  <a:txBody>
                    <a:bodyPr/>
                    <a:lstStyle/>
                    <a:p>
                      <a:pPr algn="l"/>
                      <a:r>
                        <a:rPr sz="2000" b="0" i="0" u="none" dirty="0">
                          <a:solidFill>
                            <a:srgbClr val="334155"/>
                          </a:solidFill>
                          <a:latin typeface="Lato"/>
                        </a:rPr>
                        <a:t>92.</a:t>
                      </a:r>
                      <a:r>
                        <a:rPr lang="en-US" sz="2000" b="0" i="0" u="none" dirty="0">
                          <a:solidFill>
                            <a:srgbClr val="334155"/>
                          </a:solidFill>
                          <a:latin typeface="Lato"/>
                        </a:rPr>
                        <a:t>0</a:t>
                      </a:r>
                      <a:r>
                        <a:rPr sz="2000" b="0" i="0" u="none" dirty="0">
                          <a:solidFill>
                            <a:srgbClr val="334155"/>
                          </a:solidFill>
                          <a:latin typeface="Lato"/>
                        </a:rPr>
                        <a:t>8%</a:t>
                      </a:r>
                    </a:p>
                  </a:txBody>
                  <a:tcPr marL="63500" marR="63500" marT="25400" marB="25400" anchor="ctr">
                    <a:lnL>
                      <a:noFill/>
                    </a:lnL>
                    <a:lnR>
                      <a:noFill/>
                    </a:lnR>
                    <a:lnT>
                      <a:noFill/>
                    </a:lnT>
                    <a:lnB>
                      <a:noFill/>
                    </a:lnB>
                    <a:noFill/>
                  </a:tcPr>
                </a:tc>
                <a:tc>
                  <a:txBody>
                    <a:bodyPr/>
                    <a:lstStyle/>
                    <a:p>
                      <a:pPr algn="l"/>
                      <a:r>
                        <a:rPr sz="2000" b="0" i="0" u="none">
                          <a:solidFill>
                            <a:srgbClr val="334155"/>
                          </a:solidFill>
                          <a:latin typeface="Lato"/>
                        </a:rPr>
                        <a:t>92.00%</a:t>
                      </a:r>
                    </a:p>
                  </a:txBody>
                  <a:tcPr marL="63500" marR="63500" marT="25400" marB="25400" anchor="ctr">
                    <a:lnL>
                      <a:noFill/>
                    </a:lnL>
                    <a:lnR>
                      <a:noFill/>
                    </a:lnR>
                    <a:lnT>
                      <a:noFill/>
                    </a:lnT>
                    <a:lnB>
                      <a:noFill/>
                    </a:lnB>
                    <a:noFill/>
                  </a:tcPr>
                </a:tc>
                <a:tc>
                  <a:txBody>
                    <a:bodyPr/>
                    <a:lstStyle/>
                    <a:p>
                      <a:pPr algn="l"/>
                      <a:r>
                        <a:rPr sz="2000" b="0" i="0" u="none">
                          <a:solidFill>
                            <a:srgbClr val="334155"/>
                          </a:solidFill>
                          <a:latin typeface="Lato"/>
                        </a:rPr>
                        <a:t>24.39 MB</a:t>
                      </a:r>
                    </a:p>
                  </a:txBody>
                  <a:tcPr marL="63500" marR="63500" marT="25400" marB="25400" anchor="ctr">
                    <a:lnL>
                      <a:noFill/>
                    </a:lnL>
                    <a:lnR>
                      <a:noFill/>
                    </a:lnR>
                    <a:lnT>
                      <a:noFill/>
                    </a:lnT>
                    <a:lnB>
                      <a:noFill/>
                    </a:lnB>
                    <a:noFill/>
                  </a:tcPr>
                </a:tc>
                <a:tc>
                  <a:txBody>
                    <a:bodyPr/>
                    <a:lstStyle/>
                    <a:p>
                      <a:pPr algn="l"/>
                      <a:r>
                        <a:rPr sz="2000" b="0" i="0" u="none">
                          <a:solidFill>
                            <a:srgbClr val="334155"/>
                          </a:solidFill>
                          <a:latin typeface="Lato"/>
                        </a:rPr>
                        <a:t>40.26 ms</a:t>
                      </a:r>
                    </a:p>
                  </a:txBody>
                  <a:tcPr marL="63500" marR="63500" marT="25400" marB="25400" anchor="ctr">
                    <a:lnL>
                      <a:noFill/>
                    </a:lnL>
                    <a:lnR>
                      <a:noFill/>
                    </a:lnR>
                    <a:lnT>
                      <a:noFill/>
                    </a:lnT>
                    <a:lnB>
                      <a:noFill/>
                    </a:lnB>
                    <a:noFill/>
                  </a:tcPr>
                </a:tc>
                <a:extLst>
                  <a:ext uri="{0D108BD9-81ED-4DB2-BD59-A6C34878D82A}">
                    <a16:rowId xmlns:a16="http://schemas.microsoft.com/office/drawing/2014/main" val="10003"/>
                  </a:ext>
                </a:extLst>
              </a:tr>
              <a:tr h="833084">
                <a:tc>
                  <a:txBody>
                    <a:bodyPr/>
                    <a:lstStyle/>
                    <a:p>
                      <a:pPr algn="l"/>
                      <a:r>
                        <a:rPr sz="2000" b="0" i="0" u="none">
                          <a:solidFill>
                            <a:srgbClr val="334155"/>
                          </a:solidFill>
                          <a:latin typeface="Lato"/>
                        </a:rPr>
                        <a:t>NASNetMobile</a:t>
                      </a:r>
                    </a:p>
                  </a:txBody>
                  <a:tcPr marL="63500" marR="63500" marT="25400" marB="25400" anchor="ctr">
                    <a:lnL>
                      <a:noFill/>
                    </a:lnL>
                    <a:lnR>
                      <a:noFill/>
                    </a:lnR>
                    <a:lnT>
                      <a:noFill/>
                    </a:lnT>
                    <a:lnB>
                      <a:noFill/>
                    </a:lnB>
                    <a:solidFill>
                      <a:srgbClr val="F8FAFC"/>
                    </a:solidFill>
                  </a:tcPr>
                </a:tc>
                <a:tc>
                  <a:txBody>
                    <a:bodyPr/>
                    <a:lstStyle/>
                    <a:p>
                      <a:pPr algn="l"/>
                      <a:r>
                        <a:rPr sz="2000" b="0" i="0" u="none">
                          <a:solidFill>
                            <a:srgbClr val="334155"/>
                          </a:solidFill>
                          <a:latin typeface="Lato"/>
                        </a:rPr>
                        <a:t>81.75%</a:t>
                      </a:r>
                    </a:p>
                  </a:txBody>
                  <a:tcPr marL="63500" marR="63500" marT="25400" marB="25400" anchor="ctr">
                    <a:lnL>
                      <a:noFill/>
                    </a:lnL>
                    <a:lnR>
                      <a:noFill/>
                    </a:lnR>
                    <a:lnT>
                      <a:noFill/>
                    </a:lnT>
                    <a:lnB>
                      <a:noFill/>
                    </a:lnB>
                    <a:solidFill>
                      <a:srgbClr val="F8FAFC"/>
                    </a:solidFill>
                  </a:tcPr>
                </a:tc>
                <a:tc>
                  <a:txBody>
                    <a:bodyPr/>
                    <a:lstStyle/>
                    <a:p>
                      <a:pPr algn="l"/>
                      <a:r>
                        <a:rPr sz="2000" b="0" i="0" u="none">
                          <a:solidFill>
                            <a:srgbClr val="334155"/>
                          </a:solidFill>
                          <a:latin typeface="Lato"/>
                        </a:rPr>
                        <a:t>81.78%</a:t>
                      </a:r>
                    </a:p>
                  </a:txBody>
                  <a:tcPr marL="63500" marR="63500" marT="25400" marB="25400" anchor="ctr">
                    <a:lnL>
                      <a:noFill/>
                    </a:lnL>
                    <a:lnR>
                      <a:noFill/>
                    </a:lnR>
                    <a:lnT>
                      <a:noFill/>
                    </a:lnT>
                    <a:lnB>
                      <a:noFill/>
                    </a:lnB>
                    <a:solidFill>
                      <a:srgbClr val="F8FAFC"/>
                    </a:solidFill>
                  </a:tcPr>
                </a:tc>
                <a:tc>
                  <a:txBody>
                    <a:bodyPr/>
                    <a:lstStyle/>
                    <a:p>
                      <a:pPr algn="l"/>
                      <a:r>
                        <a:rPr sz="2000" b="0" i="0" u="none">
                          <a:solidFill>
                            <a:srgbClr val="334155"/>
                          </a:solidFill>
                          <a:latin typeface="Lato"/>
                        </a:rPr>
                        <a:t>81.28%</a:t>
                      </a:r>
                    </a:p>
                  </a:txBody>
                  <a:tcPr marL="63500" marR="63500" marT="25400" marB="25400" anchor="ctr">
                    <a:lnL>
                      <a:noFill/>
                    </a:lnL>
                    <a:lnR>
                      <a:noFill/>
                    </a:lnR>
                    <a:lnT>
                      <a:noFill/>
                    </a:lnT>
                    <a:lnB>
                      <a:noFill/>
                    </a:lnB>
                    <a:solidFill>
                      <a:srgbClr val="F8FAFC"/>
                    </a:solidFill>
                  </a:tcPr>
                </a:tc>
                <a:tc>
                  <a:txBody>
                    <a:bodyPr/>
                    <a:lstStyle/>
                    <a:p>
                      <a:pPr algn="l"/>
                      <a:r>
                        <a:rPr sz="2000" b="0" i="0" u="none">
                          <a:solidFill>
                            <a:srgbClr val="334155"/>
                          </a:solidFill>
                          <a:latin typeface="Lato"/>
                        </a:rPr>
                        <a:t>20.48 MB</a:t>
                      </a:r>
                    </a:p>
                  </a:txBody>
                  <a:tcPr marL="63500" marR="63500" marT="25400" marB="25400" anchor="ctr">
                    <a:lnL>
                      <a:noFill/>
                    </a:lnL>
                    <a:lnR>
                      <a:noFill/>
                    </a:lnR>
                    <a:lnT>
                      <a:noFill/>
                    </a:lnT>
                    <a:lnB>
                      <a:noFill/>
                    </a:lnB>
                    <a:solidFill>
                      <a:srgbClr val="F8FAFC"/>
                    </a:solidFill>
                  </a:tcPr>
                </a:tc>
                <a:tc>
                  <a:txBody>
                    <a:bodyPr/>
                    <a:lstStyle/>
                    <a:p>
                      <a:pPr algn="l"/>
                      <a:r>
                        <a:rPr sz="2000" b="0" i="0" u="none">
                          <a:solidFill>
                            <a:srgbClr val="334155"/>
                          </a:solidFill>
                          <a:latin typeface="Lato"/>
                        </a:rPr>
                        <a:t>41.37 ms</a:t>
                      </a:r>
                    </a:p>
                  </a:txBody>
                  <a:tcPr marL="63500" marR="63500" marT="25400" marB="25400" anchor="ctr">
                    <a:lnL>
                      <a:noFill/>
                    </a:lnL>
                    <a:lnR>
                      <a:noFill/>
                    </a:lnR>
                    <a:lnT>
                      <a:noFill/>
                    </a:lnT>
                    <a:lnB>
                      <a:noFill/>
                    </a:lnB>
                    <a:solidFill>
                      <a:srgbClr val="F8FAFC"/>
                    </a:solidFill>
                  </a:tcPr>
                </a:tc>
                <a:extLst>
                  <a:ext uri="{0D108BD9-81ED-4DB2-BD59-A6C34878D82A}">
                    <a16:rowId xmlns:a16="http://schemas.microsoft.com/office/drawing/2014/main" val="10004"/>
                  </a:ext>
                </a:extLst>
              </a:tr>
              <a:tr h="833085">
                <a:tc>
                  <a:txBody>
                    <a:bodyPr/>
                    <a:lstStyle/>
                    <a:p>
                      <a:pPr algn="l"/>
                      <a:r>
                        <a:rPr sz="2000" b="0" i="0" u="none">
                          <a:solidFill>
                            <a:srgbClr val="334155"/>
                          </a:solidFill>
                          <a:latin typeface="Lato"/>
                        </a:rPr>
                        <a:t>DenseNet121</a:t>
                      </a:r>
                    </a:p>
                  </a:txBody>
                  <a:tcPr marL="63500" marR="63500" marT="25400" marB="25400" anchor="ctr">
                    <a:lnL>
                      <a:noFill/>
                    </a:lnL>
                    <a:lnR>
                      <a:noFill/>
                    </a:lnR>
                    <a:lnT>
                      <a:noFill/>
                    </a:lnT>
                    <a:lnB>
                      <a:noFill/>
                    </a:lnB>
                    <a:noFill/>
                  </a:tcPr>
                </a:tc>
                <a:tc>
                  <a:txBody>
                    <a:bodyPr/>
                    <a:lstStyle/>
                    <a:p>
                      <a:pPr algn="l"/>
                      <a:r>
                        <a:rPr sz="2000" b="0" i="0" u="none" dirty="0">
                          <a:solidFill>
                            <a:srgbClr val="334155"/>
                          </a:solidFill>
                          <a:latin typeface="Lato"/>
                        </a:rPr>
                        <a:t>90.25%</a:t>
                      </a:r>
                    </a:p>
                  </a:txBody>
                  <a:tcPr marL="63500" marR="63500" marT="25400" marB="25400" anchor="ctr">
                    <a:lnL>
                      <a:noFill/>
                    </a:lnL>
                    <a:lnR>
                      <a:noFill/>
                    </a:lnR>
                    <a:lnT>
                      <a:noFill/>
                    </a:lnT>
                    <a:lnB>
                      <a:noFill/>
                    </a:lnB>
                    <a:noFill/>
                  </a:tcPr>
                </a:tc>
                <a:tc>
                  <a:txBody>
                    <a:bodyPr/>
                    <a:lstStyle/>
                    <a:p>
                      <a:pPr algn="l"/>
                      <a:r>
                        <a:rPr sz="2000" b="0" i="0" u="none">
                          <a:solidFill>
                            <a:srgbClr val="334155"/>
                          </a:solidFill>
                          <a:latin typeface="Lato"/>
                        </a:rPr>
                        <a:t>90.54%</a:t>
                      </a:r>
                    </a:p>
                  </a:txBody>
                  <a:tcPr marL="63500" marR="63500" marT="25400" marB="25400" anchor="ctr">
                    <a:lnL>
                      <a:noFill/>
                    </a:lnL>
                    <a:lnR>
                      <a:noFill/>
                    </a:lnR>
                    <a:lnT>
                      <a:noFill/>
                    </a:lnT>
                    <a:lnB>
                      <a:noFill/>
                    </a:lnB>
                    <a:noFill/>
                  </a:tcPr>
                </a:tc>
                <a:tc>
                  <a:txBody>
                    <a:bodyPr/>
                    <a:lstStyle/>
                    <a:p>
                      <a:pPr algn="l"/>
                      <a:r>
                        <a:rPr sz="2000" b="0" i="0" u="none">
                          <a:solidFill>
                            <a:srgbClr val="334155"/>
                          </a:solidFill>
                          <a:latin typeface="Lato"/>
                        </a:rPr>
                        <a:t>90.18%</a:t>
                      </a:r>
                    </a:p>
                  </a:txBody>
                  <a:tcPr marL="63500" marR="63500" marT="25400" marB="25400" anchor="ctr">
                    <a:lnL>
                      <a:noFill/>
                    </a:lnL>
                    <a:lnR>
                      <a:noFill/>
                    </a:lnR>
                    <a:lnT>
                      <a:noFill/>
                    </a:lnT>
                    <a:lnB>
                      <a:noFill/>
                    </a:lnB>
                    <a:noFill/>
                  </a:tcPr>
                </a:tc>
                <a:tc>
                  <a:txBody>
                    <a:bodyPr/>
                    <a:lstStyle/>
                    <a:p>
                      <a:pPr algn="l"/>
                      <a:r>
                        <a:rPr sz="2000" b="0" i="0" u="none">
                          <a:solidFill>
                            <a:srgbClr val="334155"/>
                          </a:solidFill>
                          <a:latin typeface="Lato"/>
                        </a:rPr>
                        <a:t>29.82 MB</a:t>
                      </a:r>
                    </a:p>
                  </a:txBody>
                  <a:tcPr marL="63500" marR="63500" marT="25400" marB="25400" anchor="ctr">
                    <a:lnL>
                      <a:noFill/>
                    </a:lnL>
                    <a:lnR>
                      <a:noFill/>
                    </a:lnR>
                    <a:lnT>
                      <a:noFill/>
                    </a:lnT>
                    <a:lnB>
                      <a:noFill/>
                    </a:lnB>
                    <a:noFill/>
                  </a:tcPr>
                </a:tc>
                <a:tc>
                  <a:txBody>
                    <a:bodyPr/>
                    <a:lstStyle/>
                    <a:p>
                      <a:pPr algn="l"/>
                      <a:r>
                        <a:rPr sz="2000" b="0" i="0" u="none" dirty="0">
                          <a:solidFill>
                            <a:srgbClr val="334155"/>
                          </a:solidFill>
                          <a:latin typeface="Lato"/>
                        </a:rPr>
                        <a:t>68.46 </a:t>
                      </a:r>
                      <a:r>
                        <a:rPr sz="2000" b="0" i="0" u="none" dirty="0" err="1">
                          <a:solidFill>
                            <a:srgbClr val="334155"/>
                          </a:solidFill>
                          <a:latin typeface="Lato"/>
                        </a:rPr>
                        <a:t>ms</a:t>
                      </a:r>
                      <a:endParaRPr sz="2000" b="0" i="0" u="none" dirty="0">
                        <a:solidFill>
                          <a:srgbClr val="334155"/>
                        </a:solidFill>
                        <a:latin typeface="Lato"/>
                      </a:endParaRPr>
                    </a:p>
                  </a:txBody>
                  <a:tcPr marL="63500" marR="63500" marT="25400" marB="25400" anchor="ctr">
                    <a:lnL>
                      <a:noFill/>
                    </a:lnL>
                    <a:lnR>
                      <a:noFill/>
                    </a:lnR>
                    <a:lnT>
                      <a:noFill/>
                    </a:lnT>
                    <a:lnB>
                      <a:noFill/>
                    </a:lnB>
                    <a:noFill/>
                  </a:tcPr>
                </a:tc>
                <a:extLst>
                  <a:ext uri="{0D108BD9-81ED-4DB2-BD59-A6C34878D82A}">
                    <a16:rowId xmlns:a16="http://schemas.microsoft.com/office/drawing/2014/main" val="10005"/>
                  </a:ext>
                </a:extLst>
              </a:tr>
            </a:tbl>
          </a:graphicData>
        </a:graphic>
      </p:graphicFrame>
      <p:sp>
        <p:nvSpPr>
          <p:cNvPr id="4" name="Rectangle 3"/>
          <p:cNvSpPr/>
          <p:nvPr/>
        </p:nvSpPr>
        <p:spPr>
          <a:xfrm>
            <a:off x="571500" y="2831306"/>
            <a:ext cx="2449562"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3021062" y="2831306"/>
            <a:ext cx="1482625"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503687" y="2831306"/>
            <a:ext cx="1430982"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934670" y="2831306"/>
            <a:ext cx="1727596"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662267" y="2831306"/>
            <a:ext cx="1585763"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9248030" y="2831306"/>
            <a:ext cx="2372469"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71500" y="3312318"/>
            <a:ext cx="2449562"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3021062" y="3312318"/>
            <a:ext cx="1482625"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503687" y="3312318"/>
            <a:ext cx="1430982"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5934670" y="3312318"/>
            <a:ext cx="1727596"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7662267" y="3312318"/>
            <a:ext cx="1585763"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9248030" y="3312318"/>
            <a:ext cx="2372469"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571500" y="3793331"/>
            <a:ext cx="2449562"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3021062" y="3793331"/>
            <a:ext cx="1482625"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4503687" y="3793331"/>
            <a:ext cx="1430982"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5934670" y="3793331"/>
            <a:ext cx="1727596"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7662267" y="3793331"/>
            <a:ext cx="1585763"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9248030" y="3793331"/>
            <a:ext cx="2372469"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571500" y="4274343"/>
            <a:ext cx="2449562"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3021062" y="4274343"/>
            <a:ext cx="1482625"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4503687" y="4274343"/>
            <a:ext cx="1430982"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5934670" y="4274343"/>
            <a:ext cx="1727596"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7662267" y="4274343"/>
            <a:ext cx="1585763"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9248030" y="4274343"/>
            <a:ext cx="2372469"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571500" y="4755356"/>
            <a:ext cx="2449562"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3021062" y="4755356"/>
            <a:ext cx="1482625"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4503687" y="4755356"/>
            <a:ext cx="1430982"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5934670" y="4755356"/>
            <a:ext cx="1727596"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7662267" y="4755356"/>
            <a:ext cx="1585763"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9248030" y="4755356"/>
            <a:ext cx="2372469"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571500" y="5236368"/>
            <a:ext cx="2449562"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3021062" y="5236368"/>
            <a:ext cx="1482625"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4503687" y="5236368"/>
            <a:ext cx="1430982"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5934670" y="5236368"/>
            <a:ext cx="1727596"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7662267" y="5236368"/>
            <a:ext cx="1585763"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9248030" y="5236368"/>
            <a:ext cx="2372469"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571500" y="476250"/>
            <a:ext cx="11601450" cy="615553"/>
          </a:xfrm>
          <a:prstGeom prst="rect">
            <a:avLst/>
          </a:prstGeom>
          <a:noFill/>
        </p:spPr>
        <p:txBody>
          <a:bodyPr wrap="square" lIns="0" tIns="0" rIns="0" bIns="0" anchor="t">
            <a:spAutoFit/>
          </a:bodyPr>
          <a:lstStyle/>
          <a:p>
            <a:pPr algn="l"/>
            <a:r>
              <a:rPr sz="4000" b="0" i="0" u="none" dirty="0">
                <a:solidFill>
                  <a:srgbClr val="064E3B"/>
                </a:solidFill>
                <a:latin typeface="Poppins SemiBold"/>
              </a:rPr>
              <a:t>Comprehensive Model Metrics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0" y="275303"/>
            <a:ext cx="12192000" cy="6858000"/>
          </a:xfrm>
          <a:prstGeom prst="rect">
            <a:avLst/>
          </a:prstGeom>
        </p:spPr>
      </p:pic>
      <p:pic>
        <p:nvPicPr>
          <p:cNvPr id="3" name="Picture 2" descr="image.png"/>
          <p:cNvPicPr>
            <a:picLocks noChangeAspect="1"/>
          </p:cNvPicPr>
          <p:nvPr/>
        </p:nvPicPr>
        <p:blipFill>
          <a:blip r:embed="rId4"/>
          <a:stretch>
            <a:fillRect/>
          </a:stretch>
        </p:blipFill>
        <p:spPr>
          <a:xfrm>
            <a:off x="571500" y="2836067"/>
            <a:ext cx="5334000" cy="3022865"/>
          </a:xfrm>
          <a:prstGeom prst="rect">
            <a:avLst/>
          </a:prstGeom>
        </p:spPr>
      </p:pic>
      <p:pic>
        <p:nvPicPr>
          <p:cNvPr id="4" name="Picture 3" descr="image.png"/>
          <p:cNvPicPr>
            <a:picLocks noChangeAspect="1"/>
          </p:cNvPicPr>
          <p:nvPr/>
        </p:nvPicPr>
        <p:blipFill>
          <a:blip r:embed="rId4"/>
          <a:stretch>
            <a:fillRect/>
          </a:stretch>
        </p:blipFill>
        <p:spPr>
          <a:xfrm>
            <a:off x="6286500" y="2836068"/>
            <a:ext cx="5334000" cy="3022864"/>
          </a:xfrm>
          <a:prstGeom prst="rect">
            <a:avLst/>
          </a:prstGeom>
        </p:spPr>
      </p:pic>
      <p:sp>
        <p:nvSpPr>
          <p:cNvPr id="5" name="TextBox 4"/>
          <p:cNvSpPr txBox="1"/>
          <p:nvPr/>
        </p:nvSpPr>
        <p:spPr>
          <a:xfrm>
            <a:off x="866775" y="3131343"/>
            <a:ext cx="4980622" cy="369332"/>
          </a:xfrm>
          <a:prstGeom prst="rect">
            <a:avLst/>
          </a:prstGeom>
          <a:noFill/>
        </p:spPr>
        <p:txBody>
          <a:bodyPr wrap="square" lIns="0" tIns="0" rIns="0" bIns="0" anchor="t">
            <a:spAutoFit/>
          </a:bodyPr>
          <a:lstStyle/>
          <a:p>
            <a:pPr algn="l"/>
            <a:r>
              <a:rPr sz="2400" b="0" i="0" u="none" dirty="0">
                <a:solidFill>
                  <a:srgbClr val="0F766E"/>
                </a:solidFill>
                <a:latin typeface="Poppins SemiBold"/>
              </a:rPr>
              <a:t>Why Not EfficientNetV2B0?</a:t>
            </a:r>
          </a:p>
        </p:txBody>
      </p:sp>
      <p:sp>
        <p:nvSpPr>
          <p:cNvPr id="6" name="TextBox 5"/>
          <p:cNvSpPr txBox="1"/>
          <p:nvPr/>
        </p:nvSpPr>
        <p:spPr>
          <a:xfrm>
            <a:off x="866775" y="3687675"/>
            <a:ext cx="4743450" cy="243656"/>
          </a:xfrm>
          <a:prstGeom prst="rect">
            <a:avLst/>
          </a:prstGeom>
          <a:noFill/>
        </p:spPr>
        <p:txBody>
          <a:bodyPr wrap="square" lIns="0" tIns="0" rIns="0" bIns="0" anchor="t">
            <a:spAutoFit/>
          </a:bodyPr>
          <a:lstStyle/>
          <a:p>
            <a:pPr algn="l">
              <a:lnSpc>
                <a:spcPts val="1912"/>
              </a:lnSpc>
            </a:pPr>
            <a:r>
              <a:rPr sz="2000" b="0" i="0" u="none" dirty="0">
                <a:solidFill>
                  <a:srgbClr val="334155"/>
                </a:solidFill>
                <a:latin typeface="Lato"/>
              </a:rPr>
              <a:t>• Highest accuracy (92.00%)</a:t>
            </a:r>
          </a:p>
        </p:txBody>
      </p:sp>
      <p:sp>
        <p:nvSpPr>
          <p:cNvPr id="7" name="TextBox 6"/>
          <p:cNvSpPr txBox="1"/>
          <p:nvPr/>
        </p:nvSpPr>
        <p:spPr>
          <a:xfrm>
            <a:off x="866775" y="4612948"/>
            <a:ext cx="4743450" cy="487313"/>
          </a:xfrm>
          <a:prstGeom prst="rect">
            <a:avLst/>
          </a:prstGeom>
          <a:noFill/>
        </p:spPr>
        <p:txBody>
          <a:bodyPr wrap="square" lIns="0" tIns="0" rIns="0" bIns="0" anchor="t">
            <a:spAutoFit/>
          </a:bodyPr>
          <a:lstStyle/>
          <a:p>
            <a:pPr algn="l">
              <a:lnSpc>
                <a:spcPts val="1912"/>
              </a:lnSpc>
            </a:pPr>
            <a:r>
              <a:rPr sz="2000" b="0" i="0" u="none" dirty="0">
                <a:solidFill>
                  <a:srgbClr val="334155"/>
                </a:solidFill>
                <a:latin typeface="Lato"/>
              </a:rPr>
              <a:t>• Higher latency (40.26 </a:t>
            </a:r>
            <a:r>
              <a:rPr sz="2000" b="0" i="0" u="none" dirty="0" err="1">
                <a:solidFill>
                  <a:srgbClr val="334155"/>
                </a:solidFill>
                <a:latin typeface="Lato"/>
              </a:rPr>
              <a:t>ms</a:t>
            </a:r>
            <a:r>
              <a:rPr sz="2000" b="0" i="0" u="none" dirty="0">
                <a:solidFill>
                  <a:srgbClr val="334155"/>
                </a:solidFill>
                <a:latin typeface="Lato"/>
              </a:rPr>
              <a:t>) increases battery drain and RAM overhead.</a:t>
            </a:r>
          </a:p>
        </p:txBody>
      </p:sp>
      <p:sp>
        <p:nvSpPr>
          <p:cNvPr id="8" name="TextBox 7"/>
          <p:cNvSpPr txBox="1"/>
          <p:nvPr/>
        </p:nvSpPr>
        <p:spPr>
          <a:xfrm>
            <a:off x="6581775" y="3131343"/>
            <a:ext cx="4980622" cy="369332"/>
          </a:xfrm>
          <a:prstGeom prst="rect">
            <a:avLst/>
          </a:prstGeom>
          <a:noFill/>
        </p:spPr>
        <p:txBody>
          <a:bodyPr wrap="square" lIns="0" tIns="0" rIns="0" bIns="0" anchor="t">
            <a:spAutoFit/>
          </a:bodyPr>
          <a:lstStyle/>
          <a:p>
            <a:pPr algn="l"/>
            <a:r>
              <a:rPr sz="2400" b="0" i="0" u="none" dirty="0">
                <a:solidFill>
                  <a:srgbClr val="0F766E"/>
                </a:solidFill>
                <a:latin typeface="Poppins SemiBold"/>
              </a:rPr>
              <a:t>Why MobileNetV3-Small Wins</a:t>
            </a:r>
          </a:p>
        </p:txBody>
      </p:sp>
      <p:sp>
        <p:nvSpPr>
          <p:cNvPr id="9" name="TextBox 8"/>
          <p:cNvSpPr txBox="1"/>
          <p:nvPr/>
        </p:nvSpPr>
        <p:spPr>
          <a:xfrm>
            <a:off x="6581775" y="4173099"/>
            <a:ext cx="4743450" cy="487313"/>
          </a:xfrm>
          <a:prstGeom prst="rect">
            <a:avLst/>
          </a:prstGeom>
          <a:noFill/>
        </p:spPr>
        <p:txBody>
          <a:bodyPr wrap="square" lIns="0" tIns="0" rIns="0" bIns="0" anchor="t">
            <a:spAutoFit/>
          </a:bodyPr>
          <a:lstStyle/>
          <a:p>
            <a:pPr algn="l">
              <a:lnSpc>
                <a:spcPts val="1912"/>
              </a:lnSpc>
            </a:pPr>
            <a:r>
              <a:rPr sz="2000" b="0" i="0" u="none" dirty="0">
                <a:solidFill>
                  <a:srgbClr val="334155"/>
                </a:solidFill>
                <a:latin typeface="Lato"/>
              </a:rPr>
              <a:t>• </a:t>
            </a:r>
            <a:r>
              <a:rPr lang="en-US" sz="2000" b="0" i="0" u="none" dirty="0">
                <a:solidFill>
                  <a:srgbClr val="334155"/>
                </a:solidFill>
                <a:highlight>
                  <a:srgbClr val="FFFF00"/>
                </a:highlight>
                <a:latin typeface="Lato"/>
              </a:rPr>
              <a:t>But </a:t>
            </a:r>
            <a:r>
              <a:rPr sz="2000" b="0" i="0" u="none" dirty="0">
                <a:solidFill>
                  <a:srgbClr val="334155"/>
                </a:solidFill>
                <a:highlight>
                  <a:srgbClr val="FFFF00"/>
                </a:highlight>
                <a:latin typeface="Lato"/>
              </a:rPr>
              <a:t>Ultra-compact storage footprint of </a:t>
            </a:r>
            <a:r>
              <a:rPr lang="en-US" sz="2000" b="0" i="0" u="none" dirty="0">
                <a:solidFill>
                  <a:srgbClr val="334155"/>
                </a:solidFill>
                <a:highlight>
                  <a:srgbClr val="FFFF00"/>
                </a:highlight>
                <a:latin typeface="Lato"/>
              </a:rPr>
              <a:t>   </a:t>
            </a:r>
            <a:r>
              <a:rPr sz="2000" b="0" i="0" u="none" dirty="0">
                <a:solidFill>
                  <a:srgbClr val="334155"/>
                </a:solidFill>
                <a:highlight>
                  <a:srgbClr val="FFFF00"/>
                </a:highlight>
                <a:latin typeface="Lato"/>
              </a:rPr>
              <a:t>only </a:t>
            </a:r>
            <a:r>
              <a:rPr sz="2000" b="1" i="0" u="none" dirty="0">
                <a:solidFill>
                  <a:srgbClr val="334155"/>
                </a:solidFill>
                <a:highlight>
                  <a:srgbClr val="FFFF00"/>
                </a:highlight>
                <a:latin typeface="Lato"/>
              </a:rPr>
              <a:t>4.99 MB</a:t>
            </a:r>
            <a:r>
              <a:rPr sz="2000" b="0" i="0" u="none" dirty="0">
                <a:solidFill>
                  <a:srgbClr val="334155"/>
                </a:solidFill>
                <a:highlight>
                  <a:srgbClr val="FFFF00"/>
                </a:highlight>
                <a:latin typeface="Lato"/>
              </a:rPr>
              <a:t> (Quantized).</a:t>
            </a:r>
          </a:p>
        </p:txBody>
      </p:sp>
      <p:sp>
        <p:nvSpPr>
          <p:cNvPr id="10" name="TextBox 9"/>
          <p:cNvSpPr txBox="1"/>
          <p:nvPr/>
        </p:nvSpPr>
        <p:spPr>
          <a:xfrm>
            <a:off x="6581775" y="4823801"/>
            <a:ext cx="4743450" cy="243656"/>
          </a:xfrm>
          <a:prstGeom prst="rect">
            <a:avLst/>
          </a:prstGeom>
          <a:noFill/>
        </p:spPr>
        <p:txBody>
          <a:bodyPr wrap="square" lIns="0" tIns="0" rIns="0" bIns="0" anchor="t">
            <a:spAutoFit/>
          </a:bodyPr>
          <a:lstStyle/>
          <a:p>
            <a:pPr algn="l">
              <a:lnSpc>
                <a:spcPts val="1912"/>
              </a:lnSpc>
            </a:pPr>
            <a:r>
              <a:rPr sz="2000" b="0" i="0" u="none" dirty="0">
                <a:solidFill>
                  <a:srgbClr val="334155"/>
                </a:solidFill>
                <a:highlight>
                  <a:srgbClr val="00FFFF"/>
                </a:highlight>
                <a:latin typeface="Lato"/>
              </a:rPr>
              <a:t>• Fastest inference speed of </a:t>
            </a:r>
            <a:r>
              <a:rPr sz="2000" b="1" i="0" u="none" dirty="0">
                <a:solidFill>
                  <a:srgbClr val="334155"/>
                </a:solidFill>
                <a:highlight>
                  <a:srgbClr val="00FFFF"/>
                </a:highlight>
                <a:latin typeface="Lato"/>
              </a:rPr>
              <a:t>28.29 </a:t>
            </a:r>
            <a:r>
              <a:rPr sz="2000" b="1" i="0" u="none" dirty="0" err="1">
                <a:solidFill>
                  <a:srgbClr val="334155"/>
                </a:solidFill>
                <a:highlight>
                  <a:srgbClr val="00FFFF"/>
                </a:highlight>
                <a:latin typeface="Lato"/>
              </a:rPr>
              <a:t>ms</a:t>
            </a:r>
            <a:r>
              <a:rPr sz="2000" b="0" i="0" u="none" dirty="0">
                <a:solidFill>
                  <a:srgbClr val="334155"/>
                </a:solidFill>
                <a:highlight>
                  <a:srgbClr val="00FFFF"/>
                </a:highlight>
                <a:latin typeface="Lato"/>
              </a:rPr>
              <a:t> </a:t>
            </a:r>
          </a:p>
        </p:txBody>
      </p:sp>
      <p:sp>
        <p:nvSpPr>
          <p:cNvPr id="11" name="TextBox 10"/>
          <p:cNvSpPr txBox="1"/>
          <p:nvPr/>
        </p:nvSpPr>
        <p:spPr>
          <a:xfrm>
            <a:off x="571500" y="476250"/>
            <a:ext cx="11601450" cy="615553"/>
          </a:xfrm>
          <a:prstGeom prst="rect">
            <a:avLst/>
          </a:prstGeom>
          <a:noFill/>
        </p:spPr>
        <p:txBody>
          <a:bodyPr wrap="square" lIns="0" tIns="0" rIns="0" bIns="0" anchor="t">
            <a:spAutoFit/>
          </a:bodyPr>
          <a:lstStyle/>
          <a:p>
            <a:pPr algn="l"/>
            <a:r>
              <a:rPr sz="4000" b="0" i="0" u="none" dirty="0">
                <a:solidFill>
                  <a:srgbClr val="064E3B"/>
                </a:solidFill>
                <a:latin typeface="Poppins SemiBold"/>
              </a:rPr>
              <a:t>Edge Deployment Model Selection</a:t>
            </a:r>
          </a:p>
        </p:txBody>
      </p:sp>
      <p:sp>
        <p:nvSpPr>
          <p:cNvPr id="12" name="TextBox 11">
            <a:extLst>
              <a:ext uri="{FF2B5EF4-FFF2-40B4-BE49-F238E27FC236}">
                <a16:creationId xmlns:a16="http://schemas.microsoft.com/office/drawing/2014/main" id="{261F4233-F272-774E-7CC0-5F907515A5E1}"/>
              </a:ext>
            </a:extLst>
          </p:cNvPr>
          <p:cNvSpPr txBox="1"/>
          <p:nvPr/>
        </p:nvSpPr>
        <p:spPr>
          <a:xfrm>
            <a:off x="866775" y="4099293"/>
            <a:ext cx="4743450" cy="243656"/>
          </a:xfrm>
          <a:prstGeom prst="rect">
            <a:avLst/>
          </a:prstGeom>
          <a:noFill/>
        </p:spPr>
        <p:txBody>
          <a:bodyPr wrap="square" lIns="0" tIns="0" rIns="0" bIns="0" anchor="t">
            <a:spAutoFit/>
          </a:bodyPr>
          <a:lstStyle/>
          <a:p>
            <a:pPr algn="l">
              <a:lnSpc>
                <a:spcPts val="1912"/>
              </a:lnSpc>
            </a:pPr>
            <a:r>
              <a:rPr sz="2000" b="0" i="0" u="none" dirty="0">
                <a:solidFill>
                  <a:srgbClr val="334155"/>
                </a:solidFill>
                <a:latin typeface="Lato"/>
              </a:rPr>
              <a:t>• </a:t>
            </a:r>
            <a:r>
              <a:rPr lang="en-GB" sz="2000" dirty="0">
                <a:solidFill>
                  <a:srgbClr val="334155"/>
                </a:solidFill>
                <a:latin typeface="Lato"/>
              </a:rPr>
              <a:t>B</a:t>
            </a:r>
            <a:r>
              <a:rPr lang="en-GB" sz="2000" b="0" i="0" u="none" dirty="0">
                <a:solidFill>
                  <a:srgbClr val="334155"/>
                </a:solidFill>
                <a:latin typeface="Lato"/>
              </a:rPr>
              <a:t>ut model size is 24.39 MB (5x larger).</a:t>
            </a:r>
            <a:endParaRPr sz="2000" b="0" i="0" u="none" dirty="0">
              <a:solidFill>
                <a:srgbClr val="334155"/>
              </a:solidFill>
              <a:latin typeface="Lato"/>
            </a:endParaRPr>
          </a:p>
        </p:txBody>
      </p:sp>
      <p:sp>
        <p:nvSpPr>
          <p:cNvPr id="16" name="TextBox 15">
            <a:extLst>
              <a:ext uri="{FF2B5EF4-FFF2-40B4-BE49-F238E27FC236}">
                <a16:creationId xmlns:a16="http://schemas.microsoft.com/office/drawing/2014/main" id="{CB9E1B79-4BD3-DDCE-A816-A87D0D36FD05}"/>
              </a:ext>
            </a:extLst>
          </p:cNvPr>
          <p:cNvSpPr txBox="1"/>
          <p:nvPr/>
        </p:nvSpPr>
        <p:spPr>
          <a:xfrm>
            <a:off x="6581775" y="3612535"/>
            <a:ext cx="4743450" cy="243656"/>
          </a:xfrm>
          <a:prstGeom prst="rect">
            <a:avLst/>
          </a:prstGeom>
          <a:noFill/>
        </p:spPr>
        <p:txBody>
          <a:bodyPr wrap="square" lIns="0" tIns="0" rIns="0" bIns="0" anchor="t">
            <a:spAutoFit/>
          </a:bodyPr>
          <a:lstStyle/>
          <a:p>
            <a:pPr algn="l">
              <a:lnSpc>
                <a:spcPts val="1912"/>
              </a:lnSpc>
            </a:pPr>
            <a:r>
              <a:rPr sz="2000" b="0" i="0" u="none" dirty="0">
                <a:solidFill>
                  <a:srgbClr val="334155"/>
                </a:solidFill>
                <a:latin typeface="Lato"/>
              </a:rPr>
              <a:t>•</a:t>
            </a:r>
            <a:r>
              <a:rPr lang="en-US" sz="2000" b="0" i="0" u="none" dirty="0">
                <a:solidFill>
                  <a:srgbClr val="334155"/>
                </a:solidFill>
                <a:latin typeface="Lato"/>
              </a:rPr>
              <a:t> Accuracy 88.50%</a:t>
            </a:r>
            <a:endParaRPr sz="2000" b="0" i="0" u="none" dirty="0">
              <a:solidFill>
                <a:srgbClr val="334155"/>
              </a:solidFill>
              <a:latin typeface="Lato"/>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pic>
        <p:nvPicPr>
          <p:cNvPr id="4" name="Picture 3" descr="image.png"/>
          <p:cNvPicPr>
            <a:picLocks noChangeAspect="1"/>
          </p:cNvPicPr>
          <p:nvPr/>
        </p:nvPicPr>
        <p:blipFill>
          <a:blip r:embed="rId3"/>
          <a:stretch>
            <a:fillRect/>
          </a:stretch>
        </p:blipFill>
        <p:spPr>
          <a:xfrm>
            <a:off x="204999" y="4010035"/>
            <a:ext cx="3234977" cy="941327"/>
          </a:xfrm>
          <a:prstGeom prst="rect">
            <a:avLst/>
          </a:prstGeom>
        </p:spPr>
      </p:pic>
      <p:pic>
        <p:nvPicPr>
          <p:cNvPr id="5" name="Picture 4" descr="image.png"/>
          <p:cNvPicPr>
            <a:picLocks noChangeAspect="1"/>
          </p:cNvPicPr>
          <p:nvPr/>
        </p:nvPicPr>
        <p:blipFill>
          <a:blip r:embed="rId4"/>
          <a:stretch>
            <a:fillRect/>
          </a:stretch>
        </p:blipFill>
        <p:spPr>
          <a:xfrm>
            <a:off x="193707" y="5209007"/>
            <a:ext cx="3234977" cy="1038141"/>
          </a:xfrm>
          <a:prstGeom prst="rect">
            <a:avLst/>
          </a:prstGeom>
        </p:spPr>
      </p:pic>
      <p:sp>
        <p:nvSpPr>
          <p:cNvPr id="8" name="TextBox 7"/>
          <p:cNvSpPr txBox="1"/>
          <p:nvPr/>
        </p:nvSpPr>
        <p:spPr>
          <a:xfrm>
            <a:off x="430433" y="4331232"/>
            <a:ext cx="3207119" cy="369332"/>
          </a:xfrm>
          <a:prstGeom prst="rect">
            <a:avLst/>
          </a:prstGeom>
          <a:noFill/>
        </p:spPr>
        <p:txBody>
          <a:bodyPr wrap="square" lIns="0" tIns="0" rIns="0" bIns="0" anchor="t">
            <a:spAutoFit/>
          </a:bodyPr>
          <a:lstStyle/>
          <a:p>
            <a:pPr algn="l"/>
            <a:r>
              <a:rPr sz="2400" b="0" i="0" u="none" dirty="0">
                <a:solidFill>
                  <a:srgbClr val="0F766E"/>
                </a:solidFill>
                <a:latin typeface="Poppins SemiBold"/>
              </a:rPr>
              <a:t>100% Offline</a:t>
            </a:r>
          </a:p>
        </p:txBody>
      </p:sp>
      <p:sp>
        <p:nvSpPr>
          <p:cNvPr id="10" name="TextBox 9"/>
          <p:cNvSpPr txBox="1"/>
          <p:nvPr/>
        </p:nvSpPr>
        <p:spPr>
          <a:xfrm>
            <a:off x="905570" y="5635043"/>
            <a:ext cx="3207119" cy="369332"/>
          </a:xfrm>
          <a:prstGeom prst="rect">
            <a:avLst/>
          </a:prstGeom>
          <a:noFill/>
        </p:spPr>
        <p:txBody>
          <a:bodyPr wrap="square" lIns="0" tIns="0" rIns="0" bIns="0" anchor="t">
            <a:spAutoFit/>
          </a:bodyPr>
          <a:lstStyle/>
          <a:p>
            <a:pPr algn="l"/>
            <a:r>
              <a:rPr sz="2400" b="0" i="0" u="none" dirty="0">
                <a:solidFill>
                  <a:srgbClr val="0F766E"/>
                </a:solidFill>
                <a:latin typeface="Poppins SemiBold"/>
              </a:rPr>
              <a:t>Privacy First</a:t>
            </a:r>
          </a:p>
        </p:txBody>
      </p:sp>
      <p:pic>
        <p:nvPicPr>
          <p:cNvPr id="3" name="Picture 2" descr="image.png"/>
          <p:cNvPicPr>
            <a:picLocks noChangeAspect="1"/>
          </p:cNvPicPr>
          <p:nvPr/>
        </p:nvPicPr>
        <p:blipFill>
          <a:blip r:embed="rId5"/>
          <a:stretch>
            <a:fillRect/>
          </a:stretch>
        </p:blipFill>
        <p:spPr>
          <a:xfrm>
            <a:off x="193707" y="2826352"/>
            <a:ext cx="3223686" cy="948480"/>
          </a:xfrm>
          <a:prstGeom prst="rect">
            <a:avLst/>
          </a:prstGeom>
        </p:spPr>
      </p:pic>
      <p:sp>
        <p:nvSpPr>
          <p:cNvPr id="6" name="TextBox 5"/>
          <p:cNvSpPr txBox="1"/>
          <p:nvPr/>
        </p:nvSpPr>
        <p:spPr>
          <a:xfrm>
            <a:off x="600292" y="3179963"/>
            <a:ext cx="3054399" cy="369332"/>
          </a:xfrm>
          <a:prstGeom prst="rect">
            <a:avLst/>
          </a:prstGeom>
          <a:noFill/>
        </p:spPr>
        <p:txBody>
          <a:bodyPr wrap="square" lIns="0" tIns="0" rIns="0" bIns="0" anchor="t">
            <a:spAutoFit/>
          </a:bodyPr>
          <a:lstStyle/>
          <a:p>
            <a:pPr algn="l"/>
            <a:r>
              <a:rPr sz="2400" b="0" i="0" u="none" dirty="0">
                <a:solidFill>
                  <a:srgbClr val="0F766E"/>
                </a:solidFill>
                <a:latin typeface="Poppins SemiBold"/>
              </a:rPr>
              <a:t>Real-Time Speed</a:t>
            </a:r>
          </a:p>
        </p:txBody>
      </p:sp>
      <p:pic>
        <p:nvPicPr>
          <p:cNvPr id="12" name="Picture 11" descr="image.png"/>
          <p:cNvPicPr>
            <a:picLocks noChangeAspect="1"/>
          </p:cNvPicPr>
          <p:nvPr/>
        </p:nvPicPr>
        <p:blipFill>
          <a:blip r:embed="rId6"/>
          <a:stretch>
            <a:fillRect/>
          </a:stretch>
        </p:blipFill>
        <p:spPr>
          <a:xfrm>
            <a:off x="267524" y="3193179"/>
            <a:ext cx="304800" cy="342900"/>
          </a:xfrm>
          <a:prstGeom prst="rect">
            <a:avLst/>
          </a:prstGeom>
        </p:spPr>
      </p:pic>
      <p:pic>
        <p:nvPicPr>
          <p:cNvPr id="13" name="Picture 12" descr="image.png"/>
          <p:cNvPicPr>
            <a:picLocks noChangeAspect="1"/>
          </p:cNvPicPr>
          <p:nvPr/>
        </p:nvPicPr>
        <p:blipFill>
          <a:blip r:embed="rId7"/>
          <a:stretch>
            <a:fillRect/>
          </a:stretch>
        </p:blipFill>
        <p:spPr>
          <a:xfrm>
            <a:off x="370992" y="5556627"/>
            <a:ext cx="428625" cy="342900"/>
          </a:xfrm>
          <a:prstGeom prst="rect">
            <a:avLst/>
          </a:prstGeom>
        </p:spPr>
      </p:pic>
      <p:sp>
        <p:nvSpPr>
          <p:cNvPr id="14" name="TextBox 13"/>
          <p:cNvSpPr txBox="1"/>
          <p:nvPr/>
        </p:nvSpPr>
        <p:spPr>
          <a:xfrm>
            <a:off x="571500" y="476250"/>
            <a:ext cx="11601450" cy="615553"/>
          </a:xfrm>
          <a:prstGeom prst="rect">
            <a:avLst/>
          </a:prstGeom>
          <a:noFill/>
        </p:spPr>
        <p:txBody>
          <a:bodyPr wrap="square" lIns="0" tIns="0" rIns="0" bIns="0" anchor="t">
            <a:spAutoFit/>
          </a:bodyPr>
          <a:lstStyle/>
          <a:p>
            <a:pPr algn="l"/>
            <a:r>
              <a:rPr sz="4000" b="0" i="0" u="none" dirty="0" err="1">
                <a:solidFill>
                  <a:srgbClr val="064E3B"/>
                </a:solidFill>
                <a:latin typeface="Poppins SemiBold"/>
              </a:rPr>
              <a:t>AmmChini</a:t>
            </a:r>
            <a:r>
              <a:rPr sz="4000" b="0" i="0" u="none" dirty="0">
                <a:solidFill>
                  <a:srgbClr val="064E3B"/>
                </a:solidFill>
                <a:latin typeface="Poppins SemiBold"/>
              </a:rPr>
              <a:t> AI Mobile Application</a:t>
            </a:r>
          </a:p>
        </p:txBody>
      </p:sp>
      <p:pic>
        <p:nvPicPr>
          <p:cNvPr id="18" name="Picture 17">
            <a:extLst>
              <a:ext uri="{FF2B5EF4-FFF2-40B4-BE49-F238E27FC236}">
                <a16:creationId xmlns:a16="http://schemas.microsoft.com/office/drawing/2014/main" id="{E0C0F174-1908-2B03-DB55-4609AC8810CE}"/>
              </a:ext>
            </a:extLst>
          </p:cNvPr>
          <p:cNvPicPr>
            <a:picLocks noChangeAspect="1"/>
          </p:cNvPicPr>
          <p:nvPr/>
        </p:nvPicPr>
        <p:blipFill>
          <a:blip r:embed="rId8"/>
          <a:stretch>
            <a:fillRect/>
          </a:stretch>
        </p:blipFill>
        <p:spPr>
          <a:xfrm>
            <a:off x="3750161" y="1122972"/>
            <a:ext cx="2740316" cy="5574512"/>
          </a:xfrm>
          <a:prstGeom prst="rect">
            <a:avLst/>
          </a:prstGeom>
        </p:spPr>
      </p:pic>
      <p:pic>
        <p:nvPicPr>
          <p:cNvPr id="20" name="Picture 19">
            <a:extLst>
              <a:ext uri="{FF2B5EF4-FFF2-40B4-BE49-F238E27FC236}">
                <a16:creationId xmlns:a16="http://schemas.microsoft.com/office/drawing/2014/main" id="{8A7850F8-C88E-8037-EE80-16A8A165CF54}"/>
              </a:ext>
            </a:extLst>
          </p:cNvPr>
          <p:cNvPicPr>
            <a:picLocks noChangeAspect="1"/>
          </p:cNvPicPr>
          <p:nvPr/>
        </p:nvPicPr>
        <p:blipFill>
          <a:blip r:embed="rId9"/>
          <a:stretch>
            <a:fillRect/>
          </a:stretch>
        </p:blipFill>
        <p:spPr>
          <a:xfrm>
            <a:off x="6596430" y="1091803"/>
            <a:ext cx="2740316" cy="5574512"/>
          </a:xfrm>
          <a:prstGeom prst="rect">
            <a:avLst/>
          </a:prstGeom>
        </p:spPr>
      </p:pic>
      <p:pic>
        <p:nvPicPr>
          <p:cNvPr id="23" name="Picture 22">
            <a:extLst>
              <a:ext uri="{FF2B5EF4-FFF2-40B4-BE49-F238E27FC236}">
                <a16:creationId xmlns:a16="http://schemas.microsoft.com/office/drawing/2014/main" id="{447E9B2F-5252-29F0-7CEA-0EB47DF6F2AF}"/>
              </a:ext>
            </a:extLst>
          </p:cNvPr>
          <p:cNvPicPr>
            <a:picLocks noChangeAspect="1"/>
          </p:cNvPicPr>
          <p:nvPr/>
        </p:nvPicPr>
        <p:blipFill>
          <a:blip r:embed="rId10"/>
          <a:stretch>
            <a:fillRect/>
          </a:stretch>
        </p:blipFill>
        <p:spPr>
          <a:xfrm>
            <a:off x="9449355" y="1070328"/>
            <a:ext cx="2766194" cy="5627156"/>
          </a:xfrm>
          <a:prstGeom prst="rect">
            <a:avLst/>
          </a:prstGeom>
        </p:spPr>
      </p:pic>
      <p:sp>
        <p:nvSpPr>
          <p:cNvPr id="24" name="TextBox 23">
            <a:extLst>
              <a:ext uri="{FF2B5EF4-FFF2-40B4-BE49-F238E27FC236}">
                <a16:creationId xmlns:a16="http://schemas.microsoft.com/office/drawing/2014/main" id="{21183D9E-D26C-F8E5-135A-7AA0D0F90A1A}"/>
              </a:ext>
            </a:extLst>
          </p:cNvPr>
          <p:cNvSpPr txBox="1"/>
          <p:nvPr/>
        </p:nvSpPr>
        <p:spPr>
          <a:xfrm>
            <a:off x="157964" y="1992068"/>
            <a:ext cx="3234976" cy="492443"/>
          </a:xfrm>
          <a:prstGeom prst="rect">
            <a:avLst/>
          </a:prstGeom>
          <a:noFill/>
        </p:spPr>
        <p:txBody>
          <a:bodyPr wrap="square" lIns="0" tIns="0" rIns="0" bIns="0" anchor="t">
            <a:spAutoFit/>
          </a:bodyPr>
          <a:lstStyle/>
          <a:p>
            <a:pPr algn="l"/>
            <a:r>
              <a:rPr lang="en-US" sz="3200" b="0" i="0" u="none" dirty="0">
                <a:solidFill>
                  <a:srgbClr val="064E3B"/>
                </a:solidFill>
                <a:latin typeface="Poppins SemiBold"/>
              </a:rPr>
              <a:t>Key Features:</a:t>
            </a:r>
            <a:endParaRPr sz="3200" b="0" i="0" u="none" dirty="0">
              <a:solidFill>
                <a:srgbClr val="064E3B"/>
              </a:solidFill>
              <a:latin typeface="Poppins SemiBold"/>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19050" y="0"/>
            <a:ext cx="12192000" cy="6858000"/>
          </a:xfrm>
          <a:prstGeom prst="rect">
            <a:avLst/>
          </a:prstGeom>
        </p:spPr>
      </p:pic>
      <p:pic>
        <p:nvPicPr>
          <p:cNvPr id="3" name="Picture 2" descr="image.png"/>
          <p:cNvPicPr>
            <a:picLocks noChangeAspect="1"/>
          </p:cNvPicPr>
          <p:nvPr/>
        </p:nvPicPr>
        <p:blipFill>
          <a:blip r:embed="rId4"/>
          <a:stretch>
            <a:fillRect/>
          </a:stretch>
        </p:blipFill>
        <p:spPr>
          <a:xfrm>
            <a:off x="571500" y="4447406"/>
            <a:ext cx="3048000" cy="1771650"/>
          </a:xfrm>
          <a:prstGeom prst="rect">
            <a:avLst/>
          </a:prstGeom>
        </p:spPr>
      </p:pic>
      <p:sp>
        <p:nvSpPr>
          <p:cNvPr id="4" name="TextBox 3"/>
          <p:cNvSpPr txBox="1"/>
          <p:nvPr/>
        </p:nvSpPr>
        <p:spPr>
          <a:xfrm>
            <a:off x="952500" y="4938738"/>
            <a:ext cx="2286000" cy="688650"/>
          </a:xfrm>
          <a:prstGeom prst="rect">
            <a:avLst/>
          </a:prstGeom>
          <a:noFill/>
        </p:spPr>
        <p:txBody>
          <a:bodyPr wrap="square" lIns="0" tIns="0" rIns="0" bIns="0" anchor="t">
            <a:spAutoFit/>
          </a:bodyPr>
          <a:lstStyle/>
          <a:p>
            <a:pPr algn="ctr">
              <a:lnSpc>
                <a:spcPts val="5400"/>
              </a:lnSpc>
            </a:pPr>
            <a:r>
              <a:rPr sz="4400" b="1" i="0" u="none" dirty="0">
                <a:solidFill>
                  <a:srgbClr val="FFFFFF"/>
                </a:solidFill>
                <a:latin typeface="Poppins"/>
              </a:rPr>
              <a:t>4.99MB</a:t>
            </a:r>
          </a:p>
        </p:txBody>
      </p:sp>
      <p:sp>
        <p:nvSpPr>
          <p:cNvPr id="5" name="TextBox 4"/>
          <p:cNvSpPr txBox="1"/>
          <p:nvPr/>
        </p:nvSpPr>
        <p:spPr>
          <a:xfrm>
            <a:off x="862189" y="5733455"/>
            <a:ext cx="2286000" cy="228600"/>
          </a:xfrm>
          <a:prstGeom prst="rect">
            <a:avLst/>
          </a:prstGeom>
          <a:noFill/>
        </p:spPr>
        <p:txBody>
          <a:bodyPr wrap="square" lIns="0" tIns="0" rIns="0" bIns="0" anchor="t">
            <a:spAutoFit/>
          </a:bodyPr>
          <a:lstStyle/>
          <a:p>
            <a:pPr algn="ctr"/>
            <a:r>
              <a:rPr sz="1500" b="0" i="0" u="none" dirty="0">
                <a:solidFill>
                  <a:srgbClr val="D1FAE5"/>
                </a:solidFill>
                <a:latin typeface="Lato SemiBold"/>
              </a:rPr>
              <a:t>Optimized Model Size</a:t>
            </a:r>
          </a:p>
        </p:txBody>
      </p:sp>
      <p:sp>
        <p:nvSpPr>
          <p:cNvPr id="6" name="TextBox 5"/>
          <p:cNvSpPr txBox="1"/>
          <p:nvPr/>
        </p:nvSpPr>
        <p:spPr>
          <a:xfrm>
            <a:off x="4095750" y="3131343"/>
            <a:ext cx="7900987" cy="369332"/>
          </a:xfrm>
          <a:prstGeom prst="rect">
            <a:avLst/>
          </a:prstGeom>
          <a:noFill/>
        </p:spPr>
        <p:txBody>
          <a:bodyPr wrap="square" lIns="0" tIns="0" rIns="0" bIns="0" anchor="t">
            <a:spAutoFit/>
          </a:bodyPr>
          <a:lstStyle/>
          <a:p>
            <a:pPr algn="l"/>
            <a:r>
              <a:rPr sz="2400" b="0" i="0" u="none" dirty="0">
                <a:solidFill>
                  <a:srgbClr val="0F766E"/>
                </a:solidFill>
                <a:latin typeface="Poppins SemiBold"/>
              </a:rPr>
              <a:t>Float16 Post-Training Quantization</a:t>
            </a:r>
          </a:p>
        </p:txBody>
      </p:sp>
      <p:sp>
        <p:nvSpPr>
          <p:cNvPr id="7" name="TextBox 6"/>
          <p:cNvSpPr txBox="1"/>
          <p:nvPr/>
        </p:nvSpPr>
        <p:spPr>
          <a:xfrm>
            <a:off x="4095750" y="3619941"/>
            <a:ext cx="7524750" cy="974626"/>
          </a:xfrm>
          <a:prstGeom prst="rect">
            <a:avLst/>
          </a:prstGeom>
          <a:noFill/>
        </p:spPr>
        <p:txBody>
          <a:bodyPr wrap="square" lIns="0" tIns="0" rIns="0" bIns="0" anchor="t">
            <a:spAutoFit/>
          </a:bodyPr>
          <a:lstStyle/>
          <a:p>
            <a:pPr algn="l">
              <a:lnSpc>
                <a:spcPts val="1912"/>
              </a:lnSpc>
            </a:pPr>
            <a:r>
              <a:rPr sz="2000" b="0" i="0" u="none" dirty="0">
                <a:solidFill>
                  <a:srgbClr val="334155"/>
                </a:solidFill>
                <a:latin typeface="Lato"/>
              </a:rPr>
              <a:t>Through TensorFlow Lite Float16 quantization, MobileNetV3-Small achieved a 50% storage footprint reduction from FP32 baseline while preserving classification accuracy across all 10 native varieties.</a:t>
            </a:r>
          </a:p>
        </p:txBody>
      </p:sp>
      <p:sp>
        <p:nvSpPr>
          <p:cNvPr id="8" name="TextBox 7"/>
          <p:cNvSpPr txBox="1"/>
          <p:nvPr/>
        </p:nvSpPr>
        <p:spPr>
          <a:xfrm>
            <a:off x="4095750" y="4795750"/>
            <a:ext cx="7524750" cy="487313"/>
          </a:xfrm>
          <a:prstGeom prst="rect">
            <a:avLst/>
          </a:prstGeom>
          <a:noFill/>
        </p:spPr>
        <p:txBody>
          <a:bodyPr wrap="square" lIns="0" tIns="0" rIns="0" bIns="0" anchor="t">
            <a:spAutoFit/>
          </a:bodyPr>
          <a:lstStyle/>
          <a:p>
            <a:pPr algn="l">
              <a:lnSpc>
                <a:spcPts val="1912"/>
              </a:lnSpc>
            </a:pPr>
            <a:r>
              <a:rPr sz="2000" b="0" i="0" u="none" dirty="0">
                <a:solidFill>
                  <a:srgbClr val="334155"/>
                </a:solidFill>
                <a:latin typeface="Lato"/>
              </a:rPr>
              <a:t>Average on-device execution time was recorded at sub-30 milliseconds on commodity Android mobile CPUs.</a:t>
            </a:r>
          </a:p>
        </p:txBody>
      </p:sp>
      <p:sp>
        <p:nvSpPr>
          <p:cNvPr id="9" name="TextBox 8"/>
          <p:cNvSpPr txBox="1"/>
          <p:nvPr/>
        </p:nvSpPr>
        <p:spPr>
          <a:xfrm>
            <a:off x="571500" y="476250"/>
            <a:ext cx="11601450" cy="615553"/>
          </a:xfrm>
          <a:prstGeom prst="rect">
            <a:avLst/>
          </a:prstGeom>
          <a:noFill/>
        </p:spPr>
        <p:txBody>
          <a:bodyPr wrap="square" lIns="0" tIns="0" rIns="0" bIns="0" anchor="t">
            <a:spAutoFit/>
          </a:bodyPr>
          <a:lstStyle/>
          <a:p>
            <a:pPr algn="l"/>
            <a:r>
              <a:rPr sz="4000" b="0" i="0" u="none" dirty="0">
                <a:solidFill>
                  <a:srgbClr val="064E3B"/>
                </a:solidFill>
                <a:latin typeface="Poppins SemiBold"/>
              </a:rPr>
              <a:t>Optimized Deployment Performance</a:t>
            </a:r>
          </a:p>
        </p:txBody>
      </p:sp>
      <p:pic>
        <p:nvPicPr>
          <p:cNvPr id="10" name="Picture 9" descr="image.png">
            <a:extLst>
              <a:ext uri="{FF2B5EF4-FFF2-40B4-BE49-F238E27FC236}">
                <a16:creationId xmlns:a16="http://schemas.microsoft.com/office/drawing/2014/main" id="{22073B6A-9437-BA5E-61CD-1F0254DAAB10}"/>
              </a:ext>
            </a:extLst>
          </p:cNvPr>
          <p:cNvPicPr>
            <a:picLocks noChangeAspect="1"/>
          </p:cNvPicPr>
          <p:nvPr/>
        </p:nvPicPr>
        <p:blipFill>
          <a:blip r:embed="rId4"/>
          <a:stretch>
            <a:fillRect/>
          </a:stretch>
        </p:blipFill>
        <p:spPr>
          <a:xfrm>
            <a:off x="571500" y="1848291"/>
            <a:ext cx="3048000" cy="1771650"/>
          </a:xfrm>
          <a:prstGeom prst="rect">
            <a:avLst/>
          </a:prstGeom>
        </p:spPr>
      </p:pic>
      <p:sp>
        <p:nvSpPr>
          <p:cNvPr id="11" name="TextBox 10">
            <a:extLst>
              <a:ext uri="{FF2B5EF4-FFF2-40B4-BE49-F238E27FC236}">
                <a16:creationId xmlns:a16="http://schemas.microsoft.com/office/drawing/2014/main" id="{82BB8200-BA8B-5FA6-6FF3-F0B23A319A4F}"/>
              </a:ext>
            </a:extLst>
          </p:cNvPr>
          <p:cNvSpPr txBox="1"/>
          <p:nvPr/>
        </p:nvSpPr>
        <p:spPr>
          <a:xfrm>
            <a:off x="862189" y="2255126"/>
            <a:ext cx="2286000" cy="688650"/>
          </a:xfrm>
          <a:prstGeom prst="rect">
            <a:avLst/>
          </a:prstGeom>
          <a:noFill/>
        </p:spPr>
        <p:txBody>
          <a:bodyPr wrap="square" lIns="0" tIns="0" rIns="0" bIns="0" anchor="t">
            <a:spAutoFit/>
          </a:bodyPr>
          <a:lstStyle/>
          <a:p>
            <a:pPr algn="ctr">
              <a:lnSpc>
                <a:spcPts val="5400"/>
              </a:lnSpc>
            </a:pPr>
            <a:r>
              <a:rPr lang="en-US" sz="4400" b="1" dirty="0">
                <a:solidFill>
                  <a:srgbClr val="FFFFFF"/>
                </a:solidFill>
                <a:latin typeface="Poppins"/>
              </a:rPr>
              <a:t>9</a:t>
            </a:r>
            <a:r>
              <a:rPr sz="4400" b="1" i="0" u="none" dirty="0">
                <a:solidFill>
                  <a:srgbClr val="FFFFFF"/>
                </a:solidFill>
                <a:latin typeface="Poppins"/>
              </a:rPr>
              <a:t>.9</a:t>
            </a:r>
            <a:r>
              <a:rPr lang="en-US" sz="4400" b="1" i="0" u="none" dirty="0">
                <a:solidFill>
                  <a:srgbClr val="FFFFFF"/>
                </a:solidFill>
                <a:latin typeface="Poppins"/>
              </a:rPr>
              <a:t>8</a:t>
            </a:r>
            <a:r>
              <a:rPr sz="4400" b="1" i="0" u="none" dirty="0">
                <a:solidFill>
                  <a:srgbClr val="FFFFFF"/>
                </a:solidFill>
                <a:latin typeface="Poppins"/>
              </a:rPr>
              <a:t>MB</a:t>
            </a:r>
          </a:p>
        </p:txBody>
      </p:sp>
      <p:sp>
        <p:nvSpPr>
          <p:cNvPr id="12" name="TextBox 11">
            <a:extLst>
              <a:ext uri="{FF2B5EF4-FFF2-40B4-BE49-F238E27FC236}">
                <a16:creationId xmlns:a16="http://schemas.microsoft.com/office/drawing/2014/main" id="{D21E6B9A-E2E8-85B6-0B83-7669D344A6CF}"/>
              </a:ext>
            </a:extLst>
          </p:cNvPr>
          <p:cNvSpPr txBox="1"/>
          <p:nvPr/>
        </p:nvSpPr>
        <p:spPr>
          <a:xfrm>
            <a:off x="857956" y="3148948"/>
            <a:ext cx="2286000" cy="228600"/>
          </a:xfrm>
          <a:prstGeom prst="rect">
            <a:avLst/>
          </a:prstGeom>
          <a:noFill/>
        </p:spPr>
        <p:txBody>
          <a:bodyPr wrap="square" lIns="0" tIns="0" rIns="0" bIns="0" anchor="t">
            <a:spAutoFit/>
          </a:bodyPr>
          <a:lstStyle/>
          <a:p>
            <a:pPr algn="ctr"/>
            <a:r>
              <a:rPr lang="en-US" sz="1500" b="0" i="0" u="none" dirty="0">
                <a:solidFill>
                  <a:srgbClr val="D1FAE5"/>
                </a:solidFill>
                <a:latin typeface="Lato SemiBold"/>
              </a:rPr>
              <a:t>FP 32</a:t>
            </a:r>
            <a:endParaRPr sz="1500" b="0" i="0" u="none" dirty="0">
              <a:solidFill>
                <a:srgbClr val="D1FAE5"/>
              </a:solidFill>
              <a:latin typeface="Lato SemiBold"/>
            </a:endParaRPr>
          </a:p>
        </p:txBody>
      </p:sp>
      <p:sp>
        <p:nvSpPr>
          <p:cNvPr id="13" name="TextBox 12">
            <a:extLst>
              <a:ext uri="{FF2B5EF4-FFF2-40B4-BE49-F238E27FC236}">
                <a16:creationId xmlns:a16="http://schemas.microsoft.com/office/drawing/2014/main" id="{A47EC002-68B6-028A-CCA4-DCEFC7CDE317}"/>
              </a:ext>
            </a:extLst>
          </p:cNvPr>
          <p:cNvSpPr txBox="1"/>
          <p:nvPr/>
        </p:nvSpPr>
        <p:spPr>
          <a:xfrm>
            <a:off x="767645" y="1414164"/>
            <a:ext cx="2286000" cy="307777"/>
          </a:xfrm>
          <a:prstGeom prst="rect">
            <a:avLst/>
          </a:prstGeom>
          <a:noFill/>
        </p:spPr>
        <p:txBody>
          <a:bodyPr wrap="square" lIns="0" tIns="0" rIns="0" bIns="0" anchor="t">
            <a:spAutoFit/>
          </a:bodyPr>
          <a:lstStyle/>
          <a:p>
            <a:pPr algn="ctr"/>
            <a:r>
              <a:rPr lang="en-US" sz="2000" b="1" i="0" u="none" dirty="0">
                <a:solidFill>
                  <a:srgbClr val="7030A0"/>
                </a:solidFill>
                <a:latin typeface="Lato SemiBold"/>
              </a:rPr>
              <a:t>Before Quantization</a:t>
            </a:r>
            <a:endParaRPr sz="2000" b="1" i="0" u="none" dirty="0">
              <a:solidFill>
                <a:srgbClr val="7030A0"/>
              </a:solidFill>
              <a:latin typeface="Lato SemiBold"/>
            </a:endParaRPr>
          </a:p>
        </p:txBody>
      </p:sp>
      <p:cxnSp>
        <p:nvCxnSpPr>
          <p:cNvPr id="15" name="Straight Arrow Connector 14">
            <a:extLst>
              <a:ext uri="{FF2B5EF4-FFF2-40B4-BE49-F238E27FC236}">
                <a16:creationId xmlns:a16="http://schemas.microsoft.com/office/drawing/2014/main" id="{F994F6E4-9EF2-779F-6D37-59752DB9D031}"/>
              </a:ext>
            </a:extLst>
          </p:cNvPr>
          <p:cNvCxnSpPr>
            <a:stCxn id="10" idx="2"/>
          </p:cNvCxnSpPr>
          <p:nvPr/>
        </p:nvCxnSpPr>
        <p:spPr>
          <a:xfrm>
            <a:off x="2095500" y="3619941"/>
            <a:ext cx="0" cy="827465"/>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sp>
        <p:nvSpPr>
          <p:cNvPr id="16" name="TextBox 15">
            <a:extLst>
              <a:ext uri="{FF2B5EF4-FFF2-40B4-BE49-F238E27FC236}">
                <a16:creationId xmlns:a16="http://schemas.microsoft.com/office/drawing/2014/main" id="{534DDC87-7DA8-EF79-8C95-D0D7057D7CB6}"/>
              </a:ext>
            </a:extLst>
          </p:cNvPr>
          <p:cNvSpPr txBox="1"/>
          <p:nvPr/>
        </p:nvSpPr>
        <p:spPr>
          <a:xfrm>
            <a:off x="767645" y="6217154"/>
            <a:ext cx="2286000" cy="307777"/>
          </a:xfrm>
          <a:prstGeom prst="rect">
            <a:avLst/>
          </a:prstGeom>
          <a:noFill/>
        </p:spPr>
        <p:txBody>
          <a:bodyPr wrap="square" lIns="0" tIns="0" rIns="0" bIns="0" anchor="t">
            <a:spAutoFit/>
          </a:bodyPr>
          <a:lstStyle/>
          <a:p>
            <a:pPr algn="ctr"/>
            <a:r>
              <a:rPr lang="en-US" sz="2000" b="1" i="0" u="none" dirty="0">
                <a:solidFill>
                  <a:srgbClr val="7030A0"/>
                </a:solidFill>
                <a:latin typeface="Lato SemiBold"/>
              </a:rPr>
              <a:t>After Quantization</a:t>
            </a:r>
            <a:endParaRPr sz="2000" b="1" i="0" u="none" dirty="0">
              <a:solidFill>
                <a:srgbClr val="7030A0"/>
              </a:solidFill>
              <a:latin typeface="Lato SemiBold"/>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04B2E2F-522A-E071-26D6-99BDA11F8B32}"/>
              </a:ext>
            </a:extLst>
          </p:cNvPr>
          <p:cNvSpPr txBox="1"/>
          <p:nvPr/>
        </p:nvSpPr>
        <p:spPr>
          <a:xfrm>
            <a:off x="590550" y="456892"/>
            <a:ext cx="11601450" cy="615553"/>
          </a:xfrm>
          <a:prstGeom prst="rect">
            <a:avLst/>
          </a:prstGeom>
          <a:noFill/>
        </p:spPr>
        <p:txBody>
          <a:bodyPr wrap="square" lIns="0" tIns="0" rIns="0" bIns="0" anchor="t">
            <a:spAutoFit/>
          </a:bodyPr>
          <a:lstStyle/>
          <a:p>
            <a:pPr algn="l"/>
            <a:r>
              <a:rPr lang="en-US" sz="4000" b="0" i="0" u="none" dirty="0">
                <a:solidFill>
                  <a:srgbClr val="064E3B"/>
                </a:solidFill>
                <a:latin typeface="Poppins SemiBold"/>
              </a:rPr>
              <a:t>Error Analysis</a:t>
            </a:r>
            <a:endParaRPr sz="4000" b="0" i="0" u="none" dirty="0">
              <a:solidFill>
                <a:srgbClr val="064E3B"/>
              </a:solidFill>
              <a:latin typeface="Poppins SemiBold"/>
            </a:endParaRPr>
          </a:p>
        </p:txBody>
      </p:sp>
      <p:pic>
        <p:nvPicPr>
          <p:cNvPr id="5" name="Picture 4">
            <a:extLst>
              <a:ext uri="{FF2B5EF4-FFF2-40B4-BE49-F238E27FC236}">
                <a16:creationId xmlns:a16="http://schemas.microsoft.com/office/drawing/2014/main" id="{F8A00F48-A96B-F0B5-C811-0AC6CA81DA2F}"/>
              </a:ext>
            </a:extLst>
          </p:cNvPr>
          <p:cNvPicPr>
            <a:picLocks noChangeAspect="1"/>
          </p:cNvPicPr>
          <p:nvPr/>
        </p:nvPicPr>
        <p:blipFill>
          <a:blip r:embed="rId3"/>
          <a:stretch>
            <a:fillRect/>
          </a:stretch>
        </p:blipFill>
        <p:spPr>
          <a:xfrm>
            <a:off x="265051" y="1072445"/>
            <a:ext cx="4555305" cy="4290181"/>
          </a:xfrm>
          <a:prstGeom prst="rect">
            <a:avLst/>
          </a:prstGeom>
        </p:spPr>
      </p:pic>
      <p:pic>
        <p:nvPicPr>
          <p:cNvPr id="7" name="Picture 6">
            <a:extLst>
              <a:ext uri="{FF2B5EF4-FFF2-40B4-BE49-F238E27FC236}">
                <a16:creationId xmlns:a16="http://schemas.microsoft.com/office/drawing/2014/main" id="{2B8DD561-F907-79EC-E52D-A4AA536DF4A7}"/>
              </a:ext>
            </a:extLst>
          </p:cNvPr>
          <p:cNvPicPr>
            <a:picLocks noChangeAspect="1"/>
          </p:cNvPicPr>
          <p:nvPr/>
        </p:nvPicPr>
        <p:blipFill>
          <a:blip r:embed="rId4"/>
          <a:stretch>
            <a:fillRect/>
          </a:stretch>
        </p:blipFill>
        <p:spPr>
          <a:xfrm>
            <a:off x="5145855" y="1072445"/>
            <a:ext cx="6528793" cy="4290181"/>
          </a:xfrm>
          <a:prstGeom prst="rect">
            <a:avLst/>
          </a:prstGeom>
        </p:spPr>
      </p:pic>
      <p:sp>
        <p:nvSpPr>
          <p:cNvPr id="8" name="TextBox 7">
            <a:extLst>
              <a:ext uri="{FF2B5EF4-FFF2-40B4-BE49-F238E27FC236}">
                <a16:creationId xmlns:a16="http://schemas.microsoft.com/office/drawing/2014/main" id="{DF08A839-5024-95A0-D0E2-F88422A88EC8}"/>
              </a:ext>
            </a:extLst>
          </p:cNvPr>
          <p:cNvSpPr txBox="1"/>
          <p:nvPr/>
        </p:nvSpPr>
        <p:spPr>
          <a:xfrm>
            <a:off x="1354667" y="5554131"/>
            <a:ext cx="9403644" cy="707886"/>
          </a:xfrm>
          <a:prstGeom prst="rect">
            <a:avLst/>
          </a:prstGeom>
          <a:noFill/>
        </p:spPr>
        <p:txBody>
          <a:bodyPr wrap="square" rtlCol="0">
            <a:spAutoFit/>
          </a:bodyPr>
          <a:lstStyle/>
          <a:p>
            <a:pPr algn="ctr"/>
            <a:r>
              <a:rPr lang="en-BD" sz="2000" dirty="0">
                <a:latin typeface="Times New Roman" panose="02020603050405020304" pitchFamily="18" charset="0"/>
                <a:cs typeface="Times New Roman" panose="02020603050405020304" pitchFamily="18" charset="0"/>
              </a:rPr>
              <a:t>The most frequent confusion occurred between </a:t>
            </a:r>
            <a:r>
              <a:rPr lang="en-BD" sz="2000" b="1" dirty="0">
                <a:latin typeface="Times New Roman" panose="02020603050405020304" pitchFamily="18" charset="0"/>
                <a:cs typeface="Times New Roman" panose="02020603050405020304" pitchFamily="18" charset="0"/>
              </a:rPr>
              <a:t>Bari-4-235 ↔ Nilambori-195 </a:t>
            </a:r>
            <a:r>
              <a:rPr lang="en-BD" sz="2000" dirty="0">
                <a:latin typeface="Times New Roman" panose="02020603050405020304" pitchFamily="18" charset="0"/>
                <a:cs typeface="Times New Roman" panose="02020603050405020304" pitchFamily="18" charset="0"/>
              </a:rPr>
              <a:t>and </a:t>
            </a:r>
            <a:r>
              <a:rPr lang="en-BD" sz="2000" b="1" dirty="0">
                <a:latin typeface="Times New Roman" panose="02020603050405020304" pitchFamily="18" charset="0"/>
                <a:cs typeface="Times New Roman" panose="02020603050405020304" pitchFamily="18" charset="0"/>
              </a:rPr>
              <a:t>Kanchon</a:t>
            </a:r>
            <a:r>
              <a:rPr lang="en-BD" sz="2000" dirty="0">
                <a:latin typeface="Times New Roman" panose="02020603050405020304" pitchFamily="18" charset="0"/>
                <a:cs typeface="Times New Roman" panose="02020603050405020304" pitchFamily="18" charset="0"/>
              </a:rPr>
              <a:t> </a:t>
            </a:r>
            <a:r>
              <a:rPr lang="en-BD" sz="2000" b="1" dirty="0">
                <a:latin typeface="Times New Roman" panose="02020603050405020304" pitchFamily="18" charset="0"/>
                <a:cs typeface="Times New Roman" panose="02020603050405020304" pitchFamily="18" charset="0"/>
              </a:rPr>
              <a:t>Langra-210 ↔ Bari-4-235</a:t>
            </a:r>
            <a:r>
              <a:rPr lang="en-BD" sz="2000" dirty="0">
                <a:latin typeface="Times New Roman" panose="02020603050405020304" pitchFamily="18" charset="0"/>
                <a:cs typeface="Times New Roman" panose="02020603050405020304" pitchFamily="18" charset="0"/>
              </a:rPr>
              <a:t>.</a:t>
            </a:r>
          </a:p>
        </p:txBody>
      </p:sp>
      <p:sp>
        <p:nvSpPr>
          <p:cNvPr id="9" name="TextBox 8">
            <a:extLst>
              <a:ext uri="{FF2B5EF4-FFF2-40B4-BE49-F238E27FC236}">
                <a16:creationId xmlns:a16="http://schemas.microsoft.com/office/drawing/2014/main" id="{F0E102A3-3A07-6FAA-B50C-B0BC05DEEA61}"/>
              </a:ext>
            </a:extLst>
          </p:cNvPr>
          <p:cNvSpPr txBox="1"/>
          <p:nvPr/>
        </p:nvSpPr>
        <p:spPr>
          <a:xfrm>
            <a:off x="2816578" y="6262017"/>
            <a:ext cx="6479822" cy="523220"/>
          </a:xfrm>
          <a:prstGeom prst="rect">
            <a:avLst/>
          </a:prstGeom>
          <a:gradFill>
            <a:gsLst>
              <a:gs pos="0">
                <a:schemeClr val="accent1">
                  <a:tint val="100000"/>
                  <a:shade val="100000"/>
                  <a:satMod val="130000"/>
                </a:schemeClr>
              </a:gs>
              <a:gs pos="100000">
                <a:schemeClr val="accent1">
                  <a:tint val="50000"/>
                  <a:shade val="100000"/>
                  <a:satMod val="350000"/>
                </a:schemeClr>
              </a:gs>
            </a:gsLst>
            <a:lin ang="16200000" scaled="0"/>
          </a:gradFill>
          <a:ln w="38100">
            <a:solidFill>
              <a:schemeClr val="accent6"/>
            </a:solidFill>
          </a:ln>
        </p:spPr>
        <p:txBody>
          <a:bodyPr wrap="square" rtlCol="0">
            <a:spAutoFit/>
          </a:bodyPr>
          <a:lstStyle/>
          <a:p>
            <a:pPr algn="ctr"/>
            <a:r>
              <a:rPr lang="en-BD" sz="2800" b="1" dirty="0">
                <a:solidFill>
                  <a:srgbClr val="002060"/>
                </a:solidFill>
                <a:latin typeface="Times New Roman" panose="02020603050405020304" pitchFamily="18" charset="0"/>
                <a:cs typeface="Times New Roman" panose="02020603050405020304" pitchFamily="18" charset="0"/>
              </a:rPr>
              <a:t>Reason: similar morphology</a:t>
            </a:r>
            <a:r>
              <a:rPr lang="en-BD" sz="2800" b="1"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4249512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76401" y="0"/>
            <a:ext cx="12192000" cy="6858000"/>
          </a:xfrm>
          <a:prstGeom prst="rect">
            <a:avLst/>
          </a:prstGeom>
        </p:spPr>
      </p:pic>
      <p:sp>
        <p:nvSpPr>
          <p:cNvPr id="3" name="TextBox 2"/>
          <p:cNvSpPr txBox="1"/>
          <p:nvPr/>
        </p:nvSpPr>
        <p:spPr>
          <a:xfrm>
            <a:off x="847926" y="1275018"/>
            <a:ext cx="10648950" cy="1107996"/>
          </a:xfrm>
          <a:prstGeom prst="rect">
            <a:avLst/>
          </a:prstGeom>
          <a:noFill/>
        </p:spPr>
        <p:txBody>
          <a:bodyPr wrap="square" lIns="0" tIns="0" rIns="0" bIns="0" anchor="t">
            <a:spAutoFit/>
          </a:bodyPr>
          <a:lstStyle/>
          <a:p>
            <a:pPr algn="l"/>
            <a:r>
              <a:rPr sz="2400" b="1" i="0" u="none" dirty="0">
                <a:solidFill>
                  <a:srgbClr val="334155"/>
                </a:solidFill>
                <a:latin typeface="Lato"/>
              </a:rPr>
              <a:t>Deployment Feasibility:</a:t>
            </a:r>
            <a:r>
              <a:rPr sz="2400" b="0" i="0" u="none" dirty="0">
                <a:solidFill>
                  <a:srgbClr val="334155"/>
                </a:solidFill>
                <a:latin typeface="Lato"/>
              </a:rPr>
              <a:t> Demonstrates that lightweight CNNs can bridge the gap between high-accuracy laboratory models and practical Edge AI field deployment.</a:t>
            </a:r>
          </a:p>
        </p:txBody>
      </p:sp>
      <p:sp>
        <p:nvSpPr>
          <p:cNvPr id="4" name="TextBox 3"/>
          <p:cNvSpPr txBox="1"/>
          <p:nvPr/>
        </p:nvSpPr>
        <p:spPr>
          <a:xfrm>
            <a:off x="971550" y="2695805"/>
            <a:ext cx="10648950" cy="738664"/>
          </a:xfrm>
          <a:prstGeom prst="rect">
            <a:avLst/>
          </a:prstGeom>
          <a:noFill/>
        </p:spPr>
        <p:txBody>
          <a:bodyPr wrap="square" lIns="0" tIns="0" rIns="0" bIns="0" anchor="t">
            <a:spAutoFit/>
          </a:bodyPr>
          <a:lstStyle/>
          <a:p>
            <a:pPr algn="l"/>
            <a:r>
              <a:rPr sz="2400" b="1" i="0" u="none" dirty="0">
                <a:solidFill>
                  <a:srgbClr val="334155"/>
                </a:solidFill>
                <a:latin typeface="Lato"/>
              </a:rPr>
              <a:t>Balanced Solution:</a:t>
            </a:r>
            <a:r>
              <a:rPr sz="2400" b="0" i="0" u="none" dirty="0">
                <a:solidFill>
                  <a:srgbClr val="334155"/>
                </a:solidFill>
                <a:latin typeface="Lato"/>
              </a:rPr>
              <a:t> MobileNetV3-Small offered the optimal trade-off between predictive accuracy (88.50%) and deployment efficiency (4.99 MB, 28.29 </a:t>
            </a:r>
            <a:r>
              <a:rPr sz="2400" b="0" i="0" u="none" dirty="0" err="1">
                <a:solidFill>
                  <a:srgbClr val="334155"/>
                </a:solidFill>
                <a:latin typeface="Lato"/>
              </a:rPr>
              <a:t>ms</a:t>
            </a:r>
            <a:r>
              <a:rPr sz="2400" b="0" i="0" u="none" dirty="0">
                <a:solidFill>
                  <a:srgbClr val="334155"/>
                </a:solidFill>
                <a:latin typeface="Lato"/>
              </a:rPr>
              <a:t>).</a:t>
            </a:r>
          </a:p>
        </p:txBody>
      </p:sp>
      <p:sp>
        <p:nvSpPr>
          <p:cNvPr id="5" name="TextBox 4"/>
          <p:cNvSpPr txBox="1"/>
          <p:nvPr/>
        </p:nvSpPr>
        <p:spPr>
          <a:xfrm>
            <a:off x="971550" y="3747260"/>
            <a:ext cx="10648950" cy="738664"/>
          </a:xfrm>
          <a:prstGeom prst="rect">
            <a:avLst/>
          </a:prstGeom>
          <a:noFill/>
        </p:spPr>
        <p:txBody>
          <a:bodyPr wrap="square" lIns="0" tIns="0" rIns="0" bIns="0" anchor="t">
            <a:spAutoFit/>
          </a:bodyPr>
          <a:lstStyle/>
          <a:p>
            <a:pPr algn="l"/>
            <a:r>
              <a:rPr sz="2400" b="1" i="0" u="none" dirty="0">
                <a:solidFill>
                  <a:srgbClr val="334155"/>
                </a:solidFill>
                <a:latin typeface="Lato"/>
              </a:rPr>
              <a:t>Future Expansion:</a:t>
            </a:r>
            <a:r>
              <a:rPr sz="2400" b="0" i="0" u="none" dirty="0">
                <a:solidFill>
                  <a:srgbClr val="334155"/>
                </a:solidFill>
                <a:latin typeface="Lato"/>
              </a:rPr>
              <a:t> Integrating YOLO object detection for multi-fruit orchard counting and automated ripeness/defect grading.</a:t>
            </a:r>
          </a:p>
        </p:txBody>
      </p:sp>
      <p:sp>
        <p:nvSpPr>
          <p:cNvPr id="6" name="TextBox 5"/>
          <p:cNvSpPr txBox="1"/>
          <p:nvPr/>
        </p:nvSpPr>
        <p:spPr>
          <a:xfrm>
            <a:off x="971550" y="4798715"/>
            <a:ext cx="10648950" cy="738664"/>
          </a:xfrm>
          <a:prstGeom prst="rect">
            <a:avLst/>
          </a:prstGeom>
          <a:noFill/>
        </p:spPr>
        <p:txBody>
          <a:bodyPr wrap="square" lIns="0" tIns="0" rIns="0" bIns="0" anchor="t">
            <a:spAutoFit/>
          </a:bodyPr>
          <a:lstStyle/>
          <a:p>
            <a:pPr algn="l"/>
            <a:r>
              <a:rPr sz="2400" b="1" i="0" u="none" dirty="0">
                <a:solidFill>
                  <a:srgbClr val="334155"/>
                </a:solidFill>
                <a:latin typeface="Lato"/>
              </a:rPr>
              <a:t>Hardware Optimization:</a:t>
            </a:r>
            <a:r>
              <a:rPr sz="2400" b="0" i="0" u="none" dirty="0">
                <a:solidFill>
                  <a:srgbClr val="334155"/>
                </a:solidFill>
                <a:latin typeface="Lato"/>
              </a:rPr>
              <a:t> Exploring Integer (INT8) quantization and neural network pruning for microcontrollers and IoT edge boards.</a:t>
            </a:r>
          </a:p>
        </p:txBody>
      </p:sp>
      <p:pic>
        <p:nvPicPr>
          <p:cNvPr id="7" name="Picture 6" descr="image.png"/>
          <p:cNvPicPr>
            <a:picLocks noChangeAspect="1"/>
          </p:cNvPicPr>
          <p:nvPr/>
        </p:nvPicPr>
        <p:blipFill>
          <a:blip r:embed="rId4"/>
          <a:stretch>
            <a:fillRect/>
          </a:stretch>
        </p:blipFill>
        <p:spPr>
          <a:xfrm>
            <a:off x="385780" y="1342358"/>
            <a:ext cx="414715" cy="433566"/>
          </a:xfrm>
          <a:prstGeom prst="rect">
            <a:avLst/>
          </a:prstGeom>
        </p:spPr>
      </p:pic>
      <p:pic>
        <p:nvPicPr>
          <p:cNvPr id="8" name="Picture 7" descr="image.png"/>
          <p:cNvPicPr>
            <a:picLocks noChangeAspect="1"/>
          </p:cNvPicPr>
          <p:nvPr/>
        </p:nvPicPr>
        <p:blipFill>
          <a:blip r:embed="rId4"/>
          <a:stretch>
            <a:fillRect/>
          </a:stretch>
        </p:blipFill>
        <p:spPr>
          <a:xfrm>
            <a:off x="433802" y="2724219"/>
            <a:ext cx="414715" cy="433566"/>
          </a:xfrm>
          <a:prstGeom prst="rect">
            <a:avLst/>
          </a:prstGeom>
        </p:spPr>
      </p:pic>
      <p:pic>
        <p:nvPicPr>
          <p:cNvPr id="9" name="Picture 8" descr="image.png"/>
          <p:cNvPicPr>
            <a:picLocks noChangeAspect="1"/>
          </p:cNvPicPr>
          <p:nvPr/>
        </p:nvPicPr>
        <p:blipFill>
          <a:blip r:embed="rId5"/>
          <a:stretch>
            <a:fillRect/>
          </a:stretch>
        </p:blipFill>
        <p:spPr>
          <a:xfrm>
            <a:off x="481822" y="3747260"/>
            <a:ext cx="318673" cy="385762"/>
          </a:xfrm>
          <a:prstGeom prst="rect">
            <a:avLst/>
          </a:prstGeom>
        </p:spPr>
      </p:pic>
      <p:pic>
        <p:nvPicPr>
          <p:cNvPr id="10" name="Picture 9" descr="image.png"/>
          <p:cNvPicPr>
            <a:picLocks noChangeAspect="1"/>
          </p:cNvPicPr>
          <p:nvPr/>
        </p:nvPicPr>
        <p:blipFill>
          <a:blip r:embed="rId5"/>
          <a:stretch>
            <a:fillRect/>
          </a:stretch>
        </p:blipFill>
        <p:spPr>
          <a:xfrm>
            <a:off x="433802" y="4824065"/>
            <a:ext cx="318673" cy="385762"/>
          </a:xfrm>
          <a:prstGeom prst="rect">
            <a:avLst/>
          </a:prstGeom>
        </p:spPr>
      </p:pic>
      <p:sp>
        <p:nvSpPr>
          <p:cNvPr id="11" name="TextBox 10"/>
          <p:cNvSpPr txBox="1"/>
          <p:nvPr/>
        </p:nvSpPr>
        <p:spPr>
          <a:xfrm>
            <a:off x="571500" y="442386"/>
            <a:ext cx="11601450" cy="615553"/>
          </a:xfrm>
          <a:prstGeom prst="rect">
            <a:avLst/>
          </a:prstGeom>
          <a:noFill/>
        </p:spPr>
        <p:txBody>
          <a:bodyPr wrap="square" lIns="0" tIns="0" rIns="0" bIns="0" anchor="t">
            <a:spAutoFit/>
          </a:bodyPr>
          <a:lstStyle/>
          <a:p>
            <a:pPr algn="l"/>
            <a:r>
              <a:rPr sz="4000" b="0" i="0" u="none" dirty="0">
                <a:solidFill>
                  <a:srgbClr val="064E3B"/>
                </a:solidFill>
                <a:latin typeface="Poppins SemiBold"/>
              </a:rPr>
              <a:t>Conclusion &amp; Future Directions</a:t>
            </a:r>
          </a:p>
        </p:txBody>
      </p:sp>
      <p:sp>
        <p:nvSpPr>
          <p:cNvPr id="13" name="TextBox 12">
            <a:extLst>
              <a:ext uri="{FF2B5EF4-FFF2-40B4-BE49-F238E27FC236}">
                <a16:creationId xmlns:a16="http://schemas.microsoft.com/office/drawing/2014/main" id="{5A6E21A1-61CE-3AC5-97A9-4E2FCFD24E29}"/>
              </a:ext>
            </a:extLst>
          </p:cNvPr>
          <p:cNvSpPr txBox="1"/>
          <p:nvPr/>
        </p:nvSpPr>
        <p:spPr>
          <a:xfrm>
            <a:off x="752475" y="6145667"/>
            <a:ext cx="11601450" cy="307777"/>
          </a:xfrm>
          <a:prstGeom prst="rect">
            <a:avLst/>
          </a:prstGeom>
          <a:noFill/>
        </p:spPr>
        <p:txBody>
          <a:bodyPr wrap="square" lIns="0" tIns="0" rIns="0" bIns="0" anchor="t">
            <a:spAutoFit/>
          </a:bodyPr>
          <a:lstStyle/>
          <a:p>
            <a:r>
              <a:rPr lang="en-GB" sz="2000" b="0" i="0" u="none" dirty="0">
                <a:solidFill>
                  <a:srgbClr val="FF0000"/>
                </a:solidFill>
                <a:latin typeface="Poppins SemiBold"/>
              </a:rPr>
              <a:t>MobileNetV3-Small proved that practical Edge AI matters more than raw accuracy.</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0" y="0"/>
            <a:ext cx="12192000" cy="6858000"/>
          </a:xfrm>
          <a:prstGeom prst="rect">
            <a:avLst/>
          </a:prstGeom>
        </p:spPr>
      </p:pic>
      <p:sp>
        <p:nvSpPr>
          <p:cNvPr id="3" name="TextBox 2"/>
          <p:cNvSpPr txBox="1"/>
          <p:nvPr/>
        </p:nvSpPr>
        <p:spPr>
          <a:xfrm>
            <a:off x="295275" y="476250"/>
            <a:ext cx="11601450" cy="904875"/>
          </a:xfrm>
          <a:prstGeom prst="rect">
            <a:avLst/>
          </a:prstGeom>
          <a:noFill/>
        </p:spPr>
        <p:txBody>
          <a:bodyPr wrap="square" lIns="0" tIns="0" rIns="0" bIns="0" anchor="t">
            <a:spAutoFit/>
          </a:bodyPr>
          <a:lstStyle/>
          <a:p>
            <a:pPr algn="ctr"/>
            <a:r>
              <a:rPr sz="4800" b="1" i="0" u="none" dirty="0">
                <a:solidFill>
                  <a:srgbClr val="064E3B"/>
                </a:solidFill>
                <a:latin typeface="Poppins"/>
              </a:rPr>
              <a:t>Questions &amp; Discussion</a:t>
            </a:r>
          </a:p>
        </p:txBody>
      </p:sp>
      <p:sp>
        <p:nvSpPr>
          <p:cNvPr id="4" name="TextBox 3"/>
          <p:cNvSpPr txBox="1"/>
          <p:nvPr/>
        </p:nvSpPr>
        <p:spPr>
          <a:xfrm>
            <a:off x="571500" y="1524000"/>
            <a:ext cx="11049000" cy="314325"/>
          </a:xfrm>
          <a:prstGeom prst="rect">
            <a:avLst/>
          </a:prstGeom>
          <a:noFill/>
        </p:spPr>
        <p:txBody>
          <a:bodyPr wrap="square" lIns="0" tIns="0" rIns="0" bIns="0" anchor="t">
            <a:spAutoFit/>
          </a:bodyPr>
          <a:lstStyle/>
          <a:p>
            <a:pPr algn="ctr">
              <a:lnSpc>
                <a:spcPts val="2475"/>
              </a:lnSpc>
            </a:pPr>
            <a:r>
              <a:rPr sz="1650" b="0" i="0" u="none">
                <a:solidFill>
                  <a:srgbClr val="334155"/>
                </a:solidFill>
                <a:latin typeface="Lato"/>
              </a:rPr>
              <a:t>Thank you for your attention!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3091</TotalTime>
  <Words>2427</Words>
  <Application>Microsoft Macintosh PowerPoint</Application>
  <PresentationFormat>Widescreen</PresentationFormat>
  <Paragraphs>422</Paragraphs>
  <Slides>20</Slides>
  <Notes>20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20</vt:i4>
      </vt:variant>
    </vt:vector>
  </HeadingPairs>
  <TitlesOfParts>
    <vt:vector size="29" baseType="lpstr">
      <vt:lpstr>Arial</vt:lpstr>
      <vt:lpstr>Calibri</vt:lpstr>
      <vt:lpstr>Lato</vt:lpstr>
      <vt:lpstr>Lato SemiBold</vt:lpstr>
      <vt:lpstr>Poppins</vt:lpstr>
      <vt:lpstr>Poppins SemiBold</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shakibrybmn@gmail.com</cp:lastModifiedBy>
  <cp:revision>7</cp:revision>
  <dcterms:created xsi:type="dcterms:W3CDTF">2013-01-27T09:14:16Z</dcterms:created>
  <dcterms:modified xsi:type="dcterms:W3CDTF">2026-08-27T08:35:48Z</dcterms:modified>
  <cp:category/>
</cp:coreProperties>
</file>