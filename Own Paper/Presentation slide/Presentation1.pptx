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80103"/>
  </p:normalViewPr>
  <p:slideViewPr>
    <p:cSldViewPr snapToGrid="0">
      <p:cViewPr varScale="1">
        <p:scale>
          <a:sx n="122" d="100"/>
          <a:sy n="122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174D6-3325-A142-80C8-CCA1840132BF}" type="datetimeFigureOut">
              <a:rPr lang="en-BD" smtClean="0"/>
              <a:t>4/8/26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50D34-1F02-A84D-94F8-676BCE266A9D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44784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D" dirty="0"/>
              <a:t>Assalamu Alaikum.</a:t>
            </a:r>
          </a:p>
          <a:p>
            <a:r>
              <a:rPr lang="en-BD" dirty="0"/>
              <a:t>Good morning respected teachers and examiners.</a:t>
            </a:r>
          </a:p>
          <a:p>
            <a:endParaRPr lang="en-BD" dirty="0"/>
          </a:p>
          <a:p>
            <a:r>
              <a:rPr lang="en-BD" dirty="0"/>
              <a:t>Today we are presenting our undergraduate thesis entitled </a:t>
            </a:r>
            <a:r>
              <a:rPr lang="en-BD" b="1" dirty="0"/>
              <a:t>Benchmarking Lightweight CNN for Real-Time Classification of Bangladeshi Mango Varieties on Edge Devices</a:t>
            </a:r>
            <a:r>
              <a:rPr lang="en-BD" dirty="0"/>
              <a:t>.</a:t>
            </a:r>
          </a:p>
          <a:p>
            <a:r>
              <a:rPr lang="en-BD" dirty="0"/>
              <a:t>This research investigates lightweight deep learning models for automated classification of Bangladeshi mango varieties and their deployment on smartphones for offline real-time prediction.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50D34-1F02-A84D-94F8-676BCE266A9D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001038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dirty="0"/>
              <a:t>This presentation begins with the motivation behind our work, followed by the research objectives and methodology.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dirty="0"/>
              <a:t>We will then discuss the dataset, compare five lightweight CNN architectures, present the experimental results, demonstrate the deployed mobile application, and conclude with future research directions.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50D34-1F02-A84D-94F8-676BCE266A9D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5071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dirty="0"/>
              <a:t>Bangladesh is one of the major mango-producing countries, with numerous indigenous varieties.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dirty="0"/>
              <a:t> Manual identification is widely used but often leads to inconsistent results because many varieties look very similar.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/>
              <a:t>Our </a:t>
            </a:r>
            <a:r>
              <a:rPr lang="en-BD" dirty="0"/>
              <a:t>research explores how lightweight deep learning models running directly on smartphones can automate this task without requiring an internet connection.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50D34-1F02-A84D-94F8-676BCE266A9D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87133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4755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0449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5237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5451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87397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039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4521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1222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4917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7165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52216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90120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25335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34688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53928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69388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5884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F690DCC-D6A9-B84F-A5DD-9D86CD6151BE}" type="datetimeFigureOut">
              <a:rPr lang="en-BD" smtClean="0"/>
              <a:t>4/8/26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BD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FF3269E-1FF0-4444-BC65-A167B38CF1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7002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niv.edu/teachers/litonrozar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7CC7-421E-463B-7785-71575E0F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57748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en-BD" sz="3600" b="1" dirty="0"/>
              <a:t>Benchmarking Lightweight CNN for Real-Time Classification of Bangladeshi Mango Varieties on Edge Devices</a:t>
            </a:r>
            <a:br>
              <a:rPr lang="en-BD" b="1" dirty="0"/>
            </a:br>
            <a:endParaRPr lang="en-B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465D3-F5E4-8380-D9E2-C16989495E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BD" b="1" dirty="0"/>
              <a:t>Presented By</a:t>
            </a:r>
          </a:p>
          <a:p>
            <a:r>
              <a:rPr lang="en-BD" b="1" dirty="0"/>
              <a:t>Abdullah Nazmus Sakib</a:t>
            </a:r>
            <a:r>
              <a:rPr lang="en-BD" dirty="0"/>
              <a:t> (Exam Roll: 210903)</a:t>
            </a:r>
          </a:p>
          <a:p>
            <a:r>
              <a:rPr lang="en-BD" b="1" dirty="0"/>
              <a:t>Redwana Diba</a:t>
            </a:r>
            <a:r>
              <a:rPr lang="en-BD" dirty="0"/>
              <a:t> (Exam Roll: 210879)</a:t>
            </a:r>
          </a:p>
          <a:p>
            <a:pPr marL="0" indent="0">
              <a:buNone/>
            </a:pPr>
            <a:endParaRPr lang="en-B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F85B07-D9F3-157E-7B75-278F962CF2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BD" b="1" dirty="0"/>
              <a:t>Supervisor</a:t>
            </a:r>
          </a:p>
          <a:p>
            <a:r>
              <a:rPr lang="en-BD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Dr. Liton Jude Rozario, B.Sc.(JU), MS(JU), PhD(JU)</a:t>
            </a:r>
            <a:endParaRPr lang="en-BD" b="1" dirty="0">
              <a:solidFill>
                <a:schemeClr val="tx1"/>
              </a:solidFill>
            </a:endParaRPr>
          </a:p>
          <a:p>
            <a:r>
              <a:rPr lang="en-BD" dirty="0"/>
              <a:t>Professor, Department of Computer Science and Engineering</a:t>
            </a:r>
            <a:br>
              <a:rPr lang="en-BD" dirty="0"/>
            </a:br>
            <a:endParaRPr lang="en-BD" dirty="0"/>
          </a:p>
          <a:p>
            <a:endParaRPr lang="en-BD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A5B3D7-C38A-0BFE-2D72-A6E507602117}"/>
              </a:ext>
            </a:extLst>
          </p:cNvPr>
          <p:cNvSpPr/>
          <p:nvPr/>
        </p:nvSpPr>
        <p:spPr>
          <a:xfrm>
            <a:off x="1334814" y="4834758"/>
            <a:ext cx="9469820" cy="16185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BD" b="1" dirty="0"/>
          </a:p>
          <a:p>
            <a:pPr algn="ctr"/>
            <a:r>
              <a:rPr lang="en-BD" dirty="0"/>
              <a:t>Department of Computer Science and Engineering</a:t>
            </a:r>
          </a:p>
          <a:p>
            <a:pPr algn="ctr"/>
            <a:r>
              <a:rPr lang="en-BD" dirty="0"/>
              <a:t>Jahangirnagar University</a:t>
            </a:r>
          </a:p>
          <a:p>
            <a:pPr algn="ctr"/>
            <a:r>
              <a:rPr lang="en-BD" dirty="0"/>
              <a:t>Savar, Dhaka</a:t>
            </a:r>
          </a:p>
          <a:p>
            <a:pPr algn="ctr"/>
            <a:r>
              <a:rPr lang="en-BD" dirty="0"/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102008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"/>
            <a:ext cx="12192000" cy="57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2775" y="190500"/>
            <a:ext cx="113347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419850"/>
            <a:ext cx="114300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139255"/>
            <a:ext cx="2771775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2139255"/>
            <a:ext cx="2771775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2139255"/>
            <a:ext cx="2771775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9225" y="2139255"/>
            <a:ext cx="2771775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167955"/>
            <a:ext cx="2771775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7075" y="3167955"/>
            <a:ext cx="2771775" cy="914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3167955"/>
            <a:ext cx="2771775" cy="914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225" y="3167955"/>
            <a:ext cx="2771775" cy="914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196655"/>
            <a:ext cx="5657850" cy="914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0" y="4196655"/>
            <a:ext cx="5657850" cy="914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850" y="285750"/>
            <a:ext cx="11487150" cy="316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02244"/>
                </a:solidFill>
                <a:latin typeface="Inter"/>
              </a:rPr>
              <a:t>Presentation Outline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659010"/>
            <a:ext cx="11430000" cy="19050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29505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0912" y="6477000"/>
            <a:ext cx="566737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450" y="6498431"/>
            <a:ext cx="85725" cy="10953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87112" y="6505575"/>
            <a:ext cx="95250" cy="95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2925" y="25774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01. 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27583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Economic motivation &amp; agricultural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5774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02. 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7583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Manual errors &amp; cloud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075" y="25774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03. Research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75" y="27583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Core goals &amp; deployment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1150" y="25774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04. Lit Review &amp;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1150" y="27583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Prior CNNs vs Edge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" y="36061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05. Proposed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25" y="37870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End-to-end research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6061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06. Dataset &amp; Prep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7870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Mangifera2012 &amp; Augmentation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5075" y="36061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07. CNN Benchmarking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5075" y="37870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5 lightweight CNN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1150" y="3606105"/>
            <a:ext cx="2447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08. Experimental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1150" y="3787080"/>
            <a:ext cx="2447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Accuracy, size &amp; latency tradeoff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925" y="4634805"/>
            <a:ext cx="5334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09. Mobile App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25" y="4815780"/>
            <a:ext cx="533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AmmChini AI Flutter app with Float16 TFLite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75" y="4634805"/>
            <a:ext cx="5334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2244"/>
                </a:solidFill>
                <a:latin typeface="Inter"/>
              </a:rPr>
              <a:t>10. Conclusion &amp; Future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075" y="4815780"/>
            <a:ext cx="533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Key contributions &amp; precision agriculture roadmap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925" y="2339280"/>
            <a:ext cx="19050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2339280"/>
            <a:ext cx="171450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2339280"/>
            <a:ext cx="171450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01150" y="2339280"/>
            <a:ext cx="219075" cy="1714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925" y="3367980"/>
            <a:ext cx="190500" cy="1714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9000" y="3367980"/>
            <a:ext cx="152400" cy="1714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5075" y="3367980"/>
            <a:ext cx="171450" cy="1714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1150" y="3367980"/>
            <a:ext cx="171450" cy="1714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2925" y="4396680"/>
            <a:ext cx="133350" cy="1714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15075" y="4396680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81125"/>
            <a:ext cx="5334000" cy="59182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80424"/>
            <a:ext cx="11049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81125"/>
            <a:ext cx="5334000" cy="37201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339357"/>
            <a:ext cx="5334000" cy="1960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1E3A8A"/>
                </a:solidFill>
                <a:latin typeface="Inter"/>
              </a:rP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062" y="2973437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062" y="3811637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062" y="4649837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062" y="5488037"/>
            <a:ext cx="1428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6325" y="1581150"/>
            <a:ext cx="4860607" cy="251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E3A8A"/>
                </a:solidFill>
                <a:latin typeface="Inter"/>
              </a:rPr>
              <a:t>Why Mango Classification?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5539382"/>
            <a:ext cx="4860607" cy="251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BE123C"/>
                </a:solidFill>
                <a:latin typeface="Inter"/>
              </a:rPr>
              <a:t>Challenges with Traditional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9513" y="2563862"/>
            <a:ext cx="590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Farmer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6088" y="3373487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7563" y="3387774"/>
            <a:ext cx="1543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Take Mango Photo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2301" y="421168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3776" y="4225974"/>
            <a:ext cx="1190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Edge AI Model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3238" y="5049887"/>
            <a:ext cx="200025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96138" y="5064174"/>
            <a:ext cx="1457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Predicted Variety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2288" y="5888087"/>
            <a:ext cx="25717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72338" y="5902374"/>
            <a:ext cx="13620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Inter"/>
              </a:rPr>
              <a:t>Market Decision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1601985"/>
            <a:ext cx="20955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8225" y="1975395"/>
            <a:ext cx="4667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Mango is one of the most economically important fruit crops in Bangladesh.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2638276"/>
            <a:ext cx="4667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Correct variety identification influences pricing, grading, export quality, and supply chain management.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" y="3301156"/>
            <a:ext cx="4667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Manual identification depends on expert knowledge and is prone to errors, especially for visually similar indigenous varieties.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4238327"/>
            <a:ext cx="4667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Resource-constrained agricultural environments require lightweight, offline AI solutions.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5560218"/>
            <a:ext cx="20955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38225" y="5933628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Time-consuming &amp; prone to human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6322218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Requires rare expertise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6710808"/>
            <a:ext cx="4667250" cy="147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Difficult to distinguish visually similar varieties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2013495"/>
            <a:ext cx="762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2676376"/>
            <a:ext cx="762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3339256"/>
            <a:ext cx="762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4276427"/>
            <a:ext cx="762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5971728"/>
            <a:ext cx="1143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6360318"/>
            <a:ext cx="1143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6748908"/>
            <a:ext cx="114300" cy="1524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{BAF23FD9-E039-CB4D-8580-B22CDC1DFA8B}tf10001076</Template>
  <TotalTime>418</TotalTime>
  <Words>429</Words>
  <Application>Microsoft Macintosh PowerPoint</Application>
  <PresentationFormat>Widescreen</PresentationFormat>
  <Paragraphs>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Inter</vt:lpstr>
      <vt:lpstr>Wingdings 3</vt:lpstr>
      <vt:lpstr>Ion Boardroom</vt:lpstr>
      <vt:lpstr>Benchmarking Lightweight CNN for Real-Time Classification of Bangladeshi Mango Varieties on Edge Devices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shakibrybmn@gmail.com</dc:creator>
  <cp:lastModifiedBy>shakibrybmn@gmail.com</cp:lastModifiedBy>
  <cp:revision>1</cp:revision>
  <dcterms:created xsi:type="dcterms:W3CDTF">2026-08-04T05:35:53Z</dcterms:created>
  <dcterms:modified xsi:type="dcterms:W3CDTF">2026-08-04T12:34:43Z</dcterms:modified>
</cp:coreProperties>
</file>