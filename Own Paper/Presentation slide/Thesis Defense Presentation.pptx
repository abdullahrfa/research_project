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Poppins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  <p:embeddedFont>
      <p:font typeface="Poppins Medium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7360FD-AC13-4F0A-B62A-53E9D1778FA7}">
  <a:tblStyle styleId="{7E7360FD-AC13-4F0A-B62A-53E9D1778FA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Medium-bold.fntdata"/><Relationship Id="rId20" Type="http://schemas.openxmlformats.org/officeDocument/2006/relationships/slide" Target="slides/slide14.xml"/><Relationship Id="rId42" Type="http://schemas.openxmlformats.org/officeDocument/2006/relationships/font" Target="fonts/PoppinsMedium-boldItalic.fntdata"/><Relationship Id="rId41" Type="http://schemas.openxmlformats.org/officeDocument/2006/relationships/font" Target="fonts/PoppinsMedium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oppins-italic.fntdata"/><Relationship Id="rId10" Type="http://schemas.openxmlformats.org/officeDocument/2006/relationships/slide" Target="slides/slide4.xml"/><Relationship Id="rId32" Type="http://schemas.openxmlformats.org/officeDocument/2006/relationships/font" Target="fonts/Poppins-bold.fntdata"/><Relationship Id="rId13" Type="http://schemas.openxmlformats.org/officeDocument/2006/relationships/slide" Target="slides/slide7.xml"/><Relationship Id="rId35" Type="http://schemas.openxmlformats.org/officeDocument/2006/relationships/font" Target="fonts/Lato-regular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Lato-italic.fntdata"/><Relationship Id="rId14" Type="http://schemas.openxmlformats.org/officeDocument/2006/relationships/slide" Target="slides/slide8.xml"/><Relationship Id="rId36" Type="http://schemas.openxmlformats.org/officeDocument/2006/relationships/font" Target="fonts/Lato-bold.fntdata"/><Relationship Id="rId17" Type="http://schemas.openxmlformats.org/officeDocument/2006/relationships/slide" Target="slides/slide11.xml"/><Relationship Id="rId39" Type="http://schemas.openxmlformats.org/officeDocument/2006/relationships/font" Target="fonts/PoppinsMedium-regular.fntdata"/><Relationship Id="rId16" Type="http://schemas.openxmlformats.org/officeDocument/2006/relationships/slide" Target="slides/slide10.xml"/><Relationship Id="rId38" Type="http://schemas.openxmlformats.org/officeDocument/2006/relationships/font" Target="fonts/La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27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17.png"/><Relationship Id="rId7" Type="http://schemas.openxmlformats.org/officeDocument/2006/relationships/image" Target="../media/image42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Relationship Id="rId4" Type="http://schemas.openxmlformats.org/officeDocument/2006/relationships/image" Target="../media/image41.png"/><Relationship Id="rId5" Type="http://schemas.openxmlformats.org/officeDocument/2006/relationships/image" Target="../media/image49.png"/><Relationship Id="rId6" Type="http://schemas.openxmlformats.org/officeDocument/2006/relationships/image" Target="../media/image51.png"/><Relationship Id="rId7" Type="http://schemas.openxmlformats.org/officeDocument/2006/relationships/image" Target="../media/image44.png"/><Relationship Id="rId8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0.png"/><Relationship Id="rId4" Type="http://schemas.openxmlformats.org/officeDocument/2006/relationships/image" Target="../media/image47.png"/><Relationship Id="rId5" Type="http://schemas.openxmlformats.org/officeDocument/2006/relationships/image" Target="../media/image29.png"/><Relationship Id="rId6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Relationship Id="rId4" Type="http://schemas.openxmlformats.org/officeDocument/2006/relationships/image" Target="../media/image45.png"/><Relationship Id="rId5" Type="http://schemas.openxmlformats.org/officeDocument/2006/relationships/image" Target="../media/image38.png"/><Relationship Id="rId6" Type="http://schemas.openxmlformats.org/officeDocument/2006/relationships/image" Target="../media/image46.png"/><Relationship Id="rId7" Type="http://schemas.openxmlformats.org/officeDocument/2006/relationships/image" Target="../media/image40.png"/><Relationship Id="rId8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95275" y="1633686"/>
            <a:ext cx="1160145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Benchmarking Lightweight CNN for Real-Time Classification of Bangladeshi Mango Varieties on Edge Devices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872061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Undergraduate Thesis Defense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458741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Computer Science and Engineering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Jahangirnagar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95537"/>
            <a:ext cx="523875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95537"/>
            <a:ext cx="5238750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50582" y="2786062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Part I: Foundation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60832" y="2786062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Part II: Implementation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85850" y="3328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00150" y="3328987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Introduction &amp; Background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85850" y="37766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00150" y="3776662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85850" y="42243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200150" y="4224337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Research Objectives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85850" y="46720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200150" y="4672012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Literature Review Summary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96100" y="3328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010400" y="3328987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Proposed Framework &amp; Dataset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896100" y="37766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010400" y="3776662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Benchmarking CNN Architectures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896100" y="42243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010400" y="4224337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AmmChini AI App Deployment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896100" y="46720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010400" y="4672012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Conclusion &amp; Future Work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Presentation Outline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43125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95325" y="20716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20716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Mango is an economically significant horticultural crop in Bangladesh.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95325" y="28241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09625" y="282416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Accurate identification is essential for pricing, quality control, and export chains.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95325" y="35766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09625" y="35766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Current identification methods rely strictly on manual visual inspection.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95325" y="43291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09625" y="43291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Manual sorting is labor-intensive, subjective, and highly inconsistent.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95325" y="50815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09625" y="50815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Strong need for automated, objective classification systems in rural orchards.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2181225"/>
            <a:ext cx="51625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38387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338387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38387"/>
            <a:ext cx="3429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255871" y="3367087"/>
            <a:ext cx="206025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High Similarity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3910012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Indigenous varieties like Langra and Kanchon Langra exhibit extremely subtle morphological differences.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080873" y="3367087"/>
            <a:ext cx="203025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Deep Learning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76775" y="3910012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CNNs can automatically learn discriminative visual features, vastly outperforming manual human extraction.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685847" y="3367087"/>
            <a:ext cx="244030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Field Deployment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486775" y="3910012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Real-world agriculture requires portable, reliable systems accessible to farmers directly in the orchard.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6812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6812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34550" y="2681287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Background &amp; Motivation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809750" y="235267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Heavy Computational Demands: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State-of-the-art CNNs (ResNet, DenseNet) require powerful GPUs, rendering them unsuitable for low-end mobile edge devices.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809750" y="315277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Cloud Dependency: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Transmitting images to servers causes latency and entirely fails in rural areas lacking stable internet infrastructure.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809750" y="395287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Fine-Grained Classification: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Existing models often struggle with the subtle inter-class similarities unique to Bangladeshi mangoes.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809750" y="475297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Deployment Gap: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distinct lack of end-to-end frameworks that balance predictive performance with realistic mobile efficiency.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3669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16706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9671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767262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1809750" y="250507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Benchmark Architectures: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Evaluate 5 lightweight CNNs on the Mangifera2012 dataset for performance and efficiency.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809750" y="330517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Architecture-Specific Preprocessing: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Implement robust, model-specific training pipelines for fair comparative evaluation.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809750" y="410527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Optimize for Edge: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Convert the best-performing model to TensorFlow Lite using Float16 post-training quantization.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809750" y="4905375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Mobile Deployment: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Develop "AmmChini AI", a Flutter app for fully offline, real-time prediction.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5193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33194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41195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491966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Research Objectives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86012"/>
            <a:ext cx="5238750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86012"/>
            <a:ext cx="5238750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850582" y="2776537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Current Trends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62025" y="331946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 studies prioritize accuracy using computationally expensive models (e.g., ResNet50, YOLOv4).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62025" y="407193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Datasets primarily feature international commercial cultivars (Kent, Alphonso) rather than indigenous ones.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660832" y="2776537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Identified Research Gap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772275" y="331946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Limited benchmarking of lightweight models strictly for resource-constrained mobile deployment.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772275" y="407193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Lack of complete end-to-end Edge AI implementations capable of functioning without internet connectivity.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Literature Review Summary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71500" y="393382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07981" y="4238625"/>
            <a:ext cx="24682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Preparation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66750" y="4667250"/>
            <a:ext cx="23507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Dataset organization, resizing, and architecture-specific preprocessing.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3443901" y="2181225"/>
            <a:ext cx="24682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Benchmarking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3502669" y="2609850"/>
            <a:ext cx="23507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Training and evaluating 5 lightweight CNNs via Transfer Learning.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279821" y="4238625"/>
            <a:ext cx="24682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3. Optimization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338589" y="4667250"/>
            <a:ext cx="23507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TensorFlow Lite Float16 quantization for the optimal edge model.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9115741" y="2181225"/>
            <a:ext cx="24682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4. Deployment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9174509" y="2609850"/>
            <a:ext cx="23507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Integration into the AmmChini AI Flutter app for offline inference.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1727820" y="38385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563740" y="38385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7399659" y="38385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10235579" y="38385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Proposed Framework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071812" y="1683990"/>
            <a:ext cx="6048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Mangifera2012 Dataset: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2,012 High-Resolution RGB Images</a:t>
            </a:r>
            <a:endParaRPr/>
          </a:p>
        </p:txBody>
      </p:sp>
      <p:graphicFrame>
        <p:nvGraphicFramePr>
          <p:cNvPr id="217" name="Google Shape;217;p21"/>
          <p:cNvGraphicFramePr/>
          <p:nvPr/>
        </p:nvGraphicFramePr>
        <p:xfrm>
          <a:off x="1400175" y="22877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{7E7360FD-AC13-4F0A-B62A-53E9D1778FA7}</a:tableStyleId>
              </a:tblPr>
              <a:tblGrid>
                <a:gridCol w="1862000"/>
                <a:gridCol w="2487225"/>
                <a:gridCol w="2555075"/>
                <a:gridCol w="2487375"/>
              </a:tblGrid>
              <a:tr h="6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Variety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Image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Variety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Image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6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Amrapali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Kanchon Langra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Bari-4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Katimon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Bari-7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Langra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Fazlee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Mollika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Harivanga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Nilambori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21"/>
          <p:cNvSpPr/>
          <p:nvPr/>
        </p:nvSpPr>
        <p:spPr>
          <a:xfrm>
            <a:off x="1400175" y="2930723"/>
            <a:ext cx="186198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3262163" y="2930723"/>
            <a:ext cx="248721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749379" y="2930723"/>
            <a:ext cx="255508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8304460" y="2930723"/>
            <a:ext cx="24873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1400175" y="3587948"/>
            <a:ext cx="186198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3262163" y="3587948"/>
            <a:ext cx="248721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749379" y="3587948"/>
            <a:ext cx="255508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8304460" y="3587948"/>
            <a:ext cx="24873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1400175" y="4245173"/>
            <a:ext cx="186198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262163" y="4245173"/>
            <a:ext cx="248721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5749379" y="4245173"/>
            <a:ext cx="255508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8304460" y="4245173"/>
            <a:ext cx="24873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400175" y="4902398"/>
            <a:ext cx="186198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262163" y="4902398"/>
            <a:ext cx="248721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749379" y="4902398"/>
            <a:ext cx="255508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8304460" y="4902398"/>
            <a:ext cx="24873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1400175" y="5559623"/>
            <a:ext cx="186198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262163" y="5559623"/>
            <a:ext cx="248721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749379" y="5559623"/>
            <a:ext cx="255508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8304460" y="5559623"/>
            <a:ext cx="24873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Dataset Description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38362"/>
            <a:ext cx="342900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38362"/>
            <a:ext cx="342900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38362"/>
            <a:ext cx="342900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1220866" y="3167062"/>
            <a:ext cx="213026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Image Resizing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66775" y="3709987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Images standardized to 224x224 pixels to balance computational efficiency and fine-grained feature preservation.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4605813" y="3167062"/>
            <a:ext cx="298037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Dynamic Preprocessing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4676775" y="4110037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Architecture-specific normalization applied dynamically to match ImageNet pre-training distributions.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8415813" y="3167062"/>
            <a:ext cx="298037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Online Augmentation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486775" y="4110037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Random rotation, shift, shear, zoom, and flip applied dynamically during training to enhance generalization.</a:t>
            </a:r>
            <a:endParaRPr/>
          </a:p>
        </p:txBody>
      </p:sp>
      <p:pic>
        <p:nvPicPr>
          <p:cNvPr descr="image.png" id="253" name="Google Shape;25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4812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4812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4812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Preprocessing &amp; Augmentation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571500" y="443865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MobileNetV2 &amp; V3-Small: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Inverted residuals, depthwise separable convolution, Squeeze-and-Excitation.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4381500" y="443865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EfficientNetV2B0 &amp; DenseNet121: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Compound scaling, fused MBConv blocks, and dense feature reuse.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191500" y="4438650"/>
            <a:ext cx="3429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NASNetMobile: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Automatically discovered optimal cell structures using Neural Architecture Search.</a:t>
            </a:r>
            <a:endParaRPr/>
          </a:p>
        </p:txBody>
      </p:sp>
      <p:pic>
        <p:nvPicPr>
          <p:cNvPr descr="image.png"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05025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05025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05025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Benchmarked CNN Architectures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1809750" y="2090737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Transfer Learning: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All models initialized with ImageNet pre-trained weights to leverage generic visual features.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1809750" y="2586037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Frozen Backbone: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Base feature extractors were frozen during initial training to prevent immediate overfitting.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1809750" y="3119437"/>
            <a:ext cx="9048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Custom Classification Head: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exact same custom head was appended to all models to ensure fair comparison:</a:t>
            </a:r>
            <a:endParaRPr/>
          </a:p>
        </p:txBody>
      </p:sp>
      <p:pic>
        <p:nvPicPr>
          <p:cNvPr descr="image.png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10502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60032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095625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2076450" y="38338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2667000" y="383381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Global Average Pooling Layer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2076450" y="43291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2667000" y="432911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Dropout Layer (0.30 Rate)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2076450" y="48244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2667000" y="482441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Dense Layer (128 neurons, ReLU Activation)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2076450" y="53197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2667000" y="531971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Softmax Output Layer (10 classes)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Experimental Setup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3100387" y="5791200"/>
            <a:ext cx="5991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Lato"/>
                <a:ea typeface="Lato"/>
                <a:cs typeface="Lato"/>
                <a:sym typeface="Lato"/>
              </a:rPr>
              <a:t>* MobileNetV3-Small selected for optimal Edge AI deployment balance.</a:t>
            </a:r>
            <a:endParaRPr/>
          </a:p>
        </p:txBody>
      </p:sp>
      <p:graphicFrame>
        <p:nvGraphicFramePr>
          <p:cNvPr id="295" name="Google Shape;295;p25"/>
          <p:cNvGraphicFramePr/>
          <p:nvPr/>
        </p:nvGraphicFramePr>
        <p:xfrm>
          <a:off x="1123950" y="1619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{7E7360FD-AC13-4F0A-B62A-53E9D1778FA7}</a:tableStyleId>
              </a:tblPr>
              <a:tblGrid>
                <a:gridCol w="2318450"/>
                <a:gridCol w="1988800"/>
                <a:gridCol w="2205175"/>
                <a:gridCol w="1494075"/>
                <a:gridCol w="1937600"/>
              </a:tblGrid>
              <a:tr h="6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CNN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Accuracy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Weighted F1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Size (MB)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Latency (ms)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6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EfficientNetV2B0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92.00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91.98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24.6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MobileNetV3-Small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91.25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91.22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</a:tr>
              <a:tr h="6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DenseNet121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90.21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33.1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MobileNetV2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89.75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89.71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9.8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NASNetMobile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88.50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88.42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6" name="Google Shape;296;p25"/>
          <p:cNvSpPr/>
          <p:nvPr/>
        </p:nvSpPr>
        <p:spPr>
          <a:xfrm>
            <a:off x="1123950" y="2262187"/>
            <a:ext cx="231844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3442394" y="2262187"/>
            <a:ext cx="198879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431184" y="2262187"/>
            <a:ext cx="220518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7636371" y="2262187"/>
            <a:ext cx="14940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9130456" y="2262187"/>
            <a:ext cx="193759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1123950" y="2919412"/>
            <a:ext cx="231844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3442394" y="2919412"/>
            <a:ext cx="198879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5431184" y="2919412"/>
            <a:ext cx="220518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7636371" y="2919412"/>
            <a:ext cx="14940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9130456" y="2919412"/>
            <a:ext cx="193759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1123950" y="3576637"/>
            <a:ext cx="231844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3442394" y="3576637"/>
            <a:ext cx="198879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431184" y="3576637"/>
            <a:ext cx="220518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7636371" y="3576637"/>
            <a:ext cx="14940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9130456" y="3576637"/>
            <a:ext cx="193759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1123950" y="4233862"/>
            <a:ext cx="231844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3442394" y="4233862"/>
            <a:ext cx="198879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5431184" y="4233862"/>
            <a:ext cx="220518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7636371" y="4233862"/>
            <a:ext cx="14940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9130456" y="4233862"/>
            <a:ext cx="193759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1123950" y="4891087"/>
            <a:ext cx="231844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3442394" y="4891087"/>
            <a:ext cx="198879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5431184" y="4891087"/>
            <a:ext cx="220518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7636371" y="4891087"/>
            <a:ext cx="14940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9130456" y="4891087"/>
            <a:ext cx="193759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Performance Comparison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19250"/>
            <a:ext cx="110490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 txBox="1"/>
          <p:nvPr/>
        </p:nvSpPr>
        <p:spPr>
          <a:xfrm>
            <a:off x="571500" y="488632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MobileNetV3-Small achieves near-parity in accuracy while remaining a fraction of the physical size, demonstrating extreme parameter efficiency.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Evaluating Model Efficiency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43125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695325" y="21431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809625" y="214312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Perfect Classification: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Fazlee, Katimon, and Mollika achieved 100% recognition without error.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695325" y="28956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809625" y="289560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 Accuracy: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Amrapali and Langra demonstrated excellent separability.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695325" y="36480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809625" y="3648075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Significant Improvement: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MobileNetV3-Small resolved much of the Bari-4 vs. Kanchon Langra confusion seen in baseline models.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695325" y="4705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809625" y="470535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Persisting Challenge: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Nilambori remained difficult, often confused with Bari-7 and Bari-4 due to near-identical green peel textures.</a:t>
            </a:r>
            <a:endParaRPr/>
          </a:p>
        </p:txBody>
      </p:sp>
      <p:pic>
        <p:nvPicPr>
          <p:cNvPr descr="image.png" id="344" name="Google Shape;34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2181225"/>
            <a:ext cx="51625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7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Confusion Matrix Analysis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 txBox="1"/>
          <p:nvPr/>
        </p:nvSpPr>
        <p:spPr>
          <a:xfrm>
            <a:off x="571500" y="3028950"/>
            <a:ext cx="52387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31ms</a:t>
            </a:r>
            <a:endParaRPr/>
          </a:p>
        </p:txBody>
      </p:sp>
      <p:sp>
        <p:nvSpPr>
          <p:cNvPr id="352" name="Google Shape;352;p28"/>
          <p:cNvSpPr txBox="1"/>
          <p:nvPr/>
        </p:nvSpPr>
        <p:spPr>
          <a:xfrm>
            <a:off x="571500" y="4552950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Inference Latency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6381750" y="208121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Optimal Edge Choice</a:t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6381750" y="262413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While EfficientNet achieved slightly higher accuracy, it was too heavy for low-end smartphones. MobileNetV3-Small was chosen because it provides:</a:t>
            </a:r>
            <a:endParaRPr/>
          </a:p>
        </p:txBody>
      </p:sp>
      <p:sp>
        <p:nvSpPr>
          <p:cNvPr id="355" name="Google Shape;355;p28"/>
          <p:cNvSpPr txBox="1"/>
          <p:nvPr/>
        </p:nvSpPr>
        <p:spPr>
          <a:xfrm>
            <a:off x="6505575" y="37290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6619875" y="3729037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Storage: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Only 7.2 MB model size.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6505575" y="41767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6619875" y="417671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Speed: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Real-time execution without delays.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6505575" y="46243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6619875" y="4624387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Accuracy: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91.25% robust precision and recall.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6505575" y="50720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6619875" y="507206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Architecture: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Hard-Swish and Squeeze-and-Excitation mechanisms ideal for fine-grained Edge AI.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Why MobileNetV3-Small?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43125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 txBox="1"/>
          <p:nvPr/>
        </p:nvSpPr>
        <p:spPr>
          <a:xfrm>
            <a:off x="571500" y="236220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Float16 Post-Training Quantization</a:t>
            </a:r>
            <a:endParaRPr/>
          </a:p>
        </p:txBody>
      </p:sp>
      <p:sp>
        <p:nvSpPr>
          <p:cNvPr id="371" name="Google Shape;371;p29"/>
          <p:cNvSpPr txBox="1"/>
          <p:nvPr/>
        </p:nvSpPr>
        <p:spPr>
          <a:xfrm>
            <a:off x="571500" y="29527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enable highly efficient smartphone execution, the selected model was converted to TFLite format.</a:t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695325" y="37528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3" name="Google Shape;373;p29"/>
          <p:cNvSpPr txBox="1"/>
          <p:nvPr/>
        </p:nvSpPr>
        <p:spPr>
          <a:xfrm>
            <a:off x="809625" y="375285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Reduces model weights from 32-bit floats to 16-bit floats.</a:t>
            </a:r>
            <a:endParaRPr/>
          </a:p>
        </p:txBody>
      </p:sp>
      <p:sp>
        <p:nvSpPr>
          <p:cNvPr id="374" name="Google Shape;374;p29"/>
          <p:cNvSpPr txBox="1"/>
          <p:nvPr/>
        </p:nvSpPr>
        <p:spPr>
          <a:xfrm>
            <a:off x="695325" y="42005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5" name="Google Shape;375;p29"/>
          <p:cNvSpPr txBox="1"/>
          <p:nvPr/>
        </p:nvSpPr>
        <p:spPr>
          <a:xfrm>
            <a:off x="809625" y="420052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Drastically shrinks storage footprint on the device.</a:t>
            </a:r>
            <a:endParaRPr/>
          </a:p>
        </p:txBody>
      </p:sp>
      <p:sp>
        <p:nvSpPr>
          <p:cNvPr id="376" name="Google Shape;376;p29"/>
          <p:cNvSpPr txBox="1"/>
          <p:nvPr/>
        </p:nvSpPr>
        <p:spPr>
          <a:xfrm>
            <a:off x="695325" y="46482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809625" y="464820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Maintains identical classification performance.</a:t>
            </a:r>
            <a:endParaRPr/>
          </a:p>
        </p:txBody>
      </p:sp>
      <p:sp>
        <p:nvSpPr>
          <p:cNvPr id="378" name="Google Shape;378;p29"/>
          <p:cNvSpPr txBox="1"/>
          <p:nvPr/>
        </p:nvSpPr>
        <p:spPr>
          <a:xfrm>
            <a:off x="695325" y="50958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9" name="Google Shape;379;p29"/>
          <p:cNvSpPr txBox="1"/>
          <p:nvPr/>
        </p:nvSpPr>
        <p:spPr>
          <a:xfrm>
            <a:off x="809625" y="509587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Lowers CPU memory consumption during active inference.</a:t>
            </a:r>
            <a:endParaRPr/>
          </a:p>
        </p:txBody>
      </p:sp>
      <p:pic>
        <p:nvPicPr>
          <p:cNvPr descr="image.png" id="380" name="Google Shape;38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2181225"/>
            <a:ext cx="51625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9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TensorFlow Lite Quantization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6" name="Google Shape;38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38412"/>
            <a:ext cx="52387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38412"/>
            <a:ext cx="523875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0"/>
          <p:cNvSpPr txBox="1"/>
          <p:nvPr/>
        </p:nvSpPr>
        <p:spPr>
          <a:xfrm>
            <a:off x="850582" y="2928937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Flutter Frontend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962025" y="347186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Cross-platform UI handling the camera interface and gallery image selection.</a:t>
            </a:r>
            <a:endParaRPr/>
          </a:p>
        </p:txBody>
      </p:sp>
      <p:sp>
        <p:nvSpPr>
          <p:cNvPr id="391" name="Google Shape;391;p30"/>
          <p:cNvSpPr txBox="1"/>
          <p:nvPr/>
        </p:nvSpPr>
        <p:spPr>
          <a:xfrm>
            <a:off x="962025" y="422433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Responsive design tailored for rural users to view predictions clearly and easily.</a:t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6660832" y="2928937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TFLite Backend</a:t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6772275" y="347186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Local execution of the MobileNetV3 interpreter directly on the device CPU.</a:t>
            </a:r>
            <a:endParaRPr/>
          </a:p>
        </p:txBody>
      </p:sp>
      <p:sp>
        <p:nvSpPr>
          <p:cNvPr id="394" name="Google Shape;394;p30"/>
          <p:cNvSpPr txBox="1"/>
          <p:nvPr/>
        </p:nvSpPr>
        <p:spPr>
          <a:xfrm>
            <a:off x="6772275" y="422433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Zero reliance on external APIs or servers, ensuring complete offline capability.</a:t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AmmChini AI App Architecture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1"/>
          <p:cNvSpPr/>
          <p:nvPr/>
        </p:nvSpPr>
        <p:spPr>
          <a:xfrm>
            <a:off x="571500" y="393382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1"/>
          <p:cNvSpPr txBox="1"/>
          <p:nvPr/>
        </p:nvSpPr>
        <p:spPr>
          <a:xfrm>
            <a:off x="607981" y="4238625"/>
            <a:ext cx="24682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Acquisition</a:t>
            </a:r>
            <a:endParaRPr/>
          </a:p>
        </p:txBody>
      </p:sp>
      <p:sp>
        <p:nvSpPr>
          <p:cNvPr id="403" name="Google Shape;403;p31"/>
          <p:cNvSpPr txBox="1"/>
          <p:nvPr/>
        </p:nvSpPr>
        <p:spPr>
          <a:xfrm>
            <a:off x="666750" y="4667250"/>
            <a:ext cx="23507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User captures or selects a mango image via the app.</a:t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3443901" y="2181225"/>
            <a:ext cx="24682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Preprocessing</a:t>
            </a:r>
            <a:endParaRPr/>
          </a:p>
        </p:txBody>
      </p:sp>
      <p:sp>
        <p:nvSpPr>
          <p:cNvPr id="405" name="Google Shape;405;p31"/>
          <p:cNvSpPr txBox="1"/>
          <p:nvPr/>
        </p:nvSpPr>
        <p:spPr>
          <a:xfrm>
            <a:off x="3502669" y="2609850"/>
            <a:ext cx="23507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Image is resized to 224x224 and converted into a Float32 byte stream.</a:t>
            </a:r>
            <a:endParaRPr/>
          </a:p>
        </p:txBody>
      </p:sp>
      <p:sp>
        <p:nvSpPr>
          <p:cNvPr id="406" name="Google Shape;406;p31"/>
          <p:cNvSpPr txBox="1"/>
          <p:nvPr/>
        </p:nvSpPr>
        <p:spPr>
          <a:xfrm>
            <a:off x="6279821" y="4238625"/>
            <a:ext cx="24682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3. Inference</a:t>
            </a:r>
            <a:endParaRPr/>
          </a:p>
        </p:txBody>
      </p:sp>
      <p:sp>
        <p:nvSpPr>
          <p:cNvPr id="407" name="Google Shape;407;p31"/>
          <p:cNvSpPr txBox="1"/>
          <p:nvPr/>
        </p:nvSpPr>
        <p:spPr>
          <a:xfrm>
            <a:off x="6338589" y="4667250"/>
            <a:ext cx="23507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TFLite model runs forward propagation locally to output probabilities.</a:t>
            </a:r>
            <a:endParaRPr/>
          </a:p>
        </p:txBody>
      </p:sp>
      <p:sp>
        <p:nvSpPr>
          <p:cNvPr id="408" name="Google Shape;408;p31"/>
          <p:cNvSpPr txBox="1"/>
          <p:nvPr/>
        </p:nvSpPr>
        <p:spPr>
          <a:xfrm>
            <a:off x="9115741" y="1719262"/>
            <a:ext cx="24682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4. Prediction</a:t>
            </a:r>
            <a:endParaRPr/>
          </a:p>
        </p:txBody>
      </p:sp>
      <p:sp>
        <p:nvSpPr>
          <p:cNvPr id="409" name="Google Shape;409;p31"/>
          <p:cNvSpPr txBox="1"/>
          <p:nvPr/>
        </p:nvSpPr>
        <p:spPr>
          <a:xfrm>
            <a:off x="9174509" y="2914650"/>
            <a:ext cx="23507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Highest probability class is returned.</a:t>
            </a:r>
            <a:endParaRPr/>
          </a:p>
        </p:txBody>
      </p:sp>
      <p:pic>
        <p:nvPicPr>
          <p:cNvPr descr="image.png" id="410" name="Google Shape;41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4933" y="2195512"/>
            <a:ext cx="2229742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1"/>
          <p:cNvSpPr/>
          <p:nvPr/>
        </p:nvSpPr>
        <p:spPr>
          <a:xfrm>
            <a:off x="1727820" y="38385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4563740" y="38385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7399659" y="38385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1"/>
          <p:cNvSpPr/>
          <p:nvPr/>
        </p:nvSpPr>
        <p:spPr>
          <a:xfrm>
            <a:off x="10235579" y="38385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1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Live Prediction Workflow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0" name="Google Shape;4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90787"/>
            <a:ext cx="34290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490787"/>
            <a:ext cx="34290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490787"/>
            <a:ext cx="342900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2"/>
          <p:cNvSpPr txBox="1"/>
          <p:nvPr/>
        </p:nvSpPr>
        <p:spPr>
          <a:xfrm>
            <a:off x="1075848" y="3519487"/>
            <a:ext cx="242030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Offline Operation</a:t>
            </a:r>
            <a:endParaRPr/>
          </a:p>
        </p:txBody>
      </p:sp>
      <p:sp>
        <p:nvSpPr>
          <p:cNvPr id="425" name="Google Shape;425;p32"/>
          <p:cNvSpPr txBox="1"/>
          <p:nvPr/>
        </p:nvSpPr>
        <p:spPr>
          <a:xfrm>
            <a:off x="866775" y="406241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Works seamlessly in rural orchards lacking reliable internet or cellular infrastructure.</a:t>
            </a:r>
            <a:endParaRPr/>
          </a:p>
        </p:txBody>
      </p:sp>
      <p:sp>
        <p:nvSpPr>
          <p:cNvPr id="426" name="Google Shape;426;p32"/>
          <p:cNvSpPr txBox="1"/>
          <p:nvPr/>
        </p:nvSpPr>
        <p:spPr>
          <a:xfrm>
            <a:off x="5235892" y="3519487"/>
            <a:ext cx="17202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Low Latency</a:t>
            </a:r>
            <a:endParaRPr/>
          </a:p>
        </p:txBody>
      </p:sp>
      <p:sp>
        <p:nvSpPr>
          <p:cNvPr id="427" name="Google Shape;427;p32"/>
          <p:cNvSpPr txBox="1"/>
          <p:nvPr/>
        </p:nvSpPr>
        <p:spPr>
          <a:xfrm>
            <a:off x="4676775" y="406241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Sub-second, real-time inference without frustrating network communication delays.</a:t>
            </a:r>
            <a:endParaRPr/>
          </a:p>
        </p:txBody>
      </p:sp>
      <p:sp>
        <p:nvSpPr>
          <p:cNvPr id="428" name="Google Shape;428;p32"/>
          <p:cNvSpPr txBox="1"/>
          <p:nvPr/>
        </p:nvSpPr>
        <p:spPr>
          <a:xfrm>
            <a:off x="8880871" y="3519487"/>
            <a:ext cx="20502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Privacy &amp; Cost</a:t>
            </a:r>
            <a:endParaRPr/>
          </a:p>
        </p:txBody>
      </p:sp>
      <p:sp>
        <p:nvSpPr>
          <p:cNvPr id="429" name="Google Shape;429;p32"/>
          <p:cNvSpPr txBox="1"/>
          <p:nvPr/>
        </p:nvSpPr>
        <p:spPr>
          <a:xfrm>
            <a:off x="8486775" y="406241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Images never leave the device, ensuring privacy and eliminating recurring cloud API costs.</a:t>
            </a:r>
            <a:endParaRPr/>
          </a:p>
        </p:txBody>
      </p:sp>
      <p:pic>
        <p:nvPicPr>
          <p:cNvPr descr="image.png" id="430" name="Google Shape;430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0250" y="28336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95975" y="28336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8336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2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Advantages of Edge AI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5524500" y="1790848"/>
            <a:ext cx="1143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3"/>
          <p:cNvSpPr txBox="1"/>
          <p:nvPr/>
        </p:nvSpPr>
        <p:spPr>
          <a:xfrm>
            <a:off x="4330779" y="2133748"/>
            <a:ext cx="3530441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441" name="Google Shape;441;p33"/>
          <p:cNvSpPr txBox="1"/>
          <p:nvPr/>
        </p:nvSpPr>
        <p:spPr>
          <a:xfrm>
            <a:off x="2286000" y="3467248"/>
            <a:ext cx="7620000" cy="1980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research successfully bridged the gap between academic computer vision and practical agriculture. By benchmarking and optimizing MobileNetV3-Small, we delivered </a:t>
            </a:r>
            <a:r>
              <a:rPr b="1" i="0" lang="en-US" sz="19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AmmChini AI</a:t>
            </a:r>
            <a:r>
              <a:rPr b="0" i="0" lang="en-US" sz="19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a highly accurate, fully offline Edge AI solution for classifying indigenous Bangladeshi mango varieties.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4"/>
          <p:cNvSpPr txBox="1"/>
          <p:nvPr/>
        </p:nvSpPr>
        <p:spPr>
          <a:xfrm>
            <a:off x="1809750" y="2809875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Dataset Expansion: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Collect more images across varying geographical regions, lighting, and maturity stages.</a:t>
            </a:r>
            <a:endParaRPr/>
          </a:p>
        </p:txBody>
      </p:sp>
      <p:sp>
        <p:nvSpPr>
          <p:cNvPr id="448" name="Google Shape;448;p34"/>
          <p:cNvSpPr txBox="1"/>
          <p:nvPr/>
        </p:nvSpPr>
        <p:spPr>
          <a:xfrm>
            <a:off x="1809750" y="3305175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Object Detection: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Transition from single-image classification to bounding-box detection for batch sorting.</a:t>
            </a:r>
            <a:endParaRPr/>
          </a:p>
        </p:txBody>
      </p:sp>
      <p:sp>
        <p:nvSpPr>
          <p:cNvPr id="449" name="Google Shape;449;p34"/>
          <p:cNvSpPr txBox="1"/>
          <p:nvPr/>
        </p:nvSpPr>
        <p:spPr>
          <a:xfrm>
            <a:off x="1809750" y="3800475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Disease Diagnosis: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Integrate multi-task learning to detect plant diseases alongside variety classification.</a:t>
            </a:r>
            <a:endParaRPr/>
          </a:p>
        </p:txBody>
      </p:sp>
      <p:sp>
        <p:nvSpPr>
          <p:cNvPr id="450" name="Google Shape;450;p34"/>
          <p:cNvSpPr txBox="1"/>
          <p:nvPr/>
        </p:nvSpPr>
        <p:spPr>
          <a:xfrm>
            <a:off x="1809750" y="4295775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Explainable AI (XAI):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Implement techniques like Grad-CAM to show farmers exactly which features influenced the AI's decision.</a:t>
            </a:r>
            <a:endParaRPr/>
          </a:p>
        </p:txBody>
      </p:sp>
      <p:pic>
        <p:nvPicPr>
          <p:cNvPr descr="image.png" id="451" name="Google Shape;4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82416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31946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81476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31006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4"/>
          <p:cNvSpPr txBox="1"/>
          <p:nvPr/>
        </p:nvSpPr>
        <p:spPr>
          <a:xfrm>
            <a:off x="571500" y="6667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Future Work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5"/>
          <p:cNvSpPr txBox="1"/>
          <p:nvPr/>
        </p:nvSpPr>
        <p:spPr>
          <a:xfrm>
            <a:off x="295275" y="202019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Questions &amp; Answers</a:t>
            </a:r>
            <a:endParaRPr/>
          </a:p>
        </p:txBody>
      </p:sp>
      <p:sp>
        <p:nvSpPr>
          <p:cNvPr id="462" name="Google Shape;462;p35"/>
          <p:cNvSpPr txBox="1"/>
          <p:nvPr/>
        </p:nvSpPr>
        <p:spPr>
          <a:xfrm>
            <a:off x="571500" y="3353692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Thank you for your attention and time.</a:t>
            </a:r>
            <a:endParaRPr/>
          </a:p>
        </p:txBody>
      </p:sp>
      <p:sp>
        <p:nvSpPr>
          <p:cNvPr id="463" name="Google Shape;463;p35"/>
          <p:cNvSpPr txBox="1"/>
          <p:nvPr/>
        </p:nvSpPr>
        <p:spPr>
          <a:xfrm>
            <a:off x="571500" y="4161383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Thesis Defense Presentation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Computer Science and Engineering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Jahangirnagar University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571500" y="140523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6"/>
          <p:cNvSpPr/>
          <p:nvPr/>
        </p:nvSpPr>
        <p:spPr>
          <a:xfrm>
            <a:off x="571500" y="219000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6"/>
          <p:cNvSpPr/>
          <p:nvPr/>
        </p:nvSpPr>
        <p:spPr>
          <a:xfrm>
            <a:off x="571500" y="297477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6"/>
          <p:cNvSpPr/>
          <p:nvPr/>
        </p:nvSpPr>
        <p:spPr>
          <a:xfrm>
            <a:off x="571500" y="395763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6"/>
          <p:cNvSpPr/>
          <p:nvPr/>
        </p:nvSpPr>
        <p:spPr>
          <a:xfrm>
            <a:off x="571500" y="474240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6"/>
          <p:cNvSpPr/>
          <p:nvPr/>
        </p:nvSpPr>
        <p:spPr>
          <a:xfrm>
            <a:off x="571500" y="21804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6"/>
          <p:cNvSpPr/>
          <p:nvPr/>
        </p:nvSpPr>
        <p:spPr>
          <a:xfrm>
            <a:off x="571500" y="21804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6"/>
          <p:cNvSpPr/>
          <p:nvPr/>
        </p:nvSpPr>
        <p:spPr>
          <a:xfrm>
            <a:off x="571500" y="296525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6"/>
          <p:cNvSpPr/>
          <p:nvPr/>
        </p:nvSpPr>
        <p:spPr>
          <a:xfrm>
            <a:off x="571500" y="296525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6"/>
          <p:cNvSpPr/>
          <p:nvPr/>
        </p:nvSpPr>
        <p:spPr>
          <a:xfrm>
            <a:off x="571500" y="3948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6"/>
          <p:cNvSpPr/>
          <p:nvPr/>
        </p:nvSpPr>
        <p:spPr>
          <a:xfrm>
            <a:off x="571500" y="3948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6"/>
          <p:cNvSpPr/>
          <p:nvPr/>
        </p:nvSpPr>
        <p:spPr>
          <a:xfrm>
            <a:off x="571500" y="47328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6"/>
          <p:cNvSpPr/>
          <p:nvPr/>
        </p:nvSpPr>
        <p:spPr>
          <a:xfrm>
            <a:off x="571500" y="47328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6"/>
          <p:cNvSpPr/>
          <p:nvPr/>
        </p:nvSpPr>
        <p:spPr>
          <a:xfrm>
            <a:off x="571500" y="55176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6"/>
          <p:cNvSpPr/>
          <p:nvPr/>
        </p:nvSpPr>
        <p:spPr>
          <a:xfrm>
            <a:off x="571500" y="55176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4" name="Google Shape;48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546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6"/>
          <p:cNvSpPr txBox="1"/>
          <p:nvPr/>
        </p:nvSpPr>
        <p:spPr>
          <a:xfrm>
            <a:off x="1666875" y="154811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https://biftuflwhccyadwcnfsc.supabase.co/storage/v1/object/public/news-images/news/2xz9fmtgaoq-1781341244151.webp</a:t>
            </a:r>
            <a:endParaRPr/>
          </a:p>
        </p:txBody>
      </p:sp>
      <p:sp>
        <p:nvSpPr>
          <p:cNvPr id="486" name="Google Shape;486;p36"/>
          <p:cNvSpPr txBox="1"/>
          <p:nvPr/>
        </p:nvSpPr>
        <p:spPr>
          <a:xfrm>
            <a:off x="1666875" y="179382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www.eureflect.com</a:t>
            </a:r>
            <a:endParaRPr/>
          </a:p>
        </p:txBody>
      </p:sp>
      <p:pic>
        <p:nvPicPr>
          <p:cNvPr descr="image.png" id="487" name="Google Shape;4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942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6"/>
          <p:cNvSpPr txBox="1"/>
          <p:nvPr/>
        </p:nvSpPr>
        <p:spPr>
          <a:xfrm>
            <a:off x="1666875" y="233288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https://user-images.githubusercontent.com/26739999/142563365-7a9ea577-8f79-4c21-a750-ebcaad9bcc2f.png</a:t>
            </a:r>
            <a:endParaRPr/>
          </a:p>
        </p:txBody>
      </p:sp>
      <p:sp>
        <p:nvSpPr>
          <p:cNvPr id="489" name="Google Shape;489;p36"/>
          <p:cNvSpPr txBox="1"/>
          <p:nvPr/>
        </p:nvSpPr>
        <p:spPr>
          <a:xfrm>
            <a:off x="1666875" y="257859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mmpretrain.readthedocs.io</a:t>
            </a:r>
            <a:endParaRPr/>
          </a:p>
        </p:txBody>
      </p:sp>
      <p:pic>
        <p:nvPicPr>
          <p:cNvPr descr="image.png" id="490" name="Google Shape;49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233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6"/>
          <p:cNvSpPr txBox="1"/>
          <p:nvPr/>
        </p:nvSpPr>
        <p:spPr>
          <a:xfrm>
            <a:off x="1666875" y="311765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https://www.kamwithk.com/_next/image?url=https%3A%2F%2Fcdn.hashnode.com%2Fres%2Fhashnode%2Fimage%2Fupload%2Fv1581407554752%2FyRvKaUe8a.png&amp;w=3840&amp;q=75</a:t>
            </a:r>
            <a:endParaRPr/>
          </a:p>
        </p:txBody>
      </p:sp>
      <p:sp>
        <p:nvSpPr>
          <p:cNvPr id="492" name="Google Shape;492;p36"/>
          <p:cNvSpPr txBox="1"/>
          <p:nvPr/>
        </p:nvSpPr>
        <p:spPr>
          <a:xfrm>
            <a:off x="1666875" y="35614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www.kamwithk.com</a:t>
            </a:r>
            <a:endParaRPr/>
          </a:p>
        </p:txBody>
      </p:sp>
      <p:pic>
        <p:nvPicPr>
          <p:cNvPr descr="image.png" id="493" name="Google Shape;493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070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6"/>
          <p:cNvSpPr txBox="1"/>
          <p:nvPr/>
        </p:nvSpPr>
        <p:spPr>
          <a:xfrm>
            <a:off x="1666875" y="410051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https://img.freepik.com/premium-photo/futuristic-brain-with-circuit-lines-digital-glow-symbolizing-artificial-intelligence-technology_323960-5258.jpg</a:t>
            </a:r>
            <a:endParaRPr/>
          </a:p>
        </p:txBody>
      </p:sp>
      <p:sp>
        <p:nvSpPr>
          <p:cNvPr id="495" name="Google Shape;495;p36"/>
          <p:cNvSpPr txBox="1"/>
          <p:nvPr/>
        </p:nvSpPr>
        <p:spPr>
          <a:xfrm>
            <a:off x="1666875" y="434622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www.magnific.com</a:t>
            </a:r>
            <a:endParaRPr/>
          </a:p>
        </p:txBody>
      </p:sp>
      <p:pic>
        <p:nvPicPr>
          <p:cNvPr descr="image.png" id="496" name="Google Shape;496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918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6"/>
          <p:cNvSpPr txBox="1"/>
          <p:nvPr/>
        </p:nvSpPr>
        <p:spPr>
          <a:xfrm>
            <a:off x="1666875" y="488528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https://miro.medium.com/v2/resize:fit:1400/1*ZEf7GRjQPwzW6KtleTvnaA.png</a:t>
            </a:r>
            <a:endParaRPr/>
          </a:p>
        </p:txBody>
      </p:sp>
      <p:sp>
        <p:nvSpPr>
          <p:cNvPr id="498" name="Google Shape;498;p36"/>
          <p:cNvSpPr txBox="1"/>
          <p:nvPr/>
        </p:nvSpPr>
        <p:spPr>
          <a:xfrm>
            <a:off x="1666875" y="513099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499" name="Google Shape;499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77572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6"/>
          <p:cNvSpPr txBox="1"/>
          <p:nvPr/>
        </p:nvSpPr>
        <p:spPr>
          <a:xfrm>
            <a:off x="1666875" y="567005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https://22042014.fs1.hubspotusercontent-na1.net/hub/22042014/hubfs/Hero-Images/Connecting-Edge-AI-Software-Blog-Image.jpg?width=1200&amp;length=1200&amp;name=Connecting-Edge-AI-Software-Blog-Image.jpg</a:t>
            </a:r>
            <a:endParaRPr/>
          </a:p>
        </p:txBody>
      </p:sp>
      <p:sp>
        <p:nvSpPr>
          <p:cNvPr id="501" name="Google Shape;501;p36"/>
          <p:cNvSpPr txBox="1"/>
          <p:nvPr/>
        </p:nvSpPr>
        <p:spPr>
          <a:xfrm>
            <a:off x="1666875" y="611385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www.edgecortix.com</a:t>
            </a:r>
            <a:endParaRPr/>
          </a:p>
        </p:txBody>
      </p:sp>
      <p:sp>
        <p:nvSpPr>
          <p:cNvPr id="502" name="Google Shape;502;p36"/>
          <p:cNvSpPr txBox="1"/>
          <p:nvPr/>
        </p:nvSpPr>
        <p:spPr>
          <a:xfrm>
            <a:off x="571500" y="45273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